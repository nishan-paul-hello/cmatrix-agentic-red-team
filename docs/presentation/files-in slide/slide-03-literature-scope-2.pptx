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1695" y="30175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Literature We Surveyed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1695" y="786384"/>
            <a:ext cx="3108960" cy="2743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Shape 2"/>
          <p:cNvSpPr/>
          <p:nvPr/>
        </p:nvSpPr>
        <p:spPr>
          <a:xfrm>
            <a:off x="761970" y="933420"/>
            <a:ext cx="266730" cy="266730"/>
          </a:xfrm>
          <a:prstGeom prst="ellipse">
            <a:avLst/>
          </a:prstGeom>
          <a:solidFill>
            <a:srgbClr val="2E4A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61970" y="933420"/>
            <a:ext cx="2667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46018" y="933420"/>
            <a:ext cx="20116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2E4A7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AGENT SYSTEMS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933420"/>
            <a:ext cx="137160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70" kern="0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 PAPERS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1970" y="1317468"/>
            <a:ext cx="623319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76190" y="933420"/>
            <a:ext cx="0" cy="5429250"/>
          </a:xfrm>
          <a:prstGeom prst="line">
            <a:avLst/>
          </a:prstGeom>
          <a:noFill/>
          <a:ln w="9525">
            <a:solidFill>
              <a:srgbClr val="D4CF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1970" y="1390620"/>
            <a:ext cx="304495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66465" y="1390620"/>
            <a:ext cx="180959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Fang 2024a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1066465" y="1701373"/>
            <a:ext cx="180959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Fang et al., 2024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876062" y="1390620"/>
            <a:ext cx="4119098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GPT-4 successfully exploits real web vulnerabilities</a:t>
            </a:r>
            <a:endParaRPr lang="en-US" sz="1275" dirty="0"/>
          </a:p>
        </p:txBody>
      </p:sp>
      <p:sp>
        <p:nvSpPr>
          <p:cNvPr id="14" name="Text 12"/>
          <p:cNvSpPr txBox="1"/>
          <p:nvPr/>
        </p:nvSpPr>
        <p:spPr>
          <a:xfrm>
            <a:off x="761970" y="2012126"/>
            <a:ext cx="304495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66465" y="2012126"/>
            <a:ext cx="180959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Fang 2024b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066465" y="2322879"/>
            <a:ext cx="180959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Fang et al., 2024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876062" y="2012126"/>
            <a:ext cx="4119098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GPT-4 exploits one-day CVEs at 87% success with description</a:t>
            </a:r>
            <a:endParaRPr lang="en-US" sz="1275" dirty="0"/>
          </a:p>
        </p:txBody>
      </p:sp>
      <p:sp>
        <p:nvSpPr>
          <p:cNvPr id="18" name="Shape 16"/>
          <p:cNvSpPr/>
          <p:nvPr/>
        </p:nvSpPr>
        <p:spPr>
          <a:xfrm>
            <a:off x="761970" y="2012126"/>
            <a:ext cx="6233190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1970" y="2633632"/>
            <a:ext cx="304495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066465" y="2633632"/>
            <a:ext cx="180959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HPTSA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1066465" y="2944385"/>
            <a:ext cx="180959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Zhu et al., 2024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876062" y="2633632"/>
            <a:ext cx="4119098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Hierarchical multi-agent system for zero-day CVEs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761970" y="2633632"/>
            <a:ext cx="6233190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1970" y="3255138"/>
            <a:ext cx="304495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066465" y="3255138"/>
            <a:ext cx="180959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PentestGPT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1066465" y="3565891"/>
            <a:ext cx="180959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Deng et al., 2024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876062" y="3255138"/>
            <a:ext cx="4119098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Context loss is the dominant failure in long sessions</a:t>
            </a:r>
            <a:endParaRPr lang="en-US" sz="1275" dirty="0"/>
          </a:p>
        </p:txBody>
      </p:sp>
      <p:sp>
        <p:nvSpPr>
          <p:cNvPr id="28" name="Shape 26"/>
          <p:cNvSpPr/>
          <p:nvPr/>
        </p:nvSpPr>
        <p:spPr>
          <a:xfrm>
            <a:off x="761970" y="3255138"/>
            <a:ext cx="6233190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61970" y="3876645"/>
            <a:ext cx="304495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066465" y="3876645"/>
            <a:ext cx="180959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VulnBot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1066465" y="4187398"/>
            <a:ext cx="180959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Kong et al., 2025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876062" y="3876645"/>
            <a:ext cx="4119098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Role-specialised multi-agent dispatch architecture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761970" y="3876645"/>
            <a:ext cx="6233190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1970" y="4498151"/>
            <a:ext cx="304495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066465" y="4498151"/>
            <a:ext cx="180959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CHECKMATE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1066465" y="4808904"/>
            <a:ext cx="180959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Wang et al., 2025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2876062" y="4498151"/>
            <a:ext cx="4119098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Classical planning integrated with LLM agent execution</a:t>
            </a:r>
            <a:endParaRPr lang="en-US" sz="1275" dirty="0"/>
          </a:p>
        </p:txBody>
      </p:sp>
      <p:sp>
        <p:nvSpPr>
          <p:cNvPr id="38" name="Shape 36"/>
          <p:cNvSpPr/>
          <p:nvPr/>
        </p:nvSpPr>
        <p:spPr>
          <a:xfrm>
            <a:off x="761970" y="4498151"/>
            <a:ext cx="6233190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1970" y="5119657"/>
            <a:ext cx="304495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066465" y="5119657"/>
            <a:ext cx="180959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Incalmo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1066465" y="5430410"/>
            <a:ext cx="180959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Singer et al., 2025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2876062" y="5119657"/>
            <a:ext cx="4119098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Multi-host orchestration across Active Directory</a:t>
            </a:r>
            <a:endParaRPr lang="en-US" sz="1275" dirty="0"/>
          </a:p>
        </p:txBody>
      </p:sp>
      <p:sp>
        <p:nvSpPr>
          <p:cNvPr id="43" name="Shape 41"/>
          <p:cNvSpPr/>
          <p:nvPr/>
        </p:nvSpPr>
        <p:spPr>
          <a:xfrm>
            <a:off x="761970" y="5119657"/>
            <a:ext cx="6233190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61970" y="5741163"/>
            <a:ext cx="304495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A8A39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1066465" y="5741163"/>
            <a:ext cx="180959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E4A7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PrediQL</a:t>
            </a:r>
            <a:endParaRPr lang="en-US" sz="1350" dirty="0"/>
          </a:p>
        </p:txBody>
      </p:sp>
      <p:sp>
        <p:nvSpPr>
          <p:cNvPr id="46" name="Text 44"/>
          <p:cNvSpPr txBox="1"/>
          <p:nvPr/>
        </p:nvSpPr>
        <p:spPr>
          <a:xfrm>
            <a:off x="1066465" y="6051916"/>
            <a:ext cx="180959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Liu et al., 2025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2876062" y="5741163"/>
            <a:ext cx="4119098" cy="6215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Schema-aware LLM fuzzer for GraphQL APIs</a:t>
            </a:r>
            <a:endParaRPr lang="en-US" sz="1275" dirty="0"/>
          </a:p>
        </p:txBody>
      </p:sp>
      <p:sp>
        <p:nvSpPr>
          <p:cNvPr id="48" name="Shape 46"/>
          <p:cNvSpPr/>
          <p:nvPr/>
        </p:nvSpPr>
        <p:spPr>
          <a:xfrm>
            <a:off x="761970" y="5741163"/>
            <a:ext cx="6233190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57130" y="933420"/>
            <a:ext cx="266730" cy="266730"/>
          </a:xfrm>
          <a:prstGeom prst="ellipse">
            <a:avLst/>
          </a:prstGeom>
          <a:solidFill>
            <a:srgbClr val="A0631A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757130" y="933420"/>
            <a:ext cx="2667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8141178" y="933420"/>
            <a:ext cx="20116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A063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BENCHMARKS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0058400" y="933420"/>
            <a:ext cx="137160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70" kern="0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 PAPERS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757130" y="1317468"/>
            <a:ext cx="367287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757130" y="1390620"/>
            <a:ext cx="18095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A06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CVE-Bench</a:t>
            </a:r>
            <a:endParaRPr lang="en-US" sz="1425" dirty="0"/>
          </a:p>
        </p:txBody>
      </p:sp>
      <p:sp>
        <p:nvSpPr>
          <p:cNvPr id="55" name="Text 53"/>
          <p:cNvSpPr txBox="1"/>
          <p:nvPr/>
        </p:nvSpPr>
        <p:spPr>
          <a:xfrm>
            <a:off x="7757130" y="1687800"/>
            <a:ext cx="18095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Zhu et al., 2025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9566727" y="1390620"/>
            <a:ext cx="186327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40 critical web CVEs with oracle-backed evaluation</a:t>
            </a:r>
            <a:endParaRPr lang="en-US" sz="1275" dirty="0"/>
          </a:p>
        </p:txBody>
      </p:sp>
      <p:sp>
        <p:nvSpPr>
          <p:cNvPr id="57" name="Text 55"/>
          <p:cNvSpPr txBox="1"/>
          <p:nvPr/>
        </p:nvSpPr>
        <p:spPr>
          <a:xfrm>
            <a:off x="7757130" y="1984980"/>
            <a:ext cx="18095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A063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PentestEval</a:t>
            </a:r>
            <a:endParaRPr lang="en-US" sz="1425" dirty="0"/>
          </a:p>
        </p:txBody>
      </p:sp>
      <p:sp>
        <p:nvSpPr>
          <p:cNvPr id="58" name="Text 56"/>
          <p:cNvSpPr txBox="1"/>
          <p:nvPr/>
        </p:nvSpPr>
        <p:spPr>
          <a:xfrm>
            <a:off x="7757130" y="2282160"/>
            <a:ext cx="18095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Yang et al., 2025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9566727" y="1984980"/>
            <a:ext cx="186327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Stage-level breakdown of pipeline failure modes</a:t>
            </a:r>
            <a:endParaRPr lang="en-US" sz="1275" dirty="0"/>
          </a:p>
        </p:txBody>
      </p:sp>
      <p:sp>
        <p:nvSpPr>
          <p:cNvPr id="60" name="Shape 58"/>
          <p:cNvSpPr/>
          <p:nvPr/>
        </p:nvSpPr>
        <p:spPr>
          <a:xfrm>
            <a:off x="7757130" y="1984980"/>
            <a:ext cx="3672870" cy="0"/>
          </a:xfrm>
          <a:prstGeom prst="line">
            <a:avLst/>
          </a:prstGeom>
          <a:noFill/>
          <a:ln w="9525">
            <a:solidFill>
              <a:srgbClr val="E8E4D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57130" y="2731770"/>
            <a:ext cx="266730" cy="266730"/>
          </a:xfrm>
          <a:prstGeom prst="ellipse">
            <a:avLst/>
          </a:prstGeom>
          <a:solidFill>
            <a:srgbClr val="4A7A5E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7757130" y="2731770"/>
            <a:ext cx="26673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8141178" y="2731770"/>
            <a:ext cx="201168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4A7A5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SURVEYS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0058400" y="2731770"/>
            <a:ext cx="1371600" cy="266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70" kern="0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 PAPER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757130" y="3115818"/>
            <a:ext cx="3672870" cy="0"/>
          </a:xfrm>
          <a:prstGeom prst="line">
            <a:avLst/>
          </a:prstGeom>
          <a:noFill/>
          <a:ln w="19050">
            <a:solidFill>
              <a:srgbClr val="1A1A2E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7757130" y="3188970"/>
            <a:ext cx="18095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4A7A5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Wang 2025</a:t>
            </a:r>
            <a:endParaRPr lang="en-US" sz="1425" dirty="0"/>
          </a:p>
        </p:txBody>
      </p:sp>
      <p:sp>
        <p:nvSpPr>
          <p:cNvPr id="67" name="Text 65"/>
          <p:cNvSpPr txBox="1"/>
          <p:nvPr/>
        </p:nvSpPr>
        <p:spPr>
          <a:xfrm>
            <a:off x="7757130" y="3486150"/>
            <a:ext cx="1809598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A7A8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Wang et al., 2025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9566727" y="3188970"/>
            <a:ext cx="186327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General survey of LLM-based agent architectures</a:t>
            </a:r>
            <a:endParaRPr lang="en-US" sz="1275" dirty="0"/>
          </a:p>
        </p:txBody>
      </p:sp>
      <p:sp>
        <p:nvSpPr>
          <p:cNvPr id="69" name="Shape 67"/>
          <p:cNvSpPr/>
          <p:nvPr/>
        </p:nvSpPr>
        <p:spPr>
          <a:xfrm>
            <a:off x="7757130" y="4945350"/>
            <a:ext cx="367287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D4CFC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7757130" y="4945350"/>
            <a:ext cx="3672870" cy="41148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7985730" y="5082510"/>
            <a:ext cx="321567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25" b="1" spc="180" kern="0" dirty="0">
                <a:solidFill>
                  <a:srgbClr val="8B1A1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KEY TAKEAWAY</a:t>
            </a:r>
            <a:endParaRPr lang="en-US" sz="825" dirty="0"/>
          </a:p>
        </p:txBody>
      </p:sp>
      <p:sp>
        <p:nvSpPr>
          <p:cNvPr id="72" name="Text 70"/>
          <p:cNvSpPr txBox="1"/>
          <p:nvPr/>
        </p:nvSpPr>
        <p:spPr>
          <a:xfrm>
            <a:off x="7940010" y="5311110"/>
            <a:ext cx="33071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 Agent Systems · 2 Benchmarks · 1 Survey</a:t>
            </a:r>
            <a:endParaRPr lang="en-US" sz="950" dirty="0"/>
          </a:p>
        </p:txBody>
      </p:sp>
      <p:sp>
        <p:nvSpPr>
          <p:cNvPr id="73" name="Text 71"/>
          <p:cNvSpPr txBox="1"/>
          <p:nvPr/>
        </p:nvSpPr>
        <p:spPr>
          <a:xfrm>
            <a:off x="7985730" y="5603718"/>
            <a:ext cx="32156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100" b="1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Benchmarks serve as the primary source for failure-mode analysis and motivate the research gap.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0" y="6515100"/>
            <a:ext cx="12191695" cy="0"/>
          </a:xfrm>
          <a:prstGeom prst="line">
            <a:avLst/>
          </a:prstGeom>
          <a:noFill/>
          <a:ln w="9525">
            <a:solidFill>
              <a:srgbClr val="D4CFC8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10058400" y="6537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20</a:t>
            </a:r>
            <a:endParaRPr lang="en-US" sz="975" dirty="0"/>
          </a:p>
        </p:txBody>
      </p:sp>
      <p:sp>
        <p:nvSpPr>
          <p:cNvPr id="76" name="Shape 74"/>
          <p:cNvSpPr/>
          <p:nvPr/>
        </p:nvSpPr>
        <p:spPr>
          <a:xfrm>
            <a:off x="0" y="6829654"/>
            <a:ext cx="1219170" cy="28346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2026-09-03T10:48:38Z</dcterms:created>
  <dcterms:modified xsi:type="dcterms:W3CDTF">2026-09-03T10:48:38Z</dcterms:modified>
</cp:coreProperties>
</file>