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62000" y="419100"/>
            <a:ext cx="990569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A1A2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Research Objectives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62000" y="1038225"/>
            <a:ext cx="5448132" cy="28575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62000" y="1123950"/>
            <a:ext cx="990569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25" b="1" spc="100" kern="0" dirty="0">
                <a:solidFill>
                  <a:srgbClr val="8B1A1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FIVE WORKING GOALS AT INCEPTION STAGE</a:t>
            </a:r>
            <a:endParaRPr lang="en-US" sz="1125" dirty="0"/>
          </a:p>
        </p:txBody>
      </p:sp>
      <p:sp>
        <p:nvSpPr>
          <p:cNvPr id="5" name="Shape 3"/>
          <p:cNvSpPr/>
          <p:nvPr/>
        </p:nvSpPr>
        <p:spPr>
          <a:xfrm>
            <a:off x="762000" y="1485900"/>
            <a:ext cx="10667695" cy="74295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2000" y="1485900"/>
            <a:ext cx="38100" cy="742950"/>
          </a:xfrm>
          <a:prstGeom prst="rect">
            <a:avLst/>
          </a:prstGeom>
          <a:solidFill>
            <a:srgbClr val="8B1A1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90600" y="1647825"/>
            <a:ext cx="419100" cy="419100"/>
          </a:xfrm>
          <a:prstGeom prst="ellipse">
            <a:avLst/>
          </a:prstGeom>
          <a:solidFill>
            <a:srgbClr val="8B1A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638300" y="1485900"/>
            <a:ext cx="247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VDG Formalization</a:t>
            </a:r>
            <a:endParaRPr lang="en-US" sz="1425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1485900"/>
            <a:ext cx="68576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Investigate whether a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prerequisite-edge graph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improves agent exploration over a flat priority list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62000" y="2324100"/>
            <a:ext cx="10667695" cy="74295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2000" y="2324100"/>
            <a:ext cx="38100" cy="742950"/>
          </a:xfrm>
          <a:prstGeom prst="rect">
            <a:avLst/>
          </a:prstGeom>
          <a:solidFill>
            <a:srgbClr val="2E4A7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90600" y="2486025"/>
            <a:ext cx="419100" cy="419100"/>
          </a:xfrm>
          <a:prstGeom prst="ellipse">
            <a:avLst/>
          </a:prstGeom>
          <a:solidFill>
            <a:srgbClr val="2E4A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1638300" y="2324100"/>
            <a:ext cx="247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Dual-Layer World Model</a:t>
            </a:r>
            <a:endParaRPr lang="en-US" sz="1425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2324100"/>
            <a:ext cx="68576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Separate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confirmed facts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from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inferred hypotheses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for independent ablation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62000" y="3162300"/>
            <a:ext cx="10667695" cy="74295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62000" y="3162300"/>
            <a:ext cx="38100" cy="742950"/>
          </a:xfrm>
          <a:prstGeom prst="rect">
            <a:avLst/>
          </a:prstGeom>
          <a:solidFill>
            <a:srgbClr val="A0631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90600" y="3324225"/>
            <a:ext cx="419100" cy="419100"/>
          </a:xfrm>
          <a:prstGeom prst="ellipse">
            <a:avLst/>
          </a:prstGeom>
          <a:solidFill>
            <a:srgbClr val="A0631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638300" y="3162300"/>
            <a:ext cx="247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Multi-Layer Orchestration</a:t>
            </a:r>
            <a:endParaRPr lang="en-US" sz="1425" dirty="0"/>
          </a:p>
        </p:txBody>
      </p:sp>
      <p:sp>
        <p:nvSpPr>
          <p:cNvPr id="19" name="Text 17"/>
          <p:cNvSpPr txBox="1"/>
          <p:nvPr/>
        </p:nvSpPr>
        <p:spPr>
          <a:xfrm>
            <a:off x="4343400" y="3162300"/>
            <a:ext cx="68576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 a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four-layer agent hierarchy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matching the strongest surveyed systems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62000" y="4000500"/>
            <a:ext cx="10667695" cy="74295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2000" y="4000500"/>
            <a:ext cx="38100" cy="742950"/>
          </a:xfrm>
          <a:prstGeom prst="rect">
            <a:avLst/>
          </a:prstGeom>
          <a:solidFill>
            <a:srgbClr val="2A6B3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90600" y="4162425"/>
            <a:ext cx="419100" cy="419100"/>
          </a:xfrm>
          <a:prstGeom prst="ellipse">
            <a:avLst/>
          </a:prstGeom>
          <a:solidFill>
            <a:srgbClr val="2A6B3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638300" y="4000500"/>
            <a:ext cx="247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Cross-Mission Memory</a:t>
            </a:r>
            <a:endParaRPr lang="en-US" sz="1425" dirty="0"/>
          </a:p>
        </p:txBody>
      </p:sp>
      <p:sp>
        <p:nvSpPr>
          <p:cNvPr id="24" name="Text 22"/>
          <p:cNvSpPr txBox="1"/>
          <p:nvPr/>
        </p:nvSpPr>
        <p:spPr>
          <a:xfrm>
            <a:off x="4343400" y="4000500"/>
            <a:ext cx="68576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Determine whether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strategy reuse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offers measurable benefit vs.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negative-transfer risk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62000" y="4838700"/>
            <a:ext cx="10667695" cy="742950"/>
          </a:xfrm>
          <a:prstGeom prst="roundRect">
            <a:avLst>
              <a:gd name="adj" fmla="val 7385"/>
            </a:avLst>
          </a:prstGeom>
          <a:solidFill>
            <a:srgbClr val="FFFFFF"/>
          </a:solidFill>
          <a:ln w="9525">
            <a:solidFill>
              <a:srgbClr val="E8E4DE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2000" y="4838700"/>
            <a:ext cx="38100" cy="742950"/>
          </a:xfrm>
          <a:prstGeom prst="rect">
            <a:avLst/>
          </a:prstGeom>
          <a:solidFill>
            <a:srgbClr val="6B6B7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990600" y="5000625"/>
            <a:ext cx="419100" cy="419100"/>
          </a:xfrm>
          <a:prstGeom prst="ellipse">
            <a:avLst/>
          </a:prstGeom>
          <a:solidFill>
            <a:srgbClr val="6B6B7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638300" y="4838700"/>
            <a:ext cx="2476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5" b="1" spc="30" kern="0" dirty="0">
                <a:solidFill>
                  <a:srgbClr val="1A1A2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Benchmark-Grounded Evaluation</a:t>
            </a:r>
            <a:endParaRPr lang="en-US" sz="1425" dirty="0"/>
          </a:p>
        </p:txBody>
      </p:sp>
      <p:sp>
        <p:nvSpPr>
          <p:cNvPr id="29" name="Text 27"/>
          <p:cNvSpPr txBox="1"/>
          <p:nvPr/>
        </p:nvSpPr>
        <p:spPr>
          <a:xfrm>
            <a:off x="4343400" y="4838700"/>
            <a:ext cx="685769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Evaluate on </a:t>
            </a:r>
            <a:pPr indent="0" marL="0">
              <a:lnSpc>
                <a:spcPct val="130000"/>
              </a:lnSpc>
              <a:buNone/>
            </a:pPr>
            <a:r>
              <a:rPr lang="en-US" sz="1050" b="1" dirty="0">
                <a:solidFill>
                  <a:srgbClr val="8B1A1A"/>
                </a:solidFill>
                <a:highlight>
                  <a:srgbClr val="F0ECE1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oracle-backed benchmarks</a:t>
            </a:r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2E2E3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across 3+ attack surfaces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62000" y="5829300"/>
            <a:ext cx="1066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highlight>
                  <a:srgbClr val="8B1A1A"/>
                </a:highlight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NOTE</a:t>
            </a:r>
            <a:pPr algn="ctr" indent="0" marL="0">
              <a:buNone/>
            </a:pPr>
            <a:r>
              <a:rPr lang="en-US" sz="1200" b="1" dirty="0">
                <a:solidFill>
                  <a:srgbClr val="6B6B7A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  These reflect the research direction at inception stage. Scope will evolve with implementation.</a:t>
            </a:r>
            <a:endParaRPr lang="en-US" sz="975" dirty="0"/>
          </a:p>
        </p:txBody>
      </p:sp>
      <p:sp>
        <p:nvSpPr>
          <p:cNvPr id="31" name="Shape 29"/>
          <p:cNvSpPr/>
          <p:nvPr/>
        </p:nvSpPr>
        <p:spPr>
          <a:xfrm>
            <a:off x="0" y="6515100"/>
            <a:ext cx="12191695" cy="0"/>
          </a:xfrm>
          <a:prstGeom prst="line">
            <a:avLst/>
          </a:prstGeom>
          <a:noFill/>
          <a:ln w="9525">
            <a:solidFill>
              <a:srgbClr val="D4CFC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515295" y="6610350"/>
            <a:ext cx="9144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75" dirty="0">
                <a:solidFill>
                  <a:srgbClr val="9A9AA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20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0" y="6829425"/>
            <a:ext cx="6095848" cy="28575"/>
          </a:xfrm>
          <a:prstGeom prst="rect">
            <a:avLst/>
          </a:prstGeom>
          <a:solidFill>
            <a:srgbClr val="8B1A1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2026-09-03T11:52:07Z</dcterms:created>
  <dcterms:modified xsi:type="dcterms:W3CDTF">2026-09-03T11:52:07Z</dcterms:modified>
</cp:coreProperties>
</file>