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y="5143500" cx="9144000"/>
  <p:notesSz cx="6858000" cy="9144000"/>
  <p:embeddedFontLst>
    <p:embeddedFont>
      <p:font typeface="Playfair Display"/>
      <p:regular r:id="rId16"/>
      <p:bold r:id="rId17"/>
      <p:italic r:id="rId18"/>
      <p:boldItalic r:id="rId19"/>
    </p:embeddedFont>
    <p:embeddedFont>
      <p:font typeface="Source Sans 3"/>
      <p:regular r:id="rId20"/>
      <p:bold r:id="rId21"/>
      <p:italic r:id="rId22"/>
      <p:boldItalic r:id="rId23"/>
    </p:embeddedFont>
    <p:embeddedFont>
      <p:font typeface="IBM Plex Mon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62E8C5F-F55A-4915-843A-152D3C9B0528}">
  <a:tblStyle styleId="{D62E8C5F-F55A-4915-843A-152D3C9B05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SourceSans3-regular.fntdata"/><Relationship Id="rId22" Type="http://schemas.openxmlformats.org/officeDocument/2006/relationships/font" Target="fonts/SourceSans3-italic.fntdata"/><Relationship Id="rId21" Type="http://schemas.openxmlformats.org/officeDocument/2006/relationships/font" Target="fonts/SourceSans3-bold.fntdata"/><Relationship Id="rId24" Type="http://schemas.openxmlformats.org/officeDocument/2006/relationships/font" Target="fonts/IBMPlexMono-regular.fntdata"/><Relationship Id="rId23" Type="http://schemas.openxmlformats.org/officeDocument/2006/relationships/font" Target="fonts/SourceSans3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IBMPlexMono-italic.fntdata"/><Relationship Id="rId25" Type="http://schemas.openxmlformats.org/officeDocument/2006/relationships/font" Target="fonts/IBMPlexMono-bold.fntdata"/><Relationship Id="rId27" Type="http://schemas.openxmlformats.org/officeDocument/2006/relationships/font" Target="fonts/IBMPlexMono-bold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font" Target="fonts/PlayfairDisplay-bold.fntdata"/><Relationship Id="rId16" Type="http://schemas.openxmlformats.org/officeDocument/2006/relationships/font" Target="fonts/PlayfairDisplay-regular.fntdata"/><Relationship Id="rId19" Type="http://schemas.openxmlformats.org/officeDocument/2006/relationships/font" Target="fonts/PlayfairDisplay-boldItalic.fntdata"/><Relationship Id="rId18" Type="http://schemas.openxmlformats.org/officeDocument/2006/relationships/font" Target="fonts/PlayfairDisplay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9fbdecd61_20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9fbdecd61_20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g3f9fbdecd61_20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9fbdecd61_1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3f9fbdecd61_1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g3f9fbdecd61_1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9fbdecd61_36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9fbdecd61_36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9fbdecd61_36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9fbdecd61_2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g3f9fbdecd61_2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f9fbdecd61_2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9fbdecd61_45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g3f9fbdecd61_45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f9fbdecd61_45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9fbdecd61_49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g3f9fbdecd61_49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f9fbdecd61_49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f9fbdecd61_53_0:notes"/>
          <p:cNvSpPr/>
          <p:nvPr>
            <p:ph idx="2" type="sldImg"/>
          </p:nvPr>
        </p:nvSpPr>
        <p:spPr>
          <a:xfrm>
            <a:off x="685727" y="857273"/>
            <a:ext cx="5486546" cy="231463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3f9fbdecd61_53_0:notes"/>
          <p:cNvSpPr txBox="1"/>
          <p:nvPr>
            <p:ph idx="1" type="body"/>
          </p:nvPr>
        </p:nvSpPr>
        <p:spPr>
          <a:xfrm>
            <a:off x="685800" y="3300500"/>
            <a:ext cx="5486400" cy="27004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g3f9fbdecd61_53_0:notes"/>
          <p:cNvSpPr txBox="1"/>
          <p:nvPr>
            <p:ph idx="12" type="sldNum"/>
          </p:nvPr>
        </p:nvSpPr>
        <p:spPr>
          <a:xfrm>
            <a:off x="3884613" y="6514083"/>
            <a:ext cx="2971800" cy="3440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9fbdecd61_61_0:notes"/>
          <p:cNvSpPr/>
          <p:nvPr>
            <p:ph idx="2" type="sldImg"/>
          </p:nvPr>
        </p:nvSpPr>
        <p:spPr>
          <a:xfrm>
            <a:off x="685800" y="857250"/>
            <a:ext cx="5486400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7" name="Google Shape;317;g3f9fbdecd61_61_0:notes"/>
          <p:cNvSpPr txBox="1"/>
          <p:nvPr>
            <p:ph idx="1" type="body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f9fbdecd61_61_0:notes"/>
          <p:cNvSpPr txBox="1"/>
          <p:nvPr>
            <p:ph idx="12" type="sldNum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57150" cy="51435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logo-university.png" id="58" name="Google Shape;5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85750"/>
            <a:ext cx="289627" cy="3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5"/>
          <p:cNvSpPr txBox="1"/>
          <p:nvPr/>
        </p:nvSpPr>
        <p:spPr>
          <a:xfrm>
            <a:off x="57150" y="571500"/>
            <a:ext cx="90868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PROFESSIONAL MASTERS IN INFORMATION AND CYBER SECURITY (PMICS)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57150" y="742950"/>
            <a:ext cx="90868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ourier New"/>
                <a:ea typeface="Courier New"/>
                <a:cs typeface="Courier New"/>
                <a:sym typeface="Courier New"/>
              </a:rPr>
              <a:t>PROJECT ON CYBER SECURITY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3464719" y="928688"/>
            <a:ext cx="2214563" cy="185738"/>
          </a:xfrm>
          <a:prstGeom prst="roundRect">
            <a:avLst>
              <a:gd fmla="val 14769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 txBox="1"/>
          <p:nvPr/>
        </p:nvSpPr>
        <p:spPr>
          <a:xfrm>
            <a:off x="3464719" y="928688"/>
            <a:ext cx="2214563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7A4F1A"/>
                </a:solidFill>
                <a:latin typeface="Calibri"/>
                <a:ea typeface="Calibri"/>
                <a:cs typeface="Calibri"/>
                <a:sym typeface="Calibri"/>
              </a:rPr>
              <a:t>INCEPTION STAGE  ·  SEPTEMBER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 txBox="1"/>
          <p:nvPr/>
        </p:nvSpPr>
        <p:spPr>
          <a:xfrm>
            <a:off x="57150" y="1314450"/>
            <a:ext cx="9086850" cy="6429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4500"/>
              <a:buFont typeface="Cambria"/>
              <a:buNone/>
            </a:pPr>
            <a:r>
              <a:rPr b="1" i="0" lang="en" sz="4500" u="none" cap="none" strike="noStrike">
                <a:solidFill>
                  <a:srgbClr val="8B1A1A"/>
                </a:solidFill>
                <a:latin typeface="Cambria"/>
                <a:ea typeface="Cambria"/>
                <a:cs typeface="Cambria"/>
                <a:sym typeface="Cambria"/>
              </a:rPr>
              <a:t>RedGrid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" name="Google Shape;64;p15"/>
          <p:cNvCxnSpPr/>
          <p:nvPr/>
        </p:nvCxnSpPr>
        <p:spPr>
          <a:xfrm>
            <a:off x="3286125" y="2014538"/>
            <a:ext cx="2571750" cy="0"/>
          </a:xfrm>
          <a:prstGeom prst="straightConnector1">
            <a:avLst/>
          </a:prstGeom>
          <a:noFill/>
          <a:ln cap="flat" cmpd="sng" w="190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" name="Google Shape;65;p15"/>
          <p:cNvSpPr txBox="1"/>
          <p:nvPr/>
        </p:nvSpPr>
        <p:spPr>
          <a:xfrm>
            <a:off x="285750" y="2114550"/>
            <a:ext cx="8572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Dependency-Constrained UCB Exploration for Autonomous Penetration Testing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" y="2728913"/>
            <a:ext cx="90868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Calibri"/>
                <a:ea typeface="Calibri"/>
                <a:cs typeface="Calibri"/>
                <a:sym typeface="Calibri"/>
              </a:rPr>
              <a:t>PRESENTED BY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3000375" y="29289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{D62E8C5F-F55A-4915-843A-152D3C9B0528}</a:tableStyleId>
              </a:tblPr>
              <a:tblGrid>
                <a:gridCol w="1571625"/>
                <a:gridCol w="785800"/>
                <a:gridCol w="785800"/>
              </a:tblGrid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Name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Class Roll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A9AAA"/>
                        </a:buClr>
                        <a:buSzPts val="700"/>
                        <a:buFont typeface="Calibri"/>
                        <a:buNone/>
                      </a:pPr>
                      <a:r>
                        <a:rPr b="1" lang="en" sz="700" u="none" cap="none" strike="noStrike">
                          <a:solidFill>
                            <a:srgbClr val="9A9AAA"/>
                          </a:solidFill>
                        </a:rPr>
                        <a:t>Reg No</a:t>
                      </a:r>
                      <a:endParaRPr sz="7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Nishan Paul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50028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H-55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14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8B1A1A"/>
                        </a:buClr>
                        <a:buSzPts val="900"/>
                        <a:buFont typeface="Calibri"/>
                        <a:buNone/>
                      </a:pPr>
                      <a:r>
                        <a:rPr b="1" lang="en" sz="900" u="none" cap="none" strike="noStrike">
                          <a:solidFill>
                            <a:srgbClr val="8B1A1A"/>
                          </a:solidFill>
                        </a:rPr>
                        <a:t>Md Rakibur Rahman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50040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900"/>
                        <a:buFont typeface="Calibri"/>
                        <a:buNone/>
                      </a:pPr>
                      <a:r>
                        <a:rPr lang="en" sz="900" u="none" cap="none" strike="noStrike">
                          <a:solidFill>
                            <a:srgbClr val="1A1A2E"/>
                          </a:solidFill>
                        </a:rPr>
                        <a:t>H-49</a:t>
                      </a:r>
                      <a:endParaRPr sz="900" u="none" cap="none" strike="noStrike"/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15"/>
          <p:cNvSpPr/>
          <p:nvPr/>
        </p:nvSpPr>
        <p:spPr>
          <a:xfrm>
            <a:off x="3286125" y="3836194"/>
            <a:ext cx="2571750" cy="1143000"/>
          </a:xfrm>
          <a:prstGeom prst="rect">
            <a:avLst/>
          </a:prstGeom>
          <a:solidFill>
            <a:srgbClr val="EFEBE3"/>
          </a:solidFill>
          <a:ln>
            <a:noFill/>
          </a:ln>
          <a:effectLst>
            <a:outerShdw blurRad="76200" rotWithShape="0" algn="bl" dir="5400000" dist="38100">
              <a:srgbClr val="000000">
                <a:alpha val="509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3286125" y="3836194"/>
            <a:ext cx="2571750" cy="21431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 txBox="1"/>
          <p:nvPr/>
        </p:nvSpPr>
        <p:spPr>
          <a:xfrm>
            <a:off x="3286125" y="3979069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SUPERVISOR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286125" y="4164806"/>
            <a:ext cx="2571750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Dr. Md. Abdur Razzaque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286125" y="4393406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Professor and Chair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286125" y="4550569"/>
            <a:ext cx="257175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286125" y="4693444"/>
            <a:ext cx="257175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Calibri"/>
                <a:ea typeface="Calibri"/>
                <a:cs typeface="Calibri"/>
                <a:sym typeface="Calibri"/>
              </a:rPr>
              <a:t>UNIVERSITY OF DHAKA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6429375" y="171450"/>
            <a:ext cx="2143125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Playfair Display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RedGrid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571500" y="428625"/>
            <a:ext cx="8001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500"/>
              <a:buFont typeface="Playfair Display"/>
              <a:buNone/>
            </a:pPr>
            <a:r>
              <a:rPr b="1" i="0" lang="en" sz="25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Why This Matters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571500" y="878681"/>
            <a:ext cx="440055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 txBox="1"/>
          <p:nvPr/>
        </p:nvSpPr>
        <p:spPr>
          <a:xfrm>
            <a:off x="571500" y="1089422"/>
            <a:ext cx="464058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MOTIVATION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571500" y="1375172"/>
            <a:ext cx="4640580" cy="957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800"/>
              <a:buFont typeface="Playfair Display"/>
              <a:buNone/>
            </a:pPr>
            <a:r>
              <a:rPr b="0" i="1" lang="en" sz="18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“Attackers move fast. Defenders move slow. Automated testers don’t move at all.”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571500" y="2503885"/>
            <a:ext cx="46405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Source Sans 3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Security vulnerabilities are found daily in web apps, APIs, and networks. Human pen testers are scarce and expensive. Automated scanners use fixed rule-sets — they cannot reason, adapt, or chain exploits.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571500" y="3589735"/>
            <a:ext cx="4640580" cy="1007269"/>
          </a:xfrm>
          <a:prstGeom prst="rect">
            <a:avLst/>
          </a:prstGeom>
          <a:solidFill>
            <a:srgbClr val="F2EAD9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6"/>
          <p:cNvSpPr/>
          <p:nvPr/>
        </p:nvSpPr>
        <p:spPr>
          <a:xfrm>
            <a:off x="571500" y="3589735"/>
            <a:ext cx="28575" cy="1007269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 txBox="1"/>
          <p:nvPr/>
        </p:nvSpPr>
        <p:spPr>
          <a:xfrm>
            <a:off x="771525" y="3732610"/>
            <a:ext cx="42405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4F1A"/>
              </a:buClr>
              <a:buSzPts val="1000"/>
              <a:buFont typeface="Source Sans 3"/>
              <a:buNone/>
            </a:pPr>
            <a:r>
              <a:rPr b="1" i="0" lang="en" sz="1000" u="none" cap="none" strike="noStrike">
                <a:solidFill>
                  <a:srgbClr val="7A4F1A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question: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771525" y="3904060"/>
            <a:ext cx="4240530" cy="6072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Source Sans 3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Can an LLM agent carry out penetration testing autonomously — without step-by-step human direction?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raph.png" id="90" name="Google Shape;9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97830" y="1439466"/>
            <a:ext cx="307467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/>
          <p:nvPr/>
        </p:nvSpPr>
        <p:spPr>
          <a:xfrm>
            <a:off x="5497830" y="1439466"/>
            <a:ext cx="3074670" cy="2571750"/>
          </a:xfrm>
          <a:prstGeom prst="roundRect">
            <a:avLst>
              <a:gd fmla="val 1111" name="adj"/>
            </a:avLst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 txBox="1"/>
          <p:nvPr/>
        </p:nvSpPr>
        <p:spPr>
          <a:xfrm>
            <a:off x="5497830" y="4125516"/>
            <a:ext cx="3074670" cy="121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ATTACK SURFACE EXPLORATION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p16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16"/>
          <p:cNvSpPr txBox="1"/>
          <p:nvPr/>
        </p:nvSpPr>
        <p:spPr>
          <a:xfrm>
            <a:off x="7715250" y="4957763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0" y="5122069"/>
            <a:ext cx="4572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/>
          <p:nvPr/>
        </p:nvSpPr>
        <p:spPr>
          <a:xfrm>
            <a:off x="571500" y="214312"/>
            <a:ext cx="4643438" cy="40005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Playfair Display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Literature We Surveyed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571500" y="607219"/>
            <a:ext cx="1964531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7"/>
          <p:cNvSpPr/>
          <p:nvPr/>
        </p:nvSpPr>
        <p:spPr>
          <a:xfrm>
            <a:off x="6215063" y="314325"/>
            <a:ext cx="2357438" cy="214313"/>
          </a:xfrm>
          <a:prstGeom prst="roundRect">
            <a:avLst>
              <a:gd fmla="val 10000" name="adj"/>
            </a:avLst>
          </a:prstGeom>
          <a:solidFill>
            <a:srgbClr val="F7F4EF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6215063" y="314325"/>
            <a:ext cx="23574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11 Papers · Focused Reading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" name="Google Shape;105;p17"/>
          <p:cNvCxnSpPr/>
          <p:nvPr/>
        </p:nvCxnSpPr>
        <p:spPr>
          <a:xfrm>
            <a:off x="5532120" y="700088"/>
            <a:ext cx="0" cy="4071938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7"/>
          <p:cNvCxnSpPr/>
          <p:nvPr/>
        </p:nvCxnSpPr>
        <p:spPr>
          <a:xfrm>
            <a:off x="571500" y="1042988"/>
            <a:ext cx="4674870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" name="Google Shape;107;p17"/>
          <p:cNvSpPr/>
          <p:nvPr/>
        </p:nvSpPr>
        <p:spPr>
          <a:xfrm>
            <a:off x="571500" y="771525"/>
            <a:ext cx="200025" cy="200025"/>
          </a:xfrm>
          <a:prstGeom prst="ellipse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 txBox="1"/>
          <p:nvPr/>
        </p:nvSpPr>
        <p:spPr>
          <a:xfrm>
            <a:off x="571500" y="771525"/>
            <a:ext cx="2000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857250" y="771525"/>
            <a:ext cx="3746182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2E4A7A"/>
                </a:solidFill>
                <a:latin typeface="Source Sans 3"/>
                <a:ea typeface="Source Sans 3"/>
                <a:cs typeface="Source Sans 3"/>
                <a:sym typeface="Source Sans 3"/>
              </a:rPr>
              <a:t>AGENT SYSTEMS &amp; SURVEYS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4603433" y="771525"/>
            <a:ext cx="642938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9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17"/>
          <p:cNvCxnSpPr/>
          <p:nvPr/>
        </p:nvCxnSpPr>
        <p:spPr>
          <a:xfrm>
            <a:off x="5817870" y="1042988"/>
            <a:ext cx="2754630" cy="0"/>
          </a:xfrm>
          <a:prstGeom prst="straightConnector1">
            <a:avLst/>
          </a:prstGeom>
          <a:noFill/>
          <a:ln cap="flat" cmpd="sng" w="19050">
            <a:solidFill>
              <a:srgbClr val="1A1A2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17"/>
          <p:cNvSpPr/>
          <p:nvPr/>
        </p:nvSpPr>
        <p:spPr>
          <a:xfrm>
            <a:off x="5817870" y="771525"/>
            <a:ext cx="200025" cy="200025"/>
          </a:xfrm>
          <a:prstGeom prst="ellipse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7"/>
          <p:cNvSpPr txBox="1"/>
          <p:nvPr/>
        </p:nvSpPr>
        <p:spPr>
          <a:xfrm>
            <a:off x="5817870" y="771525"/>
            <a:ext cx="2000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Source Sans 3"/>
                <a:ea typeface="Source Sans 3"/>
                <a:cs typeface="Source Sans 3"/>
                <a:sym typeface="Source Sans 3"/>
              </a:rPr>
              <a:t>B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6103620" y="771525"/>
            <a:ext cx="1825942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7929563" y="771525"/>
            <a:ext cx="642938" cy="20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600"/>
              <a:buFont typeface="IBM Plex Mono"/>
              <a:buNone/>
            </a:pPr>
            <a:r>
              <a:rPr b="1" i="0" lang="en" sz="6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2 PAPERS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571500" y="1042988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7"/>
          <p:cNvSpPr txBox="1"/>
          <p:nvPr/>
        </p:nvSpPr>
        <p:spPr>
          <a:xfrm>
            <a:off x="800100" y="1042988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7"/>
          <p:cNvSpPr txBox="1"/>
          <p:nvPr/>
        </p:nvSpPr>
        <p:spPr>
          <a:xfrm>
            <a:off x="2157413" y="1042988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successfully exploits real web vulnerabilities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9" name="Google Shape;119;p17"/>
          <p:cNvCxnSpPr/>
          <p:nvPr/>
        </p:nvCxnSpPr>
        <p:spPr>
          <a:xfrm>
            <a:off x="571500" y="1457325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" name="Google Shape;120;p17"/>
          <p:cNvSpPr txBox="1"/>
          <p:nvPr/>
        </p:nvSpPr>
        <p:spPr>
          <a:xfrm>
            <a:off x="571500" y="1457325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800100" y="1457325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Fang et al.,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2157413" y="1457325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GPT-4 exploits one-day CVEs at 87% success with</a:t>
            </a:r>
            <a:r>
              <a:rPr lang="en" sz="1000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description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17"/>
          <p:cNvCxnSpPr/>
          <p:nvPr/>
        </p:nvCxnSpPr>
        <p:spPr>
          <a:xfrm>
            <a:off x="571500" y="1871663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17"/>
          <p:cNvSpPr txBox="1"/>
          <p:nvPr/>
        </p:nvSpPr>
        <p:spPr>
          <a:xfrm>
            <a:off x="571500" y="1871663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800100" y="1871663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2157413" y="1871663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Hierarchical multi-agent system for zero-day CVEs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7" name="Google Shape;127;p17"/>
          <p:cNvCxnSpPr/>
          <p:nvPr/>
        </p:nvCxnSpPr>
        <p:spPr>
          <a:xfrm>
            <a:off x="571500" y="2286000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17"/>
          <p:cNvSpPr txBox="1"/>
          <p:nvPr/>
        </p:nvSpPr>
        <p:spPr>
          <a:xfrm>
            <a:off x="571500" y="2286000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 txBox="1"/>
          <p:nvPr/>
        </p:nvSpPr>
        <p:spPr>
          <a:xfrm>
            <a:off x="800100" y="2286000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Deng et al., 2024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2157413" y="2286000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Context loss is the dominant failure in long sessions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1" name="Google Shape;131;p17"/>
          <p:cNvCxnSpPr/>
          <p:nvPr/>
        </p:nvCxnSpPr>
        <p:spPr>
          <a:xfrm>
            <a:off x="571500" y="2700338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2" name="Google Shape;132;p17"/>
          <p:cNvSpPr txBox="1"/>
          <p:nvPr/>
        </p:nvSpPr>
        <p:spPr>
          <a:xfrm>
            <a:off x="571500" y="2700338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800100" y="2700338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Kong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 txBox="1"/>
          <p:nvPr/>
        </p:nvSpPr>
        <p:spPr>
          <a:xfrm>
            <a:off x="2157413" y="2700338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Role-specialised multi-agent dispatch architecture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5" name="Google Shape;135;p17"/>
          <p:cNvCxnSpPr/>
          <p:nvPr/>
        </p:nvCxnSpPr>
        <p:spPr>
          <a:xfrm>
            <a:off x="571500" y="3114675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6" name="Google Shape;136;p17"/>
          <p:cNvSpPr txBox="1"/>
          <p:nvPr/>
        </p:nvSpPr>
        <p:spPr>
          <a:xfrm>
            <a:off x="571500" y="3114675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800100" y="3114675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2157413" y="3114675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Classical planning integrated with LLM agent execution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17"/>
          <p:cNvCxnSpPr/>
          <p:nvPr/>
        </p:nvCxnSpPr>
        <p:spPr>
          <a:xfrm>
            <a:off x="571500" y="3529013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17"/>
          <p:cNvSpPr txBox="1"/>
          <p:nvPr/>
        </p:nvSpPr>
        <p:spPr>
          <a:xfrm>
            <a:off x="571500" y="3529013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800100" y="3529013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Singer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 txBox="1"/>
          <p:nvPr/>
        </p:nvSpPr>
        <p:spPr>
          <a:xfrm>
            <a:off x="2157413" y="3529013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Multi-host orchestration across Active Directory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p17"/>
          <p:cNvCxnSpPr/>
          <p:nvPr/>
        </p:nvCxnSpPr>
        <p:spPr>
          <a:xfrm>
            <a:off x="571500" y="3943350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" name="Google Shape;144;p17"/>
          <p:cNvSpPr txBox="1"/>
          <p:nvPr/>
        </p:nvSpPr>
        <p:spPr>
          <a:xfrm>
            <a:off x="571500" y="3943350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800100" y="3943350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PrediQL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Liu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2157413" y="3943350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Schema-aware LLM fuzzer for GraphQL APIs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7" name="Google Shape;147;p17"/>
          <p:cNvCxnSpPr/>
          <p:nvPr/>
        </p:nvCxnSpPr>
        <p:spPr>
          <a:xfrm>
            <a:off x="571500" y="4357688"/>
            <a:ext cx="467487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" name="Google Shape;148;p17"/>
          <p:cNvSpPr txBox="1"/>
          <p:nvPr/>
        </p:nvSpPr>
        <p:spPr>
          <a:xfrm>
            <a:off x="571500" y="4357688"/>
            <a:ext cx="228600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800100" y="4357688"/>
            <a:ext cx="1271588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E4A7A"/>
              </a:buClr>
              <a:buSzPts val="1000"/>
              <a:buFont typeface="IBM Plex Mono"/>
              <a:buNone/>
            </a:pPr>
            <a:r>
              <a:rPr b="1" i="0" lang="en" sz="1000" u="none" cap="none" strike="noStrike">
                <a:solidFill>
                  <a:srgbClr val="2E4A7A"/>
                </a:solidFill>
                <a:latin typeface="IBM Plex Mono"/>
                <a:ea typeface="IBM Plex Mono"/>
                <a:cs typeface="IBM Plex Mono"/>
                <a:sym typeface="IBM Plex Mono"/>
              </a:rPr>
              <a:t>Wang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Wang et al., 2025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2157413" y="4357688"/>
            <a:ext cx="3088957" cy="4143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General survey of LLM-based agent architectures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5817870" y="1042988"/>
            <a:ext cx="228600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6046470" y="1042988"/>
            <a:ext cx="1021556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CVE-Bench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Zhu et al.,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7153751" y="1042988"/>
            <a:ext cx="1418749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40 critical web CVEs with oracle-backed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17"/>
          <p:cNvCxnSpPr/>
          <p:nvPr/>
        </p:nvCxnSpPr>
        <p:spPr>
          <a:xfrm>
            <a:off x="5817870" y="1607344"/>
            <a:ext cx="2754630" cy="0"/>
          </a:xfrm>
          <a:prstGeom prst="straightConnector1">
            <a:avLst/>
          </a:prstGeom>
          <a:noFill/>
          <a:ln cap="flat" cmpd="sng" w="9525">
            <a:solidFill>
              <a:srgbClr val="E8E4D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7"/>
          <p:cNvSpPr txBox="1"/>
          <p:nvPr/>
        </p:nvSpPr>
        <p:spPr>
          <a:xfrm>
            <a:off x="5817870" y="1607344"/>
            <a:ext cx="228600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A39C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A8A39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6046470" y="1607344"/>
            <a:ext cx="1021556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1100"/>
              <a:buFont typeface="IBM Plex Mono"/>
              <a:buNone/>
            </a:pPr>
            <a:r>
              <a:rPr b="1" i="0" lang="en" sz="1100" u="none" cap="none" strike="noStrike">
                <a:solidFill>
                  <a:srgbClr val="A063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PentestEval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A7A8A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7A7A8A"/>
                </a:solidFill>
                <a:latin typeface="Source Sans 3"/>
                <a:ea typeface="Source Sans 3"/>
                <a:cs typeface="Source Sans 3"/>
                <a:sym typeface="Source Sans 3"/>
              </a:rPr>
              <a:t>Yang et al., 2025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153751" y="1607344"/>
            <a:ext cx="1418749" cy="564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Source Sans 3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Stage-level breakdown of pipeline failure modes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5817870" y="3514725"/>
            <a:ext cx="2754630" cy="1257300"/>
          </a:xfrm>
          <a:prstGeom prst="roundRect">
            <a:avLst>
              <a:gd fmla="val 3409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  <a:effectLst>
            <a:outerShdw blurRad="228600" rotWithShape="0" algn="bl" dir="5400000" dist="76200">
              <a:srgbClr val="000000">
                <a:alpha val="16078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5817870" y="3514725"/>
            <a:ext cx="2754630" cy="28575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5989320" y="3643313"/>
            <a:ext cx="2411730" cy="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600"/>
              <a:buFont typeface="Source Sans 3"/>
              <a:buNone/>
            </a:pPr>
            <a:r>
              <a:rPr b="1" i="0" lang="en" sz="6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KEY TAKEAWAY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5989320" y="3771900"/>
            <a:ext cx="2411730" cy="385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00"/>
              <a:buFont typeface="Playfair Display"/>
              <a:buNone/>
            </a:pPr>
            <a:r>
              <a:rPr b="1" i="0" lang="en" sz="9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9 Agent Systems · 2 Benchmarks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5989320" y="4186238"/>
            <a:ext cx="2411730" cy="557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800"/>
              <a:buFont typeface="Source Sans 3"/>
              <a:buNone/>
            </a:pPr>
            <a:r>
              <a:rPr b="0" i="0" lang="en" sz="800" u="none" cap="none" strike="noStrike">
                <a:solidFill>
                  <a:srgbClr val="6B6B7A"/>
                </a:solidFill>
                <a:latin typeface="Source Sans 3"/>
                <a:ea typeface="Source Sans 3"/>
                <a:cs typeface="Source Sans 3"/>
                <a:sym typeface="Source Sans 3"/>
              </a:rPr>
              <a:t>Benchmarks serve as the primary source for failure-mode analysis and motivate the research gap.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3" name="Google Shape;163;p17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7"/>
          <p:cNvSpPr txBox="1"/>
          <p:nvPr/>
        </p:nvSpPr>
        <p:spPr>
          <a:xfrm>
            <a:off x="7500938" y="4957763"/>
            <a:ext cx="1071563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0" y="5122069"/>
            <a:ext cx="9144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 txBox="1"/>
          <p:nvPr/>
        </p:nvSpPr>
        <p:spPr>
          <a:xfrm>
            <a:off x="571500" y="285750"/>
            <a:ext cx="742950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What the Literature Agrees 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571500" y="742950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8"/>
          <p:cNvSpPr/>
          <p:nvPr/>
        </p:nvSpPr>
        <p:spPr>
          <a:xfrm>
            <a:off x="1371600" y="928688"/>
            <a:ext cx="6400800" cy="871538"/>
          </a:xfrm>
          <a:prstGeom prst="roundRect">
            <a:avLst>
              <a:gd fmla="val 2459" name="adj"/>
            </a:avLst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1371600" y="928688"/>
            <a:ext cx="21431" cy="87153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1543050" y="1071563"/>
            <a:ext cx="6057900" cy="2714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700"/>
              <a:buFont typeface="Playfair Display"/>
              <a:buNone/>
            </a:pPr>
            <a:r>
              <a:rPr b="0" i="1" lang="en" sz="17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"Architecture, not model scale, is the dominant variable."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1751647" y="1443038"/>
            <a:ext cx="1094536" cy="18573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Source Sans 3"/>
              <a:buNone/>
            </a:pPr>
            <a:r>
              <a:rPr b="1" i="0" lang="en" sz="700" u="none" cap="none" strike="noStrike">
                <a:solidFill>
                  <a:srgbClr val="9A9AAA"/>
                </a:solidFill>
                <a:latin typeface="Source Sans 3"/>
                <a:ea typeface="Source Sans 3"/>
                <a:cs typeface="Source Sans 3"/>
                <a:sym typeface="Source Sans 3"/>
              </a:rPr>
              <a:t>CONSISTENT ACROSS: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2917622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2917622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VulnBot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3622739" y="1428750"/>
            <a:ext cx="822960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3622739" y="1428750"/>
            <a:ext cx="822960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PentestGPT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/>
          <p:nvPr/>
        </p:nvSpPr>
        <p:spPr>
          <a:xfrm>
            <a:off x="451713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451713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CHECKMATE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5348440" y="1428750"/>
            <a:ext cx="633679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5348440" y="1428750"/>
            <a:ext cx="633679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Incalmo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6053557" y="1428750"/>
            <a:ext cx="507492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6053557" y="1428750"/>
            <a:ext cx="507492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HPTSA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6632486" y="1428750"/>
            <a:ext cx="759866" cy="214313"/>
          </a:xfrm>
          <a:prstGeom prst="roundRect">
            <a:avLst>
              <a:gd fmla="val 43333" name="adj"/>
            </a:avLst>
          </a:prstGeom>
          <a:solidFill>
            <a:srgbClr val="FFFFFF"/>
          </a:solidFill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6632486" y="1428750"/>
            <a:ext cx="759866" cy="2143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IBM Plex Mono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IBM Plex Mono"/>
                <a:ea typeface="IBM Plex Mono"/>
                <a:cs typeface="IBM Plex Mono"/>
                <a:sym typeface="IBM Plex Mono"/>
              </a:rPr>
              <a:t>Fang 2024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9" name="Google Shape;189;p18"/>
          <p:cNvGraphicFramePr/>
          <p:nvPr/>
        </p:nvGraphicFramePr>
        <p:xfrm>
          <a:off x="571500" y="20145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{D62E8C5F-F55A-4915-843A-152D3C9B0528}</a:tableStyleId>
              </a:tblPr>
              <a:tblGrid>
                <a:gridCol w="4000500"/>
                <a:gridCol w="4000500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Unstructured ReAct + GPT-4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300"/>
                        <a:buFont typeface="Source Sans 3"/>
                        <a:buNone/>
                      </a:pPr>
                      <a:r>
                        <a:rPr b="1" lang="en" sz="13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Structured Pipeline + GPT-4o-mini</a:t>
                      </a:r>
                      <a:endParaRPr sz="13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Depth-first tunnel vision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Broad, structured exploration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Context loss in long sessions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Scoped per-invocation context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No failure recovery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Retry / adapt / escalate loops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 Implicit planning only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1100"/>
                        <a:buFont typeface="Source Sans 3"/>
                        <a:buNone/>
                      </a:pPr>
                      <a:r>
                        <a:rPr b="1" lang="en" sz="11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 Explicit dependency modeling</a:t>
                      </a:r>
                      <a:endParaRPr sz="11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8100" marB="38100" marR="152400" marL="152400" anchor="ctr">
                    <a:lnL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7F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</a:tr>
            </a:tbl>
          </a:graphicData>
        </a:graphic>
      </p:graphicFrame>
      <p:sp>
        <p:nvSpPr>
          <p:cNvPr id="190" name="Google Shape;190;p18"/>
          <p:cNvSpPr txBox="1"/>
          <p:nvPr/>
        </p:nvSpPr>
        <p:spPr>
          <a:xfrm>
            <a:off x="571500" y="4443413"/>
            <a:ext cx="80010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100"/>
              <a:buFont typeface="Source Sans 3"/>
              <a:buNone/>
            </a:pPr>
            <a:r>
              <a:rPr b="1" i="0" lang="en" sz="1100" u="none" cap="none" strike="noStrike">
                <a:solidFill>
                  <a:srgbClr val="8B1A1A"/>
                </a:solidFill>
                <a:latin typeface="Source Sans 3"/>
                <a:ea typeface="Source Sans 3"/>
                <a:cs typeface="Source Sans 3"/>
                <a:sym typeface="Source Sans 3"/>
              </a:rPr>
              <a:t>Synthesised from 6 independent papers   |   September 2026 Review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1" name="Google Shape;191;p18"/>
          <p:cNvCxnSpPr/>
          <p:nvPr/>
        </p:nvCxnSpPr>
        <p:spPr>
          <a:xfrm>
            <a:off x="0" y="4886325"/>
            <a:ext cx="9144000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" name="Google Shape;192;p18"/>
          <p:cNvSpPr txBox="1"/>
          <p:nvPr/>
        </p:nvSpPr>
        <p:spPr>
          <a:xfrm>
            <a:off x="8001000" y="5000625"/>
            <a:ext cx="857250" cy="128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IBM Plex Mono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0" y="5122069"/>
            <a:ext cx="137160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9"/>
          <p:cNvSpPr txBox="1"/>
          <p:nvPr/>
        </p:nvSpPr>
        <p:spPr>
          <a:xfrm>
            <a:off x="571286" y="314096"/>
            <a:ext cx="7429469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300"/>
              <a:buFont typeface="Cambria"/>
              <a:buNone/>
            </a:pPr>
            <a:r>
              <a:rPr b="1" i="0" lang="en" sz="23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1 — Insufficient Exploration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571286" y="700202"/>
            <a:ext cx="4086105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571286" y="1527277"/>
            <a:ext cx="385772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alibri"/>
              <a:buNone/>
            </a:pPr>
            <a:r>
              <a:rPr b="1" i="0" lang="en" sz="10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CVE-BENCH  ·  40 CRITICAL WEB CVEs  ·  CVSS 9.0+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9"/>
          <p:cNvSpPr txBox="1"/>
          <p:nvPr/>
        </p:nvSpPr>
        <p:spPr>
          <a:xfrm>
            <a:off x="571286" y="1793024"/>
            <a:ext cx="3857728" cy="425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Even the best agent exploits only 13% (one-day) or 10% (zero-day).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571286" y="2333092"/>
            <a:ext cx="21260" cy="8229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9"/>
          <p:cNvSpPr/>
          <p:nvPr/>
        </p:nvSpPr>
        <p:spPr>
          <a:xfrm>
            <a:off x="592547" y="2333092"/>
            <a:ext cx="3265181" cy="822960"/>
          </a:xfrm>
          <a:prstGeom prst="rect">
            <a:avLst/>
          </a:prstGeom>
          <a:solidFill>
            <a:srgbClr val="EDE9E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707078" y="2333092"/>
            <a:ext cx="3571741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dominant failure is not reasoning quality — it's breadth of search. Agents commit early to a narrow attack path and never revisit.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685818" y="3284639"/>
            <a:ext cx="3743196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Range: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37.5% – 80% exploration failure rates across all agents tested.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 txBox="1"/>
          <p:nvPr/>
        </p:nvSpPr>
        <p:spPr>
          <a:xfrm>
            <a:off x="685818" y="3743439"/>
            <a:ext cx="3743196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Root cause: </a:t>
            </a:r>
            <a:r>
              <a:rPr b="0" i="0" lang="en" sz="10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Not a smarter-model problem — it's a search problem.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4840505" y="1359667"/>
            <a:ext cx="373222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Calibri"/>
                <a:ea typeface="Calibri"/>
                <a:cs typeface="Calibri"/>
                <a:sym typeface="Calibri"/>
              </a:rPr>
              <a:t>Exploration Failure Rate by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9"/>
          <p:cNvCxnSpPr/>
          <p:nvPr/>
        </p:nvCxnSpPr>
        <p:spPr>
          <a:xfrm>
            <a:off x="4634760" y="1736857"/>
            <a:ext cx="0" cy="2285771"/>
          </a:xfrm>
          <a:prstGeom prst="straightConnector1">
            <a:avLst/>
          </a:prstGeom>
          <a:noFill/>
          <a:ln cap="flat" cmpd="sng" w="1395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0" name="Google Shape;210;p19"/>
          <p:cNvCxnSpPr/>
          <p:nvPr/>
        </p:nvCxnSpPr>
        <p:spPr>
          <a:xfrm>
            <a:off x="7206681" y="1736857"/>
            <a:ext cx="0" cy="2285771"/>
          </a:xfrm>
          <a:prstGeom prst="straightConnector1">
            <a:avLst/>
          </a:prstGeom>
          <a:noFill/>
          <a:ln cap="flat" cmpd="sng" w="12700">
            <a:solidFill>
              <a:srgbClr val="A0631A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" name="Google Shape;211;p19"/>
          <p:cNvSpPr txBox="1"/>
          <p:nvPr/>
        </p:nvSpPr>
        <p:spPr>
          <a:xfrm>
            <a:off x="7234114" y="1585981"/>
            <a:ext cx="8915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alibri"/>
              <a:buNone/>
            </a:pPr>
            <a:r>
              <a:rPr b="0" i="0" lang="en" sz="700" u="none" cap="none" strike="noStrike">
                <a:solidFill>
                  <a:srgbClr val="A0631A"/>
                </a:solidFill>
                <a:latin typeface="Calibri"/>
                <a:ea typeface="Calibri"/>
                <a:cs typeface="Calibri"/>
                <a:sym typeface="Calibri"/>
              </a:rPr>
              <a:t>50% threshold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9"/>
          <p:cNvSpPr txBox="1"/>
          <p:nvPr/>
        </p:nvSpPr>
        <p:spPr>
          <a:xfrm>
            <a:off x="4840505" y="173685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840634" y="1786921"/>
            <a:ext cx="2185675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8094892" y="173685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80.0%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4840505" y="2142645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9"/>
          <p:cNvSpPr/>
          <p:nvPr/>
        </p:nvSpPr>
        <p:spPr>
          <a:xfrm>
            <a:off x="5840634" y="2192708"/>
            <a:ext cx="1980768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9"/>
          <p:cNvSpPr txBox="1"/>
          <p:nvPr/>
        </p:nvSpPr>
        <p:spPr>
          <a:xfrm>
            <a:off x="7889985" y="2142645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72.5%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9"/>
          <p:cNvSpPr txBox="1"/>
          <p:nvPr/>
        </p:nvSpPr>
        <p:spPr>
          <a:xfrm>
            <a:off x="4840505" y="2548432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(0-day)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/>
          <p:nvPr/>
        </p:nvSpPr>
        <p:spPr>
          <a:xfrm>
            <a:off x="5840634" y="2598497"/>
            <a:ext cx="184416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9"/>
          <p:cNvSpPr txBox="1"/>
          <p:nvPr/>
        </p:nvSpPr>
        <p:spPr>
          <a:xfrm>
            <a:off x="7753380" y="2548432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67.5%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4840505" y="2954221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5840634" y="3004284"/>
            <a:ext cx="1502652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7411868" y="2954221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55.0%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4840505" y="3360008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AutoGPT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5840634" y="3410072"/>
            <a:ext cx="1229443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7138659" y="3360008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45.0%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4840505" y="3765797"/>
            <a:ext cx="914402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alibri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Cy-Agent (1-day)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40634" y="3815860"/>
            <a:ext cx="1024536" cy="157049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6933751" y="3765797"/>
            <a:ext cx="617236" cy="257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Courier New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37.5%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 txBox="1"/>
          <p:nvPr/>
        </p:nvSpPr>
        <p:spPr>
          <a:xfrm>
            <a:off x="4840505" y="4136951"/>
            <a:ext cx="373222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Calibri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Calibri"/>
                <a:ea typeface="Calibri"/>
                <a:cs typeface="Calibri"/>
                <a:sym typeface="Calibri"/>
              </a:rPr>
              <a:t>Source: CVE-Bench (Zhu et al., 2025), Table 5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1" name="Google Shape;231;p19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p19"/>
          <p:cNvSpPr txBox="1"/>
          <p:nvPr/>
        </p:nvSpPr>
        <p:spPr>
          <a:xfrm>
            <a:off x="7201092" y="4937760"/>
            <a:ext cx="1257105" cy="1508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Courier New"/>
                <a:ea typeface="Courier New"/>
                <a:cs typeface="Courier New"/>
                <a:sym typeface="Courier New"/>
              </a:rPr>
              <a:t>05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0" y="5122069"/>
            <a:ext cx="1829078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0"/>
          <p:cNvSpPr txBox="1"/>
          <p:nvPr/>
        </p:nvSpPr>
        <p:spPr>
          <a:xfrm>
            <a:off x="571271" y="314096"/>
            <a:ext cx="7429271" cy="37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100"/>
              <a:buFont typeface="Cambria"/>
              <a:buNone/>
            </a:pPr>
            <a:r>
              <a:rPr b="1" i="0" lang="en" sz="2100" u="none" cap="none" strike="noStrike">
                <a:solidFill>
                  <a:srgbClr val="1A1A2E"/>
                </a:solidFill>
                <a:latin typeface="Cambria"/>
                <a:ea typeface="Cambria"/>
                <a:cs typeface="Cambria"/>
                <a:sym typeface="Cambria"/>
              </a:rPr>
              <a:t>Failure Mode 2 — The Dependency-Reasoning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571271" y="678942"/>
            <a:ext cx="4085996" cy="2057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0"/>
          <p:cNvSpPr/>
          <p:nvPr/>
        </p:nvSpPr>
        <p:spPr>
          <a:xfrm>
            <a:off x="4572229" y="886054"/>
            <a:ext cx="10287" cy="382882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571271" y="886054"/>
            <a:ext cx="371497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PENTESTEVAL GT INJECTION ABLATION — TASK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785927" y="1383259"/>
            <a:ext cx="8230" cy="2285771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0"/>
          <p:cNvSpPr txBox="1"/>
          <p:nvPr/>
        </p:nvSpPr>
        <p:spPr>
          <a:xfrm>
            <a:off x="342900" y="13215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0.80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 txBox="1"/>
          <p:nvPr/>
        </p:nvSpPr>
        <p:spPr>
          <a:xfrm>
            <a:off x="342900" y="18928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0.60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 txBox="1"/>
          <p:nvPr/>
        </p:nvSpPr>
        <p:spPr>
          <a:xfrm>
            <a:off x="342900" y="2464079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0.40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0"/>
          <p:cNvSpPr txBox="1"/>
          <p:nvPr/>
        </p:nvSpPr>
        <p:spPr>
          <a:xfrm>
            <a:off x="342900" y="3036037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0"/>
          <p:cNvSpPr txBox="1"/>
          <p:nvPr/>
        </p:nvSpPr>
        <p:spPr>
          <a:xfrm>
            <a:off x="342900" y="3607308"/>
            <a:ext cx="411480" cy="123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0.00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857250" y="3669030"/>
            <a:ext cx="3429000" cy="8230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1007441" y="2782976"/>
            <a:ext cx="557213" cy="886054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0"/>
          <p:cNvSpPr/>
          <p:nvPr/>
        </p:nvSpPr>
        <p:spPr>
          <a:xfrm>
            <a:off x="1864690" y="2239823"/>
            <a:ext cx="557213" cy="543154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0"/>
          <p:cNvSpPr/>
          <p:nvPr/>
        </p:nvSpPr>
        <p:spPr>
          <a:xfrm>
            <a:off x="2721941" y="2154784"/>
            <a:ext cx="557213" cy="85725"/>
          </a:xfrm>
          <a:prstGeom prst="rect">
            <a:avLst/>
          </a:prstGeom>
          <a:solidFill>
            <a:srgbClr val="2A6B3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0"/>
          <p:cNvSpPr/>
          <p:nvPr/>
        </p:nvSpPr>
        <p:spPr>
          <a:xfrm>
            <a:off x="3579191" y="1754276"/>
            <a:ext cx="557213" cy="399821"/>
          </a:xfrm>
          <a:prstGeom prst="rect">
            <a:avLst/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54" name="Google Shape;254;p20"/>
          <p:cNvCxnSpPr/>
          <p:nvPr/>
        </p:nvCxnSpPr>
        <p:spPr>
          <a:xfrm>
            <a:off x="1285875" y="2783663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20"/>
          <p:cNvCxnSpPr/>
          <p:nvPr/>
        </p:nvCxnSpPr>
        <p:spPr>
          <a:xfrm>
            <a:off x="2143125" y="2240509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6" name="Google Shape;256;p20"/>
          <p:cNvCxnSpPr/>
          <p:nvPr/>
        </p:nvCxnSpPr>
        <p:spPr>
          <a:xfrm>
            <a:off x="3000375" y="2154784"/>
            <a:ext cx="857250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7" name="Google Shape;257;p20"/>
          <p:cNvSpPr txBox="1"/>
          <p:nvPr/>
        </p:nvSpPr>
        <p:spPr>
          <a:xfrm>
            <a:off x="771525" y="26060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1A1A2E"/>
                </a:solidFill>
                <a:latin typeface="Courier New"/>
                <a:ea typeface="Courier New"/>
                <a:cs typeface="Courier New"/>
                <a:sym typeface="Courier New"/>
              </a:rPr>
              <a:t>Baseline (0.31)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0"/>
          <p:cNvSpPr txBox="1"/>
          <p:nvPr/>
        </p:nvSpPr>
        <p:spPr>
          <a:xfrm>
            <a:off x="1628775" y="2064258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+0.19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0"/>
          <p:cNvSpPr txBox="1"/>
          <p:nvPr/>
        </p:nvSpPr>
        <p:spPr>
          <a:xfrm>
            <a:off x="2486025" y="1981962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+0.03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0"/>
          <p:cNvSpPr txBox="1"/>
          <p:nvPr/>
        </p:nvSpPr>
        <p:spPr>
          <a:xfrm>
            <a:off x="3343275" y="1577340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700"/>
              <a:buFont typeface="Courier New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+0.14 ★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0"/>
          <p:cNvSpPr/>
          <p:nvPr/>
        </p:nvSpPr>
        <p:spPr>
          <a:xfrm>
            <a:off x="3223260" y="1255014"/>
            <a:ext cx="1268700" cy="219600"/>
          </a:xfrm>
          <a:prstGeom prst="roundRect">
            <a:avLst>
              <a:gd fmla="val 28125" name="adj"/>
            </a:avLst>
          </a:prstGeom>
          <a:solidFill>
            <a:srgbClr val="A063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0"/>
          <p:cNvSpPr txBox="1"/>
          <p:nvPr/>
        </p:nvSpPr>
        <p:spPr>
          <a:xfrm>
            <a:off x="3223260" y="1255014"/>
            <a:ext cx="12687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Largest single-stage gain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0"/>
          <p:cNvSpPr txBox="1"/>
          <p:nvPr/>
        </p:nvSpPr>
        <p:spPr>
          <a:xfrm>
            <a:off x="8572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SMP Baseline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0"/>
          <p:cNvSpPr txBox="1"/>
          <p:nvPr/>
        </p:nvSpPr>
        <p:spPr>
          <a:xfrm>
            <a:off x="17145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Gathering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257175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Weakness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Filtering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3429000" y="3977640"/>
            <a:ext cx="85725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+ GT Attack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Decision-Making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0"/>
          <p:cNvSpPr txBox="1"/>
          <p:nvPr/>
        </p:nvSpPr>
        <p:spPr>
          <a:xfrm>
            <a:off x="571271" y="4306824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B7A"/>
              </a:buClr>
              <a:buSzPts val="700"/>
              <a:buFont typeface="Arial"/>
              <a:buNone/>
            </a:pPr>
            <a:r>
              <a:rPr b="0" i="1" lang="en" sz="700" u="none" cap="none" strike="noStrike">
                <a:solidFill>
                  <a:srgbClr val="6B6B7A"/>
                </a:solidFill>
                <a:latin typeface="Arial"/>
                <a:ea typeface="Arial"/>
                <a:cs typeface="Arial"/>
                <a:sym typeface="Arial"/>
              </a:rPr>
              <a:t>Source: PentestEval (Yang et al., 2025)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4857521" y="1714500"/>
            <a:ext cx="3714979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Arial"/>
              <a:buNone/>
            </a:pPr>
            <a:r>
              <a:rPr b="1" i="0" lang="en" sz="9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PENTESTEVAL  ·  12 REAL-WORLD SCENARIOS  ·  346 TASKS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 txBox="1"/>
          <p:nvPr/>
        </p:nvSpPr>
        <p:spPr>
          <a:xfrm>
            <a:off x="4857521" y="1906524"/>
            <a:ext cx="3714979" cy="480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Attack Decision-Making (ADM) is the single weakest stage — Spearman ρ = 0.25.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4857521" y="2482596"/>
            <a:ext cx="3714979" cy="685800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4857521" y="2482596"/>
            <a:ext cx="21260" cy="685800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4999482" y="2551176"/>
            <a:ext cx="3463290" cy="5623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Ground-truth ADM injection adds +0.14 on top of already-perfect weakness discovery. No existing system closes this gap.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4857521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8B1A1A"/>
                </a:solidFill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857521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ADM SPEARMAN ρ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0"/>
          <p:cNvSpPr txBox="1"/>
          <p:nvPr/>
        </p:nvSpPr>
        <p:spPr>
          <a:xfrm>
            <a:off x="6000750" y="3394710"/>
            <a:ext cx="1097280" cy="30861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800"/>
              <a:buFont typeface="Courier New"/>
              <a:buNone/>
            </a:pPr>
            <a:r>
              <a:rPr b="1" i="0" lang="en" sz="1800" u="none" cap="none" strike="noStrike">
                <a:solidFill>
                  <a:srgbClr val="2A6B3C"/>
                </a:solidFill>
                <a:latin typeface="Courier New"/>
                <a:ea typeface="Courier New"/>
                <a:cs typeface="Courier New"/>
                <a:sym typeface="Courier New"/>
              </a:rPr>
              <a:t>+0.14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6000750" y="3717036"/>
            <a:ext cx="13030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GT ADM GAIN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0"/>
          <p:cNvSpPr/>
          <p:nvPr/>
        </p:nvSpPr>
        <p:spPr>
          <a:xfrm>
            <a:off x="0" y="4886325"/>
            <a:ext cx="9143771" cy="7543"/>
          </a:xfrm>
          <a:prstGeom prst="rect">
            <a:avLst/>
          </a:prstGeom>
          <a:solidFill>
            <a:srgbClr val="D4CFC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7749540" y="4965192"/>
            <a:ext cx="822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Courier New"/>
                <a:ea typeface="Courier New"/>
                <a:cs typeface="Courier New"/>
                <a:sym typeface="Courier New"/>
              </a:rPr>
              <a:t>06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/>
          <p:nvPr/>
        </p:nvSpPr>
        <p:spPr>
          <a:xfrm>
            <a:off x="0" y="5122241"/>
            <a:ext cx="2285771" cy="2126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1"/>
          <p:cNvSpPr txBox="1"/>
          <p:nvPr/>
        </p:nvSpPr>
        <p:spPr>
          <a:xfrm>
            <a:off x="571515" y="285750"/>
            <a:ext cx="74296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Georgia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The Gap No System Has Closed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1"/>
          <p:cNvSpPr/>
          <p:nvPr/>
        </p:nvSpPr>
        <p:spPr>
          <a:xfrm>
            <a:off x="571515" y="735806"/>
            <a:ext cx="4086334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1"/>
          <p:cNvSpPr/>
          <p:nvPr/>
        </p:nvSpPr>
        <p:spPr>
          <a:xfrm>
            <a:off x="57151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1"/>
          <p:cNvSpPr/>
          <p:nvPr/>
        </p:nvSpPr>
        <p:spPr>
          <a:xfrm>
            <a:off x="571515" y="928688"/>
            <a:ext cx="3179053" cy="42863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1"/>
          <p:cNvSpPr txBox="1"/>
          <p:nvPr/>
        </p:nvSpPr>
        <p:spPr>
          <a:xfrm>
            <a:off x="85727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Wide Exploration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1"/>
          <p:cNvSpPr/>
          <p:nvPr/>
        </p:nvSpPr>
        <p:spPr>
          <a:xfrm>
            <a:off x="857273" y="1643063"/>
            <a:ext cx="428636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HPTSA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1"/>
          <p:cNvSpPr/>
          <p:nvPr/>
        </p:nvSpPr>
        <p:spPr>
          <a:xfrm>
            <a:off x="134306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VulnBot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1931721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T-Agent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/>
          <p:nvPr/>
        </p:nvSpPr>
        <p:spPr>
          <a:xfrm>
            <a:off x="2520382" y="1643063"/>
            <a:ext cx="531509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AutoGPT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4" name="Google Shape;294;p21"/>
          <p:cNvCxnSpPr/>
          <p:nvPr/>
        </p:nvCxnSpPr>
        <p:spPr>
          <a:xfrm>
            <a:off x="85727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5" name="Google Shape;295;p21"/>
          <p:cNvSpPr txBox="1"/>
          <p:nvPr/>
        </p:nvSpPr>
        <p:spPr>
          <a:xfrm>
            <a:off x="85727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Finds many candidate weaknesses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1"/>
          <p:cNvSpPr txBox="1"/>
          <p:nvPr/>
        </p:nvSpPr>
        <p:spPr>
          <a:xfrm>
            <a:off x="85727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prerequisite / dependency 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1"/>
          <p:cNvSpPr txBox="1"/>
          <p:nvPr/>
        </p:nvSpPr>
        <p:spPr>
          <a:xfrm>
            <a:off x="85727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Flat task dispatch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1"/>
          <p:cNvSpPr/>
          <p:nvPr/>
        </p:nvSpPr>
        <p:spPr>
          <a:xfrm>
            <a:off x="5393675" y="928688"/>
            <a:ext cx="3179053" cy="2707481"/>
          </a:xfrm>
          <a:prstGeom prst="roundRect">
            <a:avLst>
              <a:gd fmla="val 2026" name="adj"/>
            </a:avLst>
          </a:prstGeom>
          <a:solidFill>
            <a:srgbClr val="FFFFFF"/>
          </a:solidFill>
          <a:ln cap="flat" cmpd="sng" w="9525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5400000" dist="50800">
              <a:srgbClr val="000000">
                <a:alpha val="5882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5393675" y="928688"/>
            <a:ext cx="3179053" cy="42863"/>
          </a:xfrm>
          <a:prstGeom prst="rect">
            <a:avLst/>
          </a:prstGeom>
          <a:solidFill>
            <a:srgbClr val="2E4A7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1"/>
          <p:cNvSpPr txBox="1"/>
          <p:nvPr/>
        </p:nvSpPr>
        <p:spPr>
          <a:xfrm>
            <a:off x="5679433" y="1257300"/>
            <a:ext cx="260753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500"/>
              <a:buFont typeface="Georgia"/>
              <a:buNone/>
            </a:pPr>
            <a:r>
              <a:rPr b="1" i="0" lang="en" sz="1500" u="none" cap="none" strike="noStrike">
                <a:solidFill>
                  <a:srgbClr val="1A1A2E"/>
                </a:solidFill>
                <a:latin typeface="Georgia"/>
                <a:ea typeface="Georgia"/>
                <a:cs typeface="Georgia"/>
                <a:sym typeface="Georgia"/>
              </a:rPr>
              <a:t>Dependency Reasoning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1"/>
          <p:cNvSpPr/>
          <p:nvPr/>
        </p:nvSpPr>
        <p:spPr>
          <a:xfrm>
            <a:off x="5679433" y="1643063"/>
            <a:ext cx="634382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CHECKMATE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6370966" y="1643063"/>
            <a:ext cx="943000" cy="171450"/>
          </a:xfrm>
          <a:prstGeom prst="roundRect">
            <a:avLst>
              <a:gd fmla="val 24000" name="adj"/>
            </a:avLst>
          </a:prstGeom>
          <a:solidFill>
            <a:srgbClr val="F2EAD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600"/>
              <a:buFont typeface="Courier New"/>
              <a:buNone/>
            </a:pPr>
            <a:r>
              <a:rPr b="1" i="0" lang="en" sz="800" u="none" cap="none" strike="noStrike">
                <a:solidFill>
                  <a:srgbClr val="A0631A"/>
                </a:solidFill>
                <a:latin typeface="Courier New"/>
                <a:ea typeface="Courier New"/>
                <a:cs typeface="Courier New"/>
                <a:sym typeface="Courier New"/>
              </a:rPr>
              <a:t>PentestEval SMP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3" name="Google Shape;303;p21"/>
          <p:cNvCxnSpPr/>
          <p:nvPr/>
        </p:nvCxnSpPr>
        <p:spPr>
          <a:xfrm>
            <a:off x="5679433" y="1957388"/>
            <a:ext cx="2607538" cy="0"/>
          </a:xfrm>
          <a:prstGeom prst="straightConnector1">
            <a:avLst/>
          </a:prstGeom>
          <a:noFill/>
          <a:ln cap="flat" cmpd="sng" w="19050">
            <a:solidFill>
              <a:srgbClr val="E0DDD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4" name="Google Shape;304;p21"/>
          <p:cNvSpPr txBox="1"/>
          <p:nvPr/>
        </p:nvSpPr>
        <p:spPr>
          <a:xfrm>
            <a:off x="5679433" y="210026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A6B3C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2A6B3C"/>
                </a:solidFill>
                <a:latin typeface="Arial"/>
                <a:ea typeface="Arial"/>
                <a:cs typeface="Arial"/>
                <a:sym typeface="Arial"/>
              </a:rPr>
              <a:t>✓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Explicit prerequisite modeling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1"/>
          <p:cNvSpPr txBox="1"/>
          <p:nvPr/>
        </p:nvSpPr>
        <p:spPr>
          <a:xfrm>
            <a:off x="5679433" y="2357438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Requires pre-enumerated weakness sets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 txBox="1"/>
          <p:nvPr/>
        </p:nvSpPr>
        <p:spPr>
          <a:xfrm>
            <a:off x="5679433" y="2614613"/>
            <a:ext cx="2607538" cy="214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✗  </a:t>
            </a:r>
            <a:r>
              <a:rPr b="0" i="0" lang="en" sz="10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Does not scale to open-ended discovery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/>
          <p:nvPr/>
        </p:nvSpPr>
        <p:spPr>
          <a:xfrm>
            <a:off x="3750569" y="1460897"/>
            <a:ext cx="1643106" cy="1643063"/>
          </a:xfrm>
          <a:prstGeom prst="ellipse">
            <a:avLst/>
          </a:prstGeom>
          <a:solidFill>
            <a:srgbClr val="0A0A14"/>
          </a:solidFill>
          <a:ln cap="flat" cmpd="sng" w="101600">
            <a:solidFill>
              <a:srgbClr val="F7F4EF"/>
            </a:solidFill>
            <a:prstDash val="solid"/>
            <a:round/>
            <a:headEnd len="sm" w="sm" type="none"/>
            <a:tailEnd len="sm" w="sm" type="none"/>
          </a:ln>
          <a:effectLst>
            <a:outerShdw blurRad="304800" rotWithShape="0" algn="bl" dir="5400000" dist="101600">
              <a:srgbClr val="000000">
                <a:alpha val="200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1"/>
          <p:cNvSpPr txBox="1"/>
          <p:nvPr/>
        </p:nvSpPr>
        <p:spPr>
          <a:xfrm>
            <a:off x="3750569" y="1932385"/>
            <a:ext cx="16431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0631A"/>
              </a:buClr>
              <a:buSzPts val="500"/>
              <a:buFont typeface="Arial"/>
              <a:buNone/>
            </a:pPr>
            <a:r>
              <a:rPr b="1" i="0" lang="en" sz="700" u="none" cap="none" strike="noStrike">
                <a:solidFill>
                  <a:srgbClr val="A0631A"/>
                </a:solidFill>
                <a:latin typeface="Arial"/>
                <a:ea typeface="Arial"/>
                <a:cs typeface="Arial"/>
                <a:sym typeface="Arial"/>
              </a:rPr>
              <a:t>UNEXPLORED TERRITORY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1"/>
          <p:cNvSpPr txBox="1"/>
          <p:nvPr/>
        </p:nvSpPr>
        <p:spPr>
          <a:xfrm>
            <a:off x="3750569" y="2075260"/>
            <a:ext cx="1643106" cy="7858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COMPOUND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571515" y="3893344"/>
            <a:ext cx="8001213" cy="821531"/>
          </a:xfrm>
          <a:prstGeom prst="rect">
            <a:avLst/>
          </a:prstGeom>
          <a:solidFill>
            <a:srgbClr val="FDFDFD"/>
          </a:solidFill>
          <a:ln cap="flat" cmpd="sng" w="19050">
            <a:solidFill>
              <a:srgbClr val="8B1A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1"/>
          <p:cNvSpPr txBox="1"/>
          <p:nvPr/>
        </p:nvSpPr>
        <p:spPr>
          <a:xfrm>
            <a:off x="800121" y="3893344"/>
            <a:ext cx="7544001" cy="82153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000"/>
              <a:buFont typeface="Arial"/>
              <a:buNone/>
            </a:pP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No system combines </a:t>
            </a: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open-ended exploration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 with </a:t>
            </a:r>
            <a:r>
              <a:rPr b="1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dynamic dependency-aware planning</a:t>
            </a:r>
            <a:r>
              <a:rPr b="0" i="0" lang="en" sz="1200" u="none" cap="none" strike="noStrike">
                <a:solidFill>
                  <a:srgbClr val="1A1A2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1000"/>
              <a:buFont typeface="Arial"/>
              <a:buNone/>
            </a:pPr>
            <a:r>
              <a:rPr b="1" i="0" lang="en" sz="1200" u="none" cap="none" strike="noStrike">
                <a:solidFill>
                  <a:srgbClr val="8B1A1A"/>
                </a:solidFill>
                <a:latin typeface="Arial"/>
                <a:ea typeface="Arial"/>
                <a:cs typeface="Arial"/>
                <a:sym typeface="Arial"/>
              </a:rPr>
              <a:t>RedGrid investigates this exact combination.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2" name="Google Shape;312;p21"/>
          <p:cNvCxnSpPr/>
          <p:nvPr/>
        </p:nvCxnSpPr>
        <p:spPr>
          <a:xfrm>
            <a:off x="0" y="4886325"/>
            <a:ext cx="9144015" cy="0"/>
          </a:xfrm>
          <a:prstGeom prst="straightConnector1">
            <a:avLst/>
          </a:prstGeom>
          <a:noFill/>
          <a:ln cap="flat" cmpd="sng" w="12700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3" name="Google Shape;313;p21"/>
          <p:cNvSpPr txBox="1"/>
          <p:nvPr/>
        </p:nvSpPr>
        <p:spPr>
          <a:xfrm>
            <a:off x="7858334" y="5000625"/>
            <a:ext cx="71439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700"/>
              <a:buFont typeface="Courier New"/>
              <a:buNone/>
            </a:pPr>
            <a:r>
              <a:rPr b="0" i="0" lang="en" sz="700" u="none" cap="none" strike="noStrike">
                <a:solidFill>
                  <a:srgbClr val="9A9AAA"/>
                </a:solidFill>
                <a:latin typeface="Courier New"/>
                <a:ea typeface="Courier New"/>
                <a:cs typeface="Courier New"/>
                <a:sym typeface="Courier New"/>
              </a:rPr>
              <a:t>07 / 20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1"/>
          <p:cNvSpPr/>
          <p:nvPr/>
        </p:nvSpPr>
        <p:spPr>
          <a:xfrm>
            <a:off x="0" y="5122069"/>
            <a:ext cx="2743273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4EF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2"/>
          <p:cNvSpPr txBox="1"/>
          <p:nvPr/>
        </p:nvSpPr>
        <p:spPr>
          <a:xfrm>
            <a:off x="571500" y="314325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2400"/>
              <a:buFont typeface="Playfair Display"/>
              <a:buNone/>
            </a:pPr>
            <a:r>
              <a:rPr b="1" i="0" lang="en" sz="2400" u="none" cap="none" strike="noStrike">
                <a:solidFill>
                  <a:srgbClr val="1A1A2E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Prior System Comparison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2"/>
          <p:cNvSpPr/>
          <p:nvPr/>
        </p:nvSpPr>
        <p:spPr>
          <a:xfrm>
            <a:off x="571500" y="735806"/>
            <a:ext cx="4086225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2"/>
          <p:cNvSpPr txBox="1"/>
          <p:nvPr/>
        </p:nvSpPr>
        <p:spPr>
          <a:xfrm>
            <a:off x="571500" y="857250"/>
            <a:ext cx="742950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00"/>
              <a:buFont typeface="Source Sans 3"/>
              <a:buNone/>
            </a:pPr>
            <a:r>
              <a:rPr b="1" i="0" lang="en" sz="800" u="none" cap="none" strike="noStrike">
                <a:solidFill>
                  <a:srgbClr val="1A1A2E"/>
                </a:solidFill>
                <a:latin typeface="Source Sans 3"/>
                <a:ea typeface="Source Sans 3"/>
                <a:cs typeface="Source Sans 3"/>
                <a:sym typeface="Source Sans 3"/>
              </a:rPr>
              <a:t>FOUR DIMENSIONS THAT MATTER MOST  ·  PRELIMINARY 11-PAPER REVIEW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3" name="Google Shape;323;p22"/>
          <p:cNvGraphicFramePr/>
          <p:nvPr/>
        </p:nvGraphicFramePr>
        <p:xfrm>
          <a:off x="571500" y="1114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{D62E8C5F-F55A-4915-843A-152D3C9B0528}</a:tableStyleId>
              </a:tblPr>
              <a:tblGrid>
                <a:gridCol w="1200150"/>
                <a:gridCol w="1920225"/>
                <a:gridCol w="1760450"/>
                <a:gridCol w="1680200"/>
                <a:gridCol w="1440175"/>
              </a:tblGrid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SYSTEM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ARCHITECTURE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DEPENDENCY MODELING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CROSS-SESSION MEMORY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600"/>
                        <a:buFont typeface="Source Sans 3"/>
                        <a:buNone/>
                      </a:pPr>
                      <a:r>
                        <a:rPr b="1" lang="en" sz="6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BENCHMARK</a:t>
                      </a:r>
                      <a:endParaRPr sz="6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4DC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Fang et al. 2024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Single agent (ReAct)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15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HPTSA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Hierarchical planner + tasks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14 zero-day CVEs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PentestGPT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Split reasoning / parsing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Implicit (LLM only)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 / VulnHub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VulnBot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Multi-agent, role-specialised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Flat dispatch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HTB-style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CHECKMATE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Agent + classical planner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Explicit, pre-enumerated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Curated only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Incalmo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Multi-host orchestration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Partial (host/cred)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MHBench (40)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0EA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PrediQL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LLM-guided fuzzer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3A0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3A0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~ Schema-derived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E9D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1A1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5A1A1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✗ None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5D5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2E"/>
                        </a:buClr>
                        <a:buSzPts val="800"/>
                        <a:buFont typeface="Source Sans 3"/>
                        <a:buNone/>
                      </a:pPr>
                      <a:r>
                        <a:rPr lang="en" sz="800" u="none" cap="none" strike="noStrike">
                          <a:solidFill>
                            <a:srgbClr val="1A1A2E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6 GraphQL APIs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4EF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RedGrid (proposed)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25400">
                      <a:solidFill>
                        <a:srgbClr val="2E4A7A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4-layer multi-agent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Dynamic VDG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4A28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4A28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✓ 3-tier memory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6EDD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2E5A"/>
                        </a:buClr>
                        <a:buSzPts val="800"/>
                        <a:buFont typeface="Source Sans 3"/>
                        <a:buNone/>
                      </a:pPr>
                      <a:r>
                        <a:rPr b="1" lang="en" sz="800" u="none" cap="none" strike="noStrike">
                          <a:solidFill>
                            <a:srgbClr val="1A2E5A"/>
                          </a:solidFill>
                          <a:latin typeface="Source Sans 3"/>
                          <a:ea typeface="Source Sans 3"/>
                          <a:cs typeface="Source Sans 3"/>
                          <a:sym typeface="Source Sans 3"/>
                        </a:rPr>
                        <a:t>Web + GraphQL + Multi-host</a:t>
                      </a:r>
                      <a:endParaRPr sz="800" u="none" cap="none" strike="noStrike">
                        <a:latin typeface="Source Sans 3"/>
                        <a:ea typeface="Source Sans 3"/>
                        <a:cs typeface="Source Sans 3"/>
                        <a:sym typeface="Source Sans 3"/>
                      </a:endParaRPr>
                    </a:p>
                  </a:txBody>
                  <a:tcPr marT="34300" marB="34300" marR="68600" marL="68600" anchor="ctr">
                    <a:lnL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D4CF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324" name="Google Shape;324;p22"/>
          <p:cNvSpPr txBox="1"/>
          <p:nvPr/>
        </p:nvSpPr>
        <p:spPr>
          <a:xfrm>
            <a:off x="626364" y="4282821"/>
            <a:ext cx="74295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1A1A"/>
              </a:buClr>
              <a:buSzPts val="800"/>
              <a:buFont typeface="IBM Plex Mono"/>
              <a:buNone/>
            </a:pPr>
            <a:r>
              <a:rPr b="1" i="0" lang="en" sz="800" u="none" cap="none" strike="noStrike">
                <a:solidFill>
                  <a:srgbClr val="8B1A1A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PRELIMINARY READING — 11-PAPER FOCUSED REVIEW, SEPTEMBER 2026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5" name="Google Shape;325;p22"/>
          <p:cNvCxnSpPr/>
          <p:nvPr/>
        </p:nvCxnSpPr>
        <p:spPr>
          <a:xfrm>
            <a:off x="0" y="4886325"/>
            <a:ext cx="9143771" cy="0"/>
          </a:xfrm>
          <a:prstGeom prst="straightConnector1">
            <a:avLst/>
          </a:prstGeom>
          <a:noFill/>
          <a:ln cap="flat" cmpd="sng" w="9525">
            <a:solidFill>
              <a:srgbClr val="D4CFC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6" name="Google Shape;326;p22"/>
          <p:cNvSpPr txBox="1"/>
          <p:nvPr/>
        </p:nvSpPr>
        <p:spPr>
          <a:xfrm>
            <a:off x="7886471" y="4957763"/>
            <a:ext cx="6858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9AAA"/>
              </a:buClr>
              <a:buSzPts val="800"/>
              <a:buFont typeface="IBM Plex Mono"/>
              <a:buNone/>
            </a:pPr>
            <a:r>
              <a:rPr b="0" i="0" lang="en" sz="800" u="none" cap="none" strike="noStrike">
                <a:solidFill>
                  <a:srgbClr val="9A9AAA"/>
                </a:solidFill>
                <a:latin typeface="IBM Plex Mono"/>
                <a:ea typeface="IBM Plex Mono"/>
                <a:cs typeface="IBM Plex Mono"/>
                <a:sym typeface="IBM Plex Mono"/>
              </a:rPr>
              <a:t>08 / 20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2"/>
          <p:cNvSpPr/>
          <p:nvPr/>
        </p:nvSpPr>
        <p:spPr>
          <a:xfrm>
            <a:off x="0" y="5122069"/>
            <a:ext cx="3200320" cy="21431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