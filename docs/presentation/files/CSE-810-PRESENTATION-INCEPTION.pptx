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Playfair Display"/>
      <p:regular r:id="rId23"/>
      <p:bold r:id="rId24"/>
      <p:italic r:id="rId25"/>
      <p:boldItalic r:id="rId26"/>
    </p:embeddedFont>
    <p:embeddedFont>
      <p:font typeface="Source Sans 3"/>
      <p:regular r:id="rId27"/>
      <p:bold r:id="rId28"/>
      <p:italic r:id="rId29"/>
      <p:boldItalic r:id="rId30"/>
    </p:embeddedFont>
    <p:embeddedFont>
      <p:font typeface="IBM Plex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C997F3-B552-403A-BB00-0357DBA40DC2}">
  <a:tblStyle styleId="{25C997F3-B552-403A-BB00-0357DBA40D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SourceSans3-bold.fntdata"/><Relationship Id="rId27" Type="http://schemas.openxmlformats.org/officeDocument/2006/relationships/font" Target="fonts/SourceSans3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urceSans3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Mono-regular.fntdata"/><Relationship Id="rId30" Type="http://schemas.openxmlformats.org/officeDocument/2006/relationships/font" Target="fonts/SourceSans3-boldItalic.fntdata"/><Relationship Id="rId11" Type="http://schemas.openxmlformats.org/officeDocument/2006/relationships/slide" Target="slides/slide4.xml"/><Relationship Id="rId33" Type="http://schemas.openxmlformats.org/officeDocument/2006/relationships/font" Target="fonts/IBMPlexMono-italic.fntdata"/><Relationship Id="rId10" Type="http://schemas.openxmlformats.org/officeDocument/2006/relationships/slide" Target="slides/slide3.xml"/><Relationship Id="rId32" Type="http://schemas.openxmlformats.org/officeDocument/2006/relationships/font" Target="fonts/IBMPlexMono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IBMPlexMono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fbdecd61_20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9fbdecd61_20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9fbdecd61_20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9fbdecd61_1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9fbdecd61_1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9fbdecd61_1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fbdecd61_7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fbdecd61_7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9fbdecd61_7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fbdecd61_29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f9fbdecd61_29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9fbdecd61_29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fbdecd61_45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9fbdecd61_45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9fbdecd61_45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9fbdecd61_49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9fbdecd61_49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9fbdecd61_49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9fbdecd61_53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f9fbdecd61_53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9fbdecd61_53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9fbdecd61_6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f9fbdecd61_6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9fbdecd61_6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9fbdecd61_7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f9fbdecd61_7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9fbdecd61_7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fbdecd61_89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f9fbdecd61_89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9fbdecd61_89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9fbdecd61_94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f9fbdecd61_94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9fbdecd61_94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9fbdecd61_98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f9fbdecd61_98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9fbdecd61_98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9fbdecd61_116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f9fbdecd61_116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f9fbdecd61_116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9fbdecd61_13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f9fbdecd61_13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9fbdecd61_13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9fbdecd61_14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f9fbdecd61_14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f9fbdecd61_14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-university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285750"/>
            <a:ext cx="289627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/>
        </p:nvSpPr>
        <p:spPr>
          <a:xfrm>
            <a:off x="57150" y="571500"/>
            <a:ext cx="9086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6B6B7A"/>
                </a:solidFill>
                <a:latin typeface="Calibri"/>
                <a:ea typeface="Calibri"/>
                <a:cs typeface="Calibri"/>
                <a:sym typeface="Calibri"/>
              </a:rPr>
              <a:t>PROFESSIONAL MASTERS IN INFORMATION AND CYBER SECURITY (PMICS)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57150" y="742950"/>
            <a:ext cx="9086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2E4A7A"/>
                </a:solidFill>
                <a:latin typeface="Courier New"/>
                <a:ea typeface="Courier New"/>
                <a:cs typeface="Courier New"/>
                <a:sym typeface="Courier New"/>
              </a:rPr>
              <a:t>PROJECT ON CYBER SECURITY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464719" y="928688"/>
            <a:ext cx="2214563" cy="185738"/>
          </a:xfrm>
          <a:prstGeom prst="roundRect">
            <a:avLst>
              <a:gd fmla="val 14769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/>
        </p:nvSpPr>
        <p:spPr>
          <a:xfrm>
            <a:off x="3464719" y="928688"/>
            <a:ext cx="22145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F1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7A4F1A"/>
                </a:solidFill>
                <a:latin typeface="Calibri"/>
                <a:ea typeface="Calibri"/>
                <a:cs typeface="Calibri"/>
                <a:sym typeface="Calibri"/>
              </a:rPr>
              <a:t>INCEPTION STAGE  ·  SEPTEMBER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57150" y="1314450"/>
            <a:ext cx="90868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4500"/>
              <a:buFont typeface="Cambria"/>
              <a:buNone/>
            </a:pPr>
            <a:r>
              <a:rPr b="1" i="0" lang="en" sz="45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RedGrid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3286125" y="2014538"/>
            <a:ext cx="2571750" cy="0"/>
          </a:xfrm>
          <a:prstGeom prst="straightConnector1">
            <a:avLst/>
          </a:prstGeom>
          <a:noFill/>
          <a:ln cap="flat" cmpd="sng" w="1905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/>
        </p:nvSpPr>
        <p:spPr>
          <a:xfrm>
            <a:off x="285750" y="2114550"/>
            <a:ext cx="8572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Dependency-Constrained UCB Exploration for Autonomous Penetration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7150" y="2728913"/>
            <a:ext cx="90868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9A9AAA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3000375" y="29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{25C997F3-B552-403A-BB00-0357DBA40DC2}</a:tableStyleId>
              </a:tblPr>
              <a:tblGrid>
                <a:gridCol w="1571625"/>
                <a:gridCol w="785800"/>
                <a:gridCol w="785800"/>
              </a:tblGrid>
              <a:tr h="17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9AA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9A9AAA"/>
                          </a:solidFill>
                        </a:rPr>
                        <a:t>Name</a:t>
                      </a:r>
                      <a:endParaRPr sz="7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9AA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9A9AAA"/>
                          </a:solidFill>
                        </a:rPr>
                        <a:t>Class Roll</a:t>
                      </a:r>
                      <a:endParaRPr sz="7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9AA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9A9AAA"/>
                          </a:solidFill>
                        </a:rPr>
                        <a:t>Reg No</a:t>
                      </a:r>
                      <a:endParaRPr sz="7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8B1A1A"/>
                          </a:solidFill>
                        </a:rPr>
                        <a:t>Nishan Paul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2E"/>
                          </a:solidFill>
                        </a:rPr>
                        <a:t>50028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2E"/>
                          </a:solidFill>
                        </a:rPr>
                        <a:t>H-55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8B1A1A"/>
                          </a:solidFill>
                        </a:rPr>
                        <a:t>Md Rakibur Rahman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2E"/>
                          </a:solidFill>
                        </a:rPr>
                        <a:t>50040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2E"/>
                          </a:solidFill>
                        </a:rPr>
                        <a:t>H-49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" name="Google Shape;68;p15"/>
          <p:cNvSpPr/>
          <p:nvPr/>
        </p:nvSpPr>
        <p:spPr>
          <a:xfrm>
            <a:off x="3286125" y="3836194"/>
            <a:ext cx="2571750" cy="1143000"/>
          </a:xfrm>
          <a:prstGeom prst="rect">
            <a:avLst/>
          </a:prstGeom>
          <a:solidFill>
            <a:srgbClr val="EFEBE3"/>
          </a:solidFill>
          <a:ln>
            <a:noFill/>
          </a:ln>
          <a:effectLst>
            <a:outerShdw blurRad="76200" rotWithShape="0" algn="bl" dir="5400000" dist="381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286125" y="3836194"/>
            <a:ext cx="2571750" cy="2143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286125" y="3979069"/>
            <a:ext cx="257175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286125" y="4164806"/>
            <a:ext cx="2571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Dr. Md. Abdur Razzaque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86125" y="4393406"/>
            <a:ext cx="2571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Professor and Chair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286125" y="4550569"/>
            <a:ext cx="2571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286125" y="4693444"/>
            <a:ext cx="257175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UNIVERSITY OF DHAKA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571500" y="428625"/>
            <a:ext cx="8001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This Matters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71500" y="878681"/>
            <a:ext cx="440055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71500" y="1089422"/>
            <a:ext cx="464058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9A9AA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MOTIVATION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71500" y="1375172"/>
            <a:ext cx="4640580" cy="957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Playfair Display"/>
              <a:buNone/>
            </a:pPr>
            <a:r>
              <a:rPr b="0" i="1" lang="en" sz="18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“Attackers move fast. Defenders move slow. Automated testers don’t move at all.”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71500" y="2503885"/>
            <a:ext cx="46405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Security vulnerabilities are found daily in web apps, APIs, and networks. Human pen testers are scarce and expensive. Automated scanners use fixed rule-sets — they cannot reason, adapt, or chain exploits.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71500" y="3589735"/>
            <a:ext cx="4640580" cy="1007269"/>
          </a:xfrm>
          <a:prstGeom prst="rect">
            <a:avLst/>
          </a:prstGeom>
          <a:solidFill>
            <a:srgbClr val="F2EAD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71500" y="3589735"/>
            <a:ext cx="28575" cy="1007269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71525" y="3732610"/>
            <a:ext cx="42405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F1A"/>
              </a:buClr>
              <a:buSzPts val="1000"/>
              <a:buFont typeface="Source Sans 3"/>
              <a:buNone/>
            </a:pPr>
            <a:r>
              <a:rPr b="1" i="0" lang="en" sz="1000" u="none" cap="none" strike="noStrike">
                <a:solidFill>
                  <a:srgbClr val="7A4F1A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question: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771525" y="3904060"/>
            <a:ext cx="4240530" cy="607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an LLM agent carry out penetration testing autonomously — without step-by-step human direction?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.png"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7830" y="1439466"/>
            <a:ext cx="307467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5497830" y="1439466"/>
            <a:ext cx="3074670" cy="2571750"/>
          </a:xfrm>
          <a:prstGeom prst="roundRect">
            <a:avLst>
              <a:gd fmla="val 1111" name="adj"/>
            </a:avLst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5497830" y="4125516"/>
            <a:ext cx="3074670" cy="12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9A9AAA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 SURFACE EXPLORATION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6"/>
          <p:cNvSpPr txBox="1"/>
          <p:nvPr/>
        </p:nvSpPr>
        <p:spPr>
          <a:xfrm>
            <a:off x="7715250" y="4957763"/>
            <a:ext cx="8572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0" y="5122069"/>
            <a:ext cx="4572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571271" y="226314"/>
            <a:ext cx="4457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Playfair Display"/>
              <a:buNone/>
            </a:pPr>
            <a:r>
              <a:rPr b="1" i="0" lang="en" sz="2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We Surveyed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71271" y="589788"/>
            <a:ext cx="2331720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571478" y="700065"/>
            <a:ext cx="200048" cy="200047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571478" y="700065"/>
            <a:ext cx="200048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859513" y="700065"/>
            <a:ext cx="150876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2E4A7A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 SYSTEMS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217670" y="700065"/>
            <a:ext cx="102870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8 PAPERS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7"/>
          <p:cNvCxnSpPr/>
          <p:nvPr/>
        </p:nvCxnSpPr>
        <p:spPr>
          <a:xfrm>
            <a:off x="571477" y="988101"/>
            <a:ext cx="4674892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5532142" y="700065"/>
            <a:ext cx="0" cy="4071938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571478" y="1042965"/>
            <a:ext cx="228371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799849" y="1042965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Fang 2024a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799849" y="1276030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Fang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157047" y="1042965"/>
            <a:ext cx="30893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GPT-4 successfully exploits real web vulnerabilities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71478" y="1509095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99849" y="1509095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Fang 2024b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799849" y="1742159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Fang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157047" y="1509095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GPT-4 exploits one-day CVEs at 87% success with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571477" y="1509095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7"/>
          <p:cNvSpPr txBox="1"/>
          <p:nvPr/>
        </p:nvSpPr>
        <p:spPr>
          <a:xfrm>
            <a:off x="571478" y="1975224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799849" y="1975224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HPTSA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799849" y="2208289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Zhu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157047" y="1975224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Hierarchical multi-agent system for zero-day CVEs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>
            <a:off x="571477" y="1975224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7"/>
          <p:cNvSpPr txBox="1"/>
          <p:nvPr/>
        </p:nvSpPr>
        <p:spPr>
          <a:xfrm>
            <a:off x="571478" y="2441353"/>
            <a:ext cx="228371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799849" y="2441354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PentestGPT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799849" y="2674418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Deng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2157047" y="2441353"/>
            <a:ext cx="30893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Context loss is the dominant failure in long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>
            <a:off x="571477" y="2441354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17"/>
          <p:cNvSpPr txBox="1"/>
          <p:nvPr/>
        </p:nvSpPr>
        <p:spPr>
          <a:xfrm>
            <a:off x="571478" y="2907484"/>
            <a:ext cx="228371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799849" y="2907484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VulnBot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99849" y="3140549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Kong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2157047" y="2907484"/>
            <a:ext cx="30893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Role-specialised multi-agent dispatch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>
            <a:off x="571477" y="2907484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7"/>
          <p:cNvSpPr txBox="1"/>
          <p:nvPr/>
        </p:nvSpPr>
        <p:spPr>
          <a:xfrm>
            <a:off x="571478" y="3373613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799849" y="3373613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CHECKMATE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99849" y="3606678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Wang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157047" y="3373613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Classical planning integrated with LLM agent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7"/>
          <p:cNvCxnSpPr/>
          <p:nvPr/>
        </p:nvCxnSpPr>
        <p:spPr>
          <a:xfrm>
            <a:off x="571477" y="3373613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7"/>
          <p:cNvSpPr txBox="1"/>
          <p:nvPr/>
        </p:nvSpPr>
        <p:spPr>
          <a:xfrm>
            <a:off x="571478" y="3839743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99849" y="3839743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Incalmo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799849" y="4072808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Singer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2157047" y="3839743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Multi-host orchestration across Active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7"/>
          <p:cNvCxnSpPr/>
          <p:nvPr/>
        </p:nvCxnSpPr>
        <p:spPr>
          <a:xfrm>
            <a:off x="571477" y="3839743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7"/>
          <p:cNvSpPr txBox="1"/>
          <p:nvPr/>
        </p:nvSpPr>
        <p:spPr>
          <a:xfrm>
            <a:off x="571478" y="4305872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99849" y="4305872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99849" y="4538937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Liu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157047" y="4305872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Schema-aware LLM fuzzer for GraphQL APIs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7"/>
          <p:cNvCxnSpPr/>
          <p:nvPr/>
        </p:nvCxnSpPr>
        <p:spPr>
          <a:xfrm>
            <a:off x="571477" y="4305872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7"/>
          <p:cNvSpPr/>
          <p:nvPr/>
        </p:nvSpPr>
        <p:spPr>
          <a:xfrm>
            <a:off x="5817848" y="700065"/>
            <a:ext cx="200047" cy="200047"/>
          </a:xfrm>
          <a:prstGeom prst="ellipse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817848" y="700065"/>
            <a:ext cx="200047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105883" y="700065"/>
            <a:ext cx="150876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BENCHMARKS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543800" y="700065"/>
            <a:ext cx="102870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2 PAPERS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7"/>
          <p:cNvCxnSpPr/>
          <p:nvPr/>
        </p:nvCxnSpPr>
        <p:spPr>
          <a:xfrm>
            <a:off x="5817848" y="988101"/>
            <a:ext cx="2754652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7"/>
          <p:cNvSpPr txBox="1"/>
          <p:nvPr/>
        </p:nvSpPr>
        <p:spPr>
          <a:xfrm>
            <a:off x="5817848" y="1042965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11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CVE-Bench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817848" y="1265850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Zhu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175045" y="1042965"/>
            <a:ext cx="1397455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40 critical web CVEs with oracle-backed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817848" y="1488735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11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PentestEval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817848" y="1711620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Yang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175045" y="1488735"/>
            <a:ext cx="1397455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Stage-level breakdown of pipeline failure modes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17"/>
          <p:cNvCxnSpPr/>
          <p:nvPr/>
        </p:nvCxnSpPr>
        <p:spPr>
          <a:xfrm>
            <a:off x="5817848" y="1488735"/>
            <a:ext cx="275465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7"/>
          <p:cNvSpPr/>
          <p:nvPr/>
        </p:nvSpPr>
        <p:spPr>
          <a:xfrm>
            <a:off x="5817848" y="2048828"/>
            <a:ext cx="200047" cy="200047"/>
          </a:xfrm>
          <a:prstGeom prst="ellipse">
            <a:avLst/>
          </a:prstGeom>
          <a:solidFill>
            <a:srgbClr val="4A7A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817848" y="2048828"/>
            <a:ext cx="200047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105883" y="2048828"/>
            <a:ext cx="150876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5E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4A7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SURVEYS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543800" y="2048828"/>
            <a:ext cx="102870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1 PAPER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7"/>
          <p:cNvCxnSpPr/>
          <p:nvPr/>
        </p:nvCxnSpPr>
        <p:spPr>
          <a:xfrm>
            <a:off x="5817848" y="2336864"/>
            <a:ext cx="2754652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7"/>
          <p:cNvSpPr txBox="1"/>
          <p:nvPr/>
        </p:nvSpPr>
        <p:spPr>
          <a:xfrm>
            <a:off x="5817848" y="2391728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5E"/>
              </a:buClr>
              <a:buSzPts val="1100"/>
              <a:buFont typeface="IBM Plex Mono"/>
              <a:buNone/>
            </a:pPr>
            <a:r>
              <a:rPr b="1" i="0" lang="en" sz="1100" u="none" cap="none" strike="noStrike">
                <a:solidFill>
                  <a:srgbClr val="4A7A5E"/>
                </a:solidFill>
                <a:latin typeface="IBM Plex Mono"/>
                <a:ea typeface="IBM Plex Mono"/>
                <a:cs typeface="IBM Plex Mono"/>
                <a:sym typeface="IBM Plex Mono"/>
              </a:rPr>
              <a:t>Wang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817848" y="2614613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Wang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175045" y="2391728"/>
            <a:ext cx="1397455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General survey of LLM-based agent architectures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817923" y="3606663"/>
            <a:ext cx="2754600" cy="106290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817923" y="3606663"/>
            <a:ext cx="2754600" cy="309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989373" y="3709532"/>
            <a:ext cx="2411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600"/>
              <a:buFont typeface="Source Sans 3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TAKEAWAY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989375" y="3884438"/>
            <a:ext cx="2411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Playfair Display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 Agent Systems · 2 Benchmarks · 1 Survey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989373" y="4100439"/>
            <a:ext cx="2411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Benchmarks serve as the primary source for failure-mode analysis and motivate the research gap.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7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7"/>
          <p:cNvSpPr txBox="1"/>
          <p:nvPr/>
        </p:nvSpPr>
        <p:spPr>
          <a:xfrm>
            <a:off x="7543800" y="490347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0" y="5122241"/>
            <a:ext cx="914378" cy="212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/>
        </p:nvSpPr>
        <p:spPr>
          <a:xfrm>
            <a:off x="571500" y="285750"/>
            <a:ext cx="7429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the Literature Agrees 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71500" y="742950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1371600" y="928688"/>
            <a:ext cx="6400800" cy="871538"/>
          </a:xfrm>
          <a:prstGeom prst="roundRect">
            <a:avLst>
              <a:gd fmla="val 2459" name="adj"/>
            </a:avLst>
          </a:prstGeom>
          <a:solidFill>
            <a:srgbClr val="EDE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1371600" y="928688"/>
            <a:ext cx="21431" cy="87153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543050" y="1071563"/>
            <a:ext cx="60579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Playfair Display"/>
              <a:buNone/>
            </a:pPr>
            <a:r>
              <a:rPr b="0" i="1" lang="en" sz="17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"Architecture, not model scale, is the dominant variable."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1751647" y="1443038"/>
            <a:ext cx="109453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9A9AAA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ACROSS: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917622" y="1428750"/>
            <a:ext cx="633679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2917622" y="1428750"/>
            <a:ext cx="63367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VulnBot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622739" y="1428750"/>
            <a:ext cx="822960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3622739" y="1428750"/>
            <a:ext cx="82296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PentestGPT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517136" y="1428750"/>
            <a:ext cx="759866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517136" y="1428750"/>
            <a:ext cx="75986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CHECKMATE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348440" y="1428750"/>
            <a:ext cx="633679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348440" y="1428750"/>
            <a:ext cx="63367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Incalmo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053557" y="1428750"/>
            <a:ext cx="507492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053557" y="1428750"/>
            <a:ext cx="507492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HPTSA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632486" y="1428750"/>
            <a:ext cx="759866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632486" y="1428750"/>
            <a:ext cx="75986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Fang 2024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18"/>
          <p:cNvGraphicFramePr/>
          <p:nvPr/>
        </p:nvGraphicFramePr>
        <p:xfrm>
          <a:off x="571500" y="201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{25C997F3-B552-403A-BB00-0357DBA40DC2}</a:tableStyleId>
              </a:tblPr>
              <a:tblGrid>
                <a:gridCol w="4000500"/>
                <a:gridCol w="4000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300"/>
                        <a:buFont typeface="Source Sans 3"/>
                        <a:buNone/>
                      </a:pPr>
                      <a:r>
                        <a:rPr b="1" lang="en" sz="13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Unstructured ReAct + GPT-4</a:t>
                      </a:r>
                      <a:endParaRPr sz="13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300"/>
                        <a:buFont typeface="Source Sans 3"/>
                        <a:buNone/>
                      </a:pPr>
                      <a:r>
                        <a:rPr b="1" lang="en" sz="13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Structured Pipeline + GPT-4o-mini</a:t>
                      </a:r>
                      <a:endParaRPr sz="13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Depth-first tunnel vision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Broad, structured exploration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Context loss in long sessions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Scoped per-invocation context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No failure recovery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Retry / adapt / escalate loops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Implicit planning only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Explicit dependency modeling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18"/>
          <p:cNvSpPr txBox="1"/>
          <p:nvPr/>
        </p:nvSpPr>
        <p:spPr>
          <a:xfrm>
            <a:off x="571500" y="4443413"/>
            <a:ext cx="800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Synthesised from 6 independent papers   |   September 2026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8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8"/>
          <p:cNvSpPr txBox="1"/>
          <p:nvPr/>
        </p:nvSpPr>
        <p:spPr>
          <a:xfrm>
            <a:off x="8001000" y="5000625"/>
            <a:ext cx="8572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0" y="5122069"/>
            <a:ext cx="13716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/>
        </p:nvSpPr>
        <p:spPr>
          <a:xfrm>
            <a:off x="571286" y="314096"/>
            <a:ext cx="742946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Failure Mode 1 — Insufficient Exploration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71286" y="700202"/>
            <a:ext cx="4086105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71286" y="1527277"/>
            <a:ext cx="38577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alibri"/>
              <a:buNone/>
            </a:pPr>
            <a:r>
              <a:rPr b="1" i="0" lang="en" sz="1000" u="none" cap="none" strike="noStrike">
                <a:solidFill>
                  <a:srgbClr val="A0631A"/>
                </a:solidFill>
                <a:latin typeface="Calibri"/>
                <a:ea typeface="Calibri"/>
                <a:cs typeface="Calibri"/>
                <a:sym typeface="Calibri"/>
              </a:rPr>
              <a:t>CVE-BENCH  ·  40 CRITICAL WEB CVEs  ·  CVSS 9.0+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71286" y="1793024"/>
            <a:ext cx="3857728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Even the best agent exploits only 13% (one-day) or 10% (zero-day).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1286" y="2333092"/>
            <a:ext cx="21300" cy="8229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92550" y="2333100"/>
            <a:ext cx="3763500" cy="8229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07075" y="2333100"/>
            <a:ext cx="3648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dominant failure is not reasoning quality — it</a:t>
            </a:r>
            <a:r>
              <a:rPr lang="en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 breadth of search. Agents commit early to a narrow attack path and never revisit.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571268" y="3270914"/>
            <a:ext cx="374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Range: </a:t>
            </a:r>
            <a:r>
              <a:rPr b="0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37.5% </a:t>
            </a:r>
            <a:r>
              <a:rPr b="0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80% exploration failure rates across all agents tested.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571268" y="3729714"/>
            <a:ext cx="374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Root cause: </a:t>
            </a:r>
            <a:r>
              <a:rPr b="0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 a smarter-model problem — it's a search problem.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840505" y="1359667"/>
            <a:ext cx="373222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Exploration Failure Rate by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9"/>
          <p:cNvCxnSpPr/>
          <p:nvPr/>
        </p:nvCxnSpPr>
        <p:spPr>
          <a:xfrm>
            <a:off x="4634760" y="1736857"/>
            <a:ext cx="0" cy="2285771"/>
          </a:xfrm>
          <a:prstGeom prst="straightConnector1">
            <a:avLst/>
          </a:prstGeom>
          <a:noFill/>
          <a:ln cap="flat" cmpd="sng" w="1395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9"/>
          <p:cNvCxnSpPr/>
          <p:nvPr/>
        </p:nvCxnSpPr>
        <p:spPr>
          <a:xfrm>
            <a:off x="7206681" y="1736857"/>
            <a:ext cx="0" cy="2285771"/>
          </a:xfrm>
          <a:prstGeom prst="straightConnector1">
            <a:avLst/>
          </a:prstGeom>
          <a:noFill/>
          <a:ln cap="flat" cmpd="sng" w="12700">
            <a:solidFill>
              <a:srgbClr val="A0631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0" name="Google Shape;220;p19"/>
          <p:cNvSpPr txBox="1"/>
          <p:nvPr/>
        </p:nvSpPr>
        <p:spPr>
          <a:xfrm>
            <a:off x="7234114" y="1585981"/>
            <a:ext cx="8915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Calibri"/>
              <a:buNone/>
            </a:pPr>
            <a:r>
              <a:rPr b="0" i="0" lang="en" sz="800" u="none" cap="none" strike="noStrike">
                <a:solidFill>
                  <a:srgbClr val="A0631A"/>
                </a:solidFill>
                <a:latin typeface="Calibri"/>
                <a:ea typeface="Calibri"/>
                <a:cs typeface="Calibri"/>
                <a:sym typeface="Calibri"/>
              </a:rPr>
              <a:t>50% threshold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4840505" y="1736857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T-Agent (0-day)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840634" y="1786921"/>
            <a:ext cx="2185675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094892" y="1736857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80.0%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4840505" y="2142645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AutoGPT (0-day)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5840634" y="2192708"/>
            <a:ext cx="1980768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889985" y="2142645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72.5%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4840505" y="2548432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Cy-Agent (0-day)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840634" y="2598497"/>
            <a:ext cx="1844163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7753380" y="2548432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67.5%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840505" y="2954221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T-Agent (1-day)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840634" y="3004284"/>
            <a:ext cx="1502652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7411868" y="2954221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55.0%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4840505" y="3360008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AutoGPT (1-day)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840634" y="3410072"/>
            <a:ext cx="1229443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7138659" y="3360008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45.0%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840505" y="3765797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Cy-Agent (1-day)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5840634" y="3815860"/>
            <a:ext cx="1024536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933751" y="3765797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37.5%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4840505" y="4136951"/>
            <a:ext cx="37322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6B6B7A"/>
                </a:solidFill>
                <a:latin typeface="Calibri"/>
                <a:ea typeface="Calibri"/>
                <a:cs typeface="Calibri"/>
                <a:sym typeface="Calibri"/>
              </a:rPr>
              <a:t>Source: CVE-Bench (Zhu et al., 2025), Table 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9"/>
          <p:cNvCxnSpPr/>
          <p:nvPr/>
        </p:nvCxnSpPr>
        <p:spPr>
          <a:xfrm>
            <a:off x="0" y="4886325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9"/>
          <p:cNvSpPr txBox="1"/>
          <p:nvPr/>
        </p:nvSpPr>
        <p:spPr>
          <a:xfrm>
            <a:off x="7201092" y="4937760"/>
            <a:ext cx="125710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05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0" y="5122069"/>
            <a:ext cx="1829078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/>
        </p:nvSpPr>
        <p:spPr>
          <a:xfrm>
            <a:off x="571271" y="314096"/>
            <a:ext cx="742927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Failure Mode 2 — The Dependency-Reasoning Gap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71271" y="678942"/>
            <a:ext cx="4085996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572229" y="886054"/>
            <a:ext cx="10287" cy="3828821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571271" y="886054"/>
            <a:ext cx="37149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PENTESTEVAL GT INJECTION ABLATION — TASK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785927" y="1383259"/>
            <a:ext cx="8230" cy="2285771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342900" y="1321537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342900" y="1892808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0.60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342900" y="2464079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0.40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42900" y="3036037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42900" y="3607308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0.00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857250" y="3669030"/>
            <a:ext cx="3429000" cy="8230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1007441" y="2782976"/>
            <a:ext cx="557213" cy="88605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1864690" y="2239823"/>
            <a:ext cx="557213" cy="54315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2721941" y="2154784"/>
            <a:ext cx="557213" cy="85725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3579191" y="1754276"/>
            <a:ext cx="557213" cy="399821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20"/>
          <p:cNvCxnSpPr/>
          <p:nvPr/>
        </p:nvCxnSpPr>
        <p:spPr>
          <a:xfrm>
            <a:off x="1285875" y="2783663"/>
            <a:ext cx="85725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4" name="Google Shape;264;p20"/>
          <p:cNvCxnSpPr/>
          <p:nvPr/>
        </p:nvCxnSpPr>
        <p:spPr>
          <a:xfrm>
            <a:off x="2143125" y="2240509"/>
            <a:ext cx="85725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5" name="Google Shape;265;p20"/>
          <p:cNvCxnSpPr/>
          <p:nvPr/>
        </p:nvCxnSpPr>
        <p:spPr>
          <a:xfrm>
            <a:off x="3000375" y="2154784"/>
            <a:ext cx="85725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6" name="Google Shape;266;p20"/>
          <p:cNvSpPr txBox="1"/>
          <p:nvPr/>
        </p:nvSpPr>
        <p:spPr>
          <a:xfrm>
            <a:off x="771525" y="2606040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Baseline (0.31)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1628775" y="2064258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2A6B3C"/>
                </a:solidFill>
                <a:latin typeface="Courier New"/>
                <a:ea typeface="Courier New"/>
                <a:cs typeface="Courier New"/>
                <a:sym typeface="Courier New"/>
              </a:rPr>
              <a:t>+0.19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486025" y="1981962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2A6B3C"/>
                </a:solidFill>
                <a:latin typeface="Courier New"/>
                <a:ea typeface="Courier New"/>
                <a:cs typeface="Courier New"/>
                <a:sym typeface="Courier New"/>
              </a:rPr>
              <a:t>+0.03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3343275" y="1577340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+0.14 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223260" y="1255014"/>
            <a:ext cx="1268700" cy="219600"/>
          </a:xfrm>
          <a:prstGeom prst="roundRect">
            <a:avLst>
              <a:gd fmla="val 28125" name="adj"/>
            </a:avLst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3223260" y="1255014"/>
            <a:ext cx="126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Largest single-stage gain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85725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SMP Baseline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171450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 GT Weakness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Gathering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257175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 GT Weakness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342900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 GT Attack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71271" y="4306824"/>
            <a:ext cx="371497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700"/>
              <a:buFont typeface="Arial"/>
              <a:buNone/>
            </a:pPr>
            <a:r>
              <a:rPr b="0" i="1" lang="en" sz="700" u="none" cap="none" strike="noStrike">
                <a:solidFill>
                  <a:srgbClr val="6B6B7A"/>
                </a:solidFill>
                <a:latin typeface="Arial"/>
                <a:ea typeface="Arial"/>
                <a:cs typeface="Arial"/>
                <a:sym typeface="Arial"/>
              </a:rPr>
              <a:t>Source: PentestEval (Yang et al., 2025)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4857521" y="1714500"/>
            <a:ext cx="371497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Arial"/>
              <a:buNone/>
            </a:pPr>
            <a:r>
              <a:rPr b="1" i="0" lang="en" sz="900" u="none" cap="none" strike="noStrike">
                <a:solidFill>
                  <a:srgbClr val="A0631A"/>
                </a:solidFill>
                <a:latin typeface="Arial"/>
                <a:ea typeface="Arial"/>
                <a:cs typeface="Arial"/>
                <a:sym typeface="Arial"/>
              </a:rPr>
              <a:t>PENTESTEVAL  ·  12 REAL-WORLD SCENARIOS  ·  346 TASKS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857521" y="1906524"/>
            <a:ext cx="371497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Attack Decision-Making (ADM) is the single weakest stage — Spearman ρ = 0.25.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857521" y="2482596"/>
            <a:ext cx="3714979" cy="6858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4857521" y="2482596"/>
            <a:ext cx="21260" cy="6858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999482" y="2551176"/>
            <a:ext cx="346329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Ground-truth ADM injection adds +0.14 on top of already-perfect weakness discovery. No existing system closes this gap.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857521" y="3394710"/>
            <a:ext cx="10972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8B1A1A"/>
                </a:solidFill>
                <a:latin typeface="Courier New"/>
                <a:ea typeface="Courier New"/>
                <a:cs typeface="Courier New"/>
                <a:sym typeface="Courier New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857521" y="3717036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ADM SPEARMAN 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6000750" y="3394710"/>
            <a:ext cx="10972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2A6B3C"/>
                </a:solidFill>
                <a:latin typeface="Courier New"/>
                <a:ea typeface="Courier New"/>
                <a:cs typeface="Courier New"/>
                <a:sym typeface="Courier New"/>
              </a:rPr>
              <a:t>+0.14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6000750" y="3717036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GT ADM GAIN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0" y="4886325"/>
            <a:ext cx="9143771" cy="7543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7749540" y="4965192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06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0" y="5122241"/>
            <a:ext cx="2285771" cy="212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/>
        </p:nvSpPr>
        <p:spPr>
          <a:xfrm>
            <a:off x="571515" y="285750"/>
            <a:ext cx="7429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Gap No System Has Closed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571515" y="735806"/>
            <a:ext cx="4086334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571515" y="928688"/>
            <a:ext cx="3179053" cy="2707481"/>
          </a:xfrm>
          <a:prstGeom prst="roundRect">
            <a:avLst>
              <a:gd fmla="val 2026" name="adj"/>
            </a:avLst>
          </a:prstGeom>
          <a:solidFill>
            <a:srgbClr val="FFFFFF"/>
          </a:solidFill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71515" y="928688"/>
            <a:ext cx="3179053" cy="42863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857273" y="1257300"/>
            <a:ext cx="26075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Wide Exploration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857273" y="1643063"/>
            <a:ext cx="428636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HPTSA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343061" y="1643063"/>
            <a:ext cx="531509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VulnBot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931721" y="1643063"/>
            <a:ext cx="531509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T-Agent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2520382" y="1643063"/>
            <a:ext cx="531509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AutoGPT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21"/>
          <p:cNvCxnSpPr/>
          <p:nvPr/>
        </p:nvCxnSpPr>
        <p:spPr>
          <a:xfrm>
            <a:off x="857273" y="1957388"/>
            <a:ext cx="2607538" cy="0"/>
          </a:xfrm>
          <a:prstGeom prst="straightConnector1">
            <a:avLst/>
          </a:prstGeom>
          <a:noFill/>
          <a:ln cap="flat" cmpd="sng" w="19050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1"/>
          <p:cNvSpPr txBox="1"/>
          <p:nvPr/>
        </p:nvSpPr>
        <p:spPr>
          <a:xfrm>
            <a:off x="857273" y="210026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A6B3C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Finds many candidate weaknesses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57273" y="2357438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 prerequisite / dependency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857273" y="261461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Flat task dispatch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393675" y="928688"/>
            <a:ext cx="3179053" cy="2707481"/>
          </a:xfrm>
          <a:prstGeom prst="roundRect">
            <a:avLst>
              <a:gd fmla="val 2026" name="adj"/>
            </a:avLst>
          </a:prstGeom>
          <a:solidFill>
            <a:srgbClr val="FFFFFF"/>
          </a:solidFill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5393675" y="928688"/>
            <a:ext cx="3179053" cy="42863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5679433" y="1257300"/>
            <a:ext cx="26075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Dependency Reasoning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5679433" y="1643063"/>
            <a:ext cx="634382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CHECKMATE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6370966" y="1643063"/>
            <a:ext cx="943000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PentestEval SMP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21"/>
          <p:cNvCxnSpPr/>
          <p:nvPr/>
        </p:nvCxnSpPr>
        <p:spPr>
          <a:xfrm>
            <a:off x="5679433" y="1957388"/>
            <a:ext cx="2607538" cy="0"/>
          </a:xfrm>
          <a:prstGeom prst="straightConnector1">
            <a:avLst/>
          </a:prstGeom>
          <a:noFill/>
          <a:ln cap="flat" cmpd="sng" w="19050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21"/>
          <p:cNvSpPr txBox="1"/>
          <p:nvPr/>
        </p:nvSpPr>
        <p:spPr>
          <a:xfrm>
            <a:off x="5679433" y="210026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A6B3C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Explicit prerequisite modeling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679433" y="2357438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Requires pre-enumerated weakness 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679433" y="261461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Does not scale to open-ended 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3750569" y="1460897"/>
            <a:ext cx="1643100" cy="1643100"/>
          </a:xfrm>
          <a:prstGeom prst="ellipse">
            <a:avLst/>
          </a:prstGeom>
          <a:solidFill>
            <a:schemeClr val="lt1"/>
          </a:solidFill>
          <a:ln cap="flat" cmpd="sng" w="10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4800" rotWithShape="0" algn="bl" dir="5400000" dist="101600">
              <a:srgbClr val="000000">
                <a:alpha val="2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3750569" y="1932385"/>
            <a:ext cx="16431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500"/>
              <a:buFont typeface="Arial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Arial"/>
                <a:ea typeface="Arial"/>
                <a:cs typeface="Arial"/>
                <a:sym typeface="Arial"/>
              </a:rPr>
              <a:t>UNEXPLORED TERRITORY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3750569" y="2075260"/>
            <a:ext cx="1643106" cy="785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71515" y="3893344"/>
            <a:ext cx="8001213" cy="821531"/>
          </a:xfrm>
          <a:prstGeom prst="rect">
            <a:avLst/>
          </a:prstGeom>
          <a:solidFill>
            <a:srgbClr val="FDFDFD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800121" y="3893344"/>
            <a:ext cx="7544001" cy="82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 system combines </a:t>
            </a:r>
            <a:r>
              <a:rPr b="1" i="0" lang="en" sz="1200" u="none" cap="none" strike="noStrike">
                <a:solidFill>
                  <a:srgbClr val="1A1A2E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open-ended exploration</a:t>
            </a:r>
            <a:r>
              <a:rPr b="0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i="0" lang="en" sz="1200" u="none" cap="none" strike="noStrike">
                <a:solidFill>
                  <a:srgbClr val="1A1A2E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dynamic dependency-aware planning</a:t>
            </a:r>
            <a:r>
              <a:rPr b="0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RedGrid investigates this exact combination.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>
            <a:off x="0" y="4886325"/>
            <a:ext cx="9144015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21"/>
          <p:cNvSpPr txBox="1"/>
          <p:nvPr/>
        </p:nvSpPr>
        <p:spPr>
          <a:xfrm>
            <a:off x="7858334" y="5000625"/>
            <a:ext cx="71439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07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0" y="5122069"/>
            <a:ext cx="2743273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/>
        </p:nvSpPr>
        <p:spPr>
          <a:xfrm>
            <a:off x="571500" y="314325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Prior System 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571500" y="735806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571500" y="857250"/>
            <a:ext cx="7429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FOUR DIMENSIONS THAT MATTER MOST  ·  PRELIMINARY 11-PAPER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22"/>
          <p:cNvGraphicFramePr/>
          <p:nvPr/>
        </p:nvGraphicFramePr>
        <p:xfrm>
          <a:off x="571500" y="111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{25C997F3-B552-403A-BB00-0357DBA40DC2}</a:tableStyleId>
              </a:tblPr>
              <a:tblGrid>
                <a:gridCol w="1200150"/>
                <a:gridCol w="1920225"/>
                <a:gridCol w="1760450"/>
                <a:gridCol w="1680200"/>
                <a:gridCol w="14401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SYSTEM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ARCHITECTURE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DEPENDENCY MODELING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CROSS-SESSION MEMORY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BENCHMARK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Fang et al. 2024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Single agent (ReAct)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15 CVEs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HPTSA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Hierarchical planner + tasks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Flat dispatch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14 zero-day CVEs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PentestGPT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Split reasoning / parsing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A0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3A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~ Implicit (LLM only)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HTB / VulnHub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VulnBot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Multi-agent, role-specialised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Flat dispatch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HTB-style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CHECKMATE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Agent + classical planner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Explicit, pre-enumerated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Curated only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Incalmo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Multi-host orchestration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A0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3A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~ Partial (host/cred)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MHBench (40)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PrediQL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LLM-guided fuzzer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A0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3A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~ Schema-derived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 GraphQL APIs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5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2E5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RedGrid (proposed)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25400">
                      <a:solidFill>
                        <a:srgbClr val="2E4A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5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2E5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4-layer multi-agent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Dynamic VDG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3-tier memory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5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2E5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Web + GraphQL + Multi-host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22"/>
          <p:cNvSpPr txBox="1"/>
          <p:nvPr/>
        </p:nvSpPr>
        <p:spPr>
          <a:xfrm>
            <a:off x="626364" y="4282821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PRELIMINARY READING — 11-PAPER FOCUSED REVIEW, SEPTEMBER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22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2"/>
          <p:cNvSpPr txBox="1"/>
          <p:nvPr/>
        </p:nvSpPr>
        <p:spPr>
          <a:xfrm>
            <a:off x="7886471" y="4957763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0" y="5122069"/>
            <a:ext cx="320032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/>
        </p:nvSpPr>
        <p:spPr>
          <a:xfrm>
            <a:off x="571500" y="285750"/>
            <a:ext cx="7429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Gap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71500" y="757238"/>
            <a:ext cx="50292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1171575" y="957263"/>
            <a:ext cx="6800850" cy="1357313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1171575" y="957263"/>
            <a:ext cx="21431" cy="1357313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1371600" y="1071563"/>
            <a:ext cx="6400800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Source Sans 3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IDENTIFIED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“The reviewed literature does not contain a system that combines: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(1) broad, open-ended exploration of an unfamiliar attack surface,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(2) with an explicit, dynamically constructed dependency model,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(3) evaluated across more than one benchmarked attack-surface family.”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785813" y="2600325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Exploration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785813" y="2786063"/>
            <a:ext cx="2238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700"/>
              <a:buFont typeface="IBM Plex Mono"/>
              <a:buNone/>
            </a:pPr>
            <a:r>
              <a:rPr b="1" i="0" lang="en" sz="1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37 – 80%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785813" y="3086100"/>
            <a:ext cx="2238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EXPLORATION FAILURE 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785813" y="3286125"/>
            <a:ext cx="2238375" cy="678656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785813" y="3286125"/>
            <a:ext cx="21431" cy="6786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900113" y="3286125"/>
            <a:ext cx="2038350" cy="67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CVE-Bench: insufficient exploration is the dominant failure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23"/>
          <p:cNvCxnSpPr/>
          <p:nvPr/>
        </p:nvCxnSpPr>
        <p:spPr>
          <a:xfrm>
            <a:off x="3238500" y="2736770"/>
            <a:ext cx="0" cy="1091565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23"/>
          <p:cNvSpPr txBox="1"/>
          <p:nvPr/>
        </p:nvSpPr>
        <p:spPr>
          <a:xfrm>
            <a:off x="3452813" y="2600325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Planning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3452813" y="2786063"/>
            <a:ext cx="2238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700"/>
              <a:buFont typeface="IBM Plex Mono"/>
              <a:buNone/>
            </a:pPr>
            <a:r>
              <a:rPr b="1" i="0" lang="en" sz="1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0.25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3452813" y="3086100"/>
            <a:ext cx="2238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ADM SPEARMAN 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3452813" y="3286125"/>
            <a:ext cx="2238375" cy="678656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3452813" y="3286125"/>
            <a:ext cx="21431" cy="6786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3567113" y="3286125"/>
            <a:ext cx="2038350" cy="67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PentestEval: ADM is the weakest stage across all pipelines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23"/>
          <p:cNvCxnSpPr/>
          <p:nvPr/>
        </p:nvCxnSpPr>
        <p:spPr>
          <a:xfrm>
            <a:off x="5905500" y="2736770"/>
            <a:ext cx="0" cy="1091565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3"/>
          <p:cNvSpPr txBox="1"/>
          <p:nvPr/>
        </p:nvSpPr>
        <p:spPr>
          <a:xfrm>
            <a:off x="6119813" y="2600325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Coverage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6119813" y="2786063"/>
            <a:ext cx="2238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700"/>
              <a:buFont typeface="IBM Plex Mono"/>
              <a:buNone/>
            </a:pPr>
            <a:r>
              <a:rPr b="1" i="0" lang="en" sz="1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6119813" y="3086100"/>
            <a:ext cx="2238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 SURFACE PER SYSTEM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6119813" y="3286125"/>
            <a:ext cx="2238375" cy="678656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6119813" y="3286125"/>
            <a:ext cx="21431" cy="6786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6234113" y="3286125"/>
            <a:ext cx="2038350" cy="67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prior system evaluated on exactly one surface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2091690" y="4150519"/>
            <a:ext cx="4960620" cy="442913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1270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2234565" y="4150519"/>
            <a:ext cx="473202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is the gap </a:t>
            </a:r>
            <a:r>
              <a:rPr b="1" i="0" lang="en" sz="12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RedGrid</a:t>
            </a: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is designed to investigate.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3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23"/>
          <p:cNvSpPr txBox="1"/>
          <p:nvPr/>
        </p:nvSpPr>
        <p:spPr>
          <a:xfrm>
            <a:off x="7858125" y="5000625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0" y="5122069"/>
            <a:ext cx="36576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"/>
          <p:cNvSpPr txBox="1"/>
          <p:nvPr/>
        </p:nvSpPr>
        <p:spPr>
          <a:xfrm>
            <a:off x="571486" y="314317"/>
            <a:ext cx="7429314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Introducing </a:t>
            </a:r>
            <a:r>
              <a:rPr b="1" i="0" lang="en" sz="2500" u="none" cap="none" strike="noStrike">
                <a:solidFill>
                  <a:srgbClr val="8B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71486" y="740664"/>
            <a:ext cx="4086123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571486" y="925830"/>
            <a:ext cx="345748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Dependency-Constrained UCB Exploration for Autonomous Penetration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571486" y="1515618"/>
            <a:ext cx="360036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>
            <a:off x="571486" y="1515618"/>
            <a:ext cx="30861" cy="72009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742936" y="1604772"/>
            <a:ext cx="3154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VDG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 txBox="1"/>
          <p:nvPr/>
        </p:nvSpPr>
        <p:spPr>
          <a:xfrm>
            <a:off x="742936" y="1803654"/>
            <a:ext cx="31546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Model vulnerabilities as a graph with prerequisite edges, not a flat list.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571486" y="2379726"/>
            <a:ext cx="360036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571486" y="2379726"/>
            <a:ext cx="30861" cy="72009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742936" y="2468880"/>
            <a:ext cx="3154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UCB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742936" y="2667762"/>
            <a:ext cx="31546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Guide exploration with Upper Confidence Bound over the dependency-constrained frontier.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571486" y="3243834"/>
            <a:ext cx="3600360" cy="58293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571486" y="3243834"/>
            <a:ext cx="30861" cy="58293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742936" y="3332988"/>
            <a:ext cx="3154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742936" y="3531870"/>
            <a:ext cx="31546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Retain and reuse strategies across missions.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4457700" y="1028700"/>
            <a:ext cx="4114800" cy="3285900"/>
          </a:xfrm>
          <a:prstGeom prst="roundRect">
            <a:avLst>
              <a:gd fmla="val 1252" name="adj"/>
            </a:avLst>
          </a:prstGeom>
          <a:solidFill>
            <a:srgbClr val="FDFDFD"/>
          </a:solidFill>
          <a:ln cap="flat" cmpd="sng" w="152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4743443" y="1314443"/>
            <a:ext cx="1142971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4743443" y="1314443"/>
            <a:ext cx="1142971" cy="19202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4743443" y="1314443"/>
            <a:ext cx="114297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SQLi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4798307" y="1554472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5296626" y="1561331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D6EDD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5296626" y="1561331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A28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1A4A28"/>
                </a:solidFill>
                <a:latin typeface="Arial"/>
                <a:ea typeface="Arial"/>
                <a:cs typeface="Arial"/>
                <a:sym typeface="Arial"/>
              </a:rPr>
              <a:t>ELIGIBLE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4798307" y="1773929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 txBox="1"/>
          <p:nvPr/>
        </p:nvSpPr>
        <p:spPr>
          <a:xfrm>
            <a:off x="5296626" y="1773929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3.42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4743443" y="3278925"/>
            <a:ext cx="1142971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4743443" y="3278925"/>
            <a:ext cx="1142971" cy="19202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4743443" y="3278925"/>
            <a:ext cx="114297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XSS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4798307" y="3518955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5296626" y="3525813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D6EDD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5296626" y="3525813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A28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1A4A28"/>
                </a:solidFill>
                <a:latin typeface="Arial"/>
                <a:ea typeface="Arial"/>
                <a:cs typeface="Arial"/>
                <a:sym typeface="Arial"/>
              </a:rPr>
              <a:t>ELIGIBLE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4798307" y="3738411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 txBox="1"/>
          <p:nvPr/>
        </p:nvSpPr>
        <p:spPr>
          <a:xfrm>
            <a:off x="5296626" y="3738411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2.81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5854408" y="2347546"/>
            <a:ext cx="1184120" cy="648352"/>
          </a:xfrm>
          <a:prstGeom prst="roundRect">
            <a:avLst>
              <a:gd fmla="val 5289" name="adj"/>
            </a:avLst>
          </a:prstGeom>
          <a:noFill/>
          <a:ln cap="flat" cmpd="sng" w="19050">
            <a:solidFill>
              <a:srgbClr val="A06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5874983" y="2368120"/>
            <a:ext cx="1142972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5874983" y="2368120"/>
            <a:ext cx="1142972" cy="192024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5874983" y="2368120"/>
            <a:ext cx="11429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Auth Bypass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5929847" y="2608150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6428166" y="2615008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6428166" y="2615008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►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5929847" y="2827606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428166" y="2827606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4.17 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7317988" y="2368120"/>
            <a:ext cx="1142971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6B6B7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7317988" y="2368120"/>
            <a:ext cx="1142971" cy="192024"/>
          </a:xfrm>
          <a:prstGeom prst="rect">
            <a:avLst/>
          </a:prstGeom>
          <a:solidFill>
            <a:srgbClr val="4A4A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7317988" y="2368120"/>
            <a:ext cx="114297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7372852" y="2608150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7871172" y="2615008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"/>
          <p:cNvSpPr txBox="1"/>
          <p:nvPr/>
        </p:nvSpPr>
        <p:spPr>
          <a:xfrm>
            <a:off x="7871172" y="2615008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6B6B7A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7372852" y="2827606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7871172" y="2827606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24"/>
          <p:cNvCxnSpPr>
            <a:endCxn id="412" idx="0"/>
          </p:cNvCxnSpPr>
          <p:nvPr/>
        </p:nvCxnSpPr>
        <p:spPr>
          <a:xfrm>
            <a:off x="5879468" y="1640020"/>
            <a:ext cx="567000" cy="728100"/>
          </a:xfrm>
          <a:prstGeom prst="straightConnector1">
            <a:avLst/>
          </a:prstGeom>
          <a:noFill/>
          <a:ln cap="flat" cmpd="sng" w="22225">
            <a:solidFill>
              <a:srgbClr val="4A4A5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24"/>
          <p:cNvCxnSpPr/>
          <p:nvPr/>
        </p:nvCxnSpPr>
        <p:spPr>
          <a:xfrm flipH="1" rot="10800000">
            <a:off x="5874974" y="2999043"/>
            <a:ext cx="472800" cy="530400"/>
          </a:xfrm>
          <a:prstGeom prst="straightConnector1">
            <a:avLst/>
          </a:prstGeom>
          <a:noFill/>
          <a:ln cap="flat" cmpd="sng" w="22225">
            <a:solidFill>
              <a:srgbClr val="4A4A5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24"/>
          <p:cNvCxnSpPr/>
          <p:nvPr/>
        </p:nvCxnSpPr>
        <p:spPr>
          <a:xfrm>
            <a:off x="7059102" y="2464132"/>
            <a:ext cx="217738" cy="6858"/>
          </a:xfrm>
          <a:prstGeom prst="straightConnector1">
            <a:avLst/>
          </a:prstGeom>
          <a:noFill/>
          <a:ln cap="flat" cmpd="sng" w="22225">
            <a:solidFill>
              <a:srgbClr val="8B1A1A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29" name="Google Shape;429;p24"/>
          <p:cNvSpPr txBox="1"/>
          <p:nvPr/>
        </p:nvSpPr>
        <p:spPr>
          <a:xfrm>
            <a:off x="6655526" y="3043868"/>
            <a:ext cx="20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400"/>
              <a:buFont typeface="Calibri"/>
              <a:buNone/>
            </a:pPr>
            <a:r>
              <a:rPr b="1" i="0" lang="en" sz="23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6447881" y="3318224"/>
            <a:ext cx="1440180" cy="20574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6447881" y="3318224"/>
            <a:ext cx="144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Agent targets highest UCB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4457700" y="4451902"/>
            <a:ext cx="411469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Vulnerability Dependency Graph (VDG) — conceptual sketch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0" y="4886203"/>
            <a:ext cx="9143771" cy="6858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"/>
          <p:cNvSpPr txBox="1"/>
          <p:nvPr/>
        </p:nvSpPr>
        <p:spPr>
          <a:xfrm>
            <a:off x="7886700" y="4896612"/>
            <a:ext cx="5692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0" y="5122926"/>
            <a:ext cx="4114697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"/>
          <p:cNvSpPr txBox="1"/>
          <p:nvPr/>
        </p:nvSpPr>
        <p:spPr>
          <a:xfrm>
            <a:off x="571500" y="314325"/>
            <a:ext cx="74292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Objectives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71500" y="778669"/>
            <a:ext cx="4086099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571500" y="842963"/>
            <a:ext cx="742927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FIVE WORKING GOALS AT INCEPTION STAGE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571500" y="111442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571500" y="1114425"/>
            <a:ext cx="28575" cy="557213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742950" y="1235869"/>
            <a:ext cx="314325" cy="314325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 txBox="1"/>
          <p:nvPr/>
        </p:nvSpPr>
        <p:spPr>
          <a:xfrm>
            <a:off x="1228725" y="111442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VDG Formalization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3257550" y="111442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Investigate whether a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prerequisite-edge graph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improves agent exploration over a flat priority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571500" y="174307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571500" y="1743075"/>
            <a:ext cx="28575" cy="557213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"/>
          <p:cNvSpPr/>
          <p:nvPr/>
        </p:nvSpPr>
        <p:spPr>
          <a:xfrm>
            <a:off x="742950" y="1864519"/>
            <a:ext cx="314325" cy="314325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1228725" y="174307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Dual-Layer World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3257550" y="174307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Separate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confirmed facts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from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inferred hypotheses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independent ablation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571500" y="237172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5"/>
          <p:cNvSpPr/>
          <p:nvPr/>
        </p:nvSpPr>
        <p:spPr>
          <a:xfrm>
            <a:off x="571500" y="2371725"/>
            <a:ext cx="28575" cy="557213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742950" y="2493169"/>
            <a:ext cx="314325" cy="314325"/>
          </a:xfrm>
          <a:prstGeom prst="ellipse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1228725" y="237172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Multi-Layer Orchestration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3257550" y="237172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 a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four-layer agent hierarchy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matching the strongest surveyed systems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571500" y="300037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"/>
          <p:cNvSpPr/>
          <p:nvPr/>
        </p:nvSpPr>
        <p:spPr>
          <a:xfrm>
            <a:off x="571500" y="3000375"/>
            <a:ext cx="28575" cy="557213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742950" y="3121819"/>
            <a:ext cx="314325" cy="314325"/>
          </a:xfrm>
          <a:prstGeom prst="ellipse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1228725" y="300037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Cross-Mission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3257550" y="300037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Determine whether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strategy reuse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offers measurable benefit vs.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negative-transfer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571500" y="362902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5"/>
          <p:cNvSpPr/>
          <p:nvPr/>
        </p:nvSpPr>
        <p:spPr>
          <a:xfrm>
            <a:off x="571500" y="3629025"/>
            <a:ext cx="28575" cy="557213"/>
          </a:xfrm>
          <a:prstGeom prst="rect">
            <a:avLst/>
          </a:prstGeom>
          <a:solidFill>
            <a:srgbClr val="6B6B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742950" y="3750469"/>
            <a:ext cx="314325" cy="314325"/>
          </a:xfrm>
          <a:prstGeom prst="ellipse">
            <a:avLst/>
          </a:prstGeom>
          <a:solidFill>
            <a:srgbClr val="6B6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1228725" y="362902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Benchmark-Grounded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 txBox="1"/>
          <p:nvPr/>
        </p:nvSpPr>
        <p:spPr>
          <a:xfrm>
            <a:off x="3257550" y="362902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Evaluate on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oracle-backed benchmarks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across 3+ attack surfaces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571500" y="4371975"/>
            <a:ext cx="80007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BM Plex Mono"/>
              <a:buNone/>
            </a:pPr>
            <a:r>
              <a:rPr b="1" lang="en" sz="700">
                <a:solidFill>
                  <a:srgbClr val="FFFFFF"/>
                </a:solidFill>
                <a:highlight>
                  <a:srgbClr val="8B1A1A"/>
                </a:highlight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b="1" i="0" lang="en" sz="700" u="none" cap="none" strike="noStrike">
                <a:solidFill>
                  <a:srgbClr val="FFFFFF"/>
                </a:solidFill>
                <a:highlight>
                  <a:srgbClr val="8B1A1A"/>
                </a:highlight>
                <a:latin typeface="IBM Plex Mono"/>
                <a:ea typeface="IBM Plex Mono"/>
                <a:cs typeface="IBM Plex Mono"/>
                <a:sym typeface="IBM Plex Mono"/>
              </a:rPr>
              <a:t>NOTE </a:t>
            </a:r>
            <a:r>
              <a:rPr b="1" i="0" lang="en" sz="900" u="none" cap="none" strike="noStrike">
                <a:solidFill>
                  <a:srgbClr val="6B6B7A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These reflect the research direction at inception stage. Scope will evolve with implementation.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25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25"/>
          <p:cNvSpPr txBox="1"/>
          <p:nvPr/>
        </p:nvSpPr>
        <p:spPr>
          <a:xfrm>
            <a:off x="7886471" y="4957763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0" y="5122069"/>
            <a:ext cx="4571886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"/>
          <p:cNvSpPr txBox="1"/>
          <p:nvPr/>
        </p:nvSpPr>
        <p:spPr>
          <a:xfrm>
            <a:off x="571271" y="314096"/>
            <a:ext cx="7429271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Contributions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571271" y="747522"/>
            <a:ext cx="4085996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6"/>
          <p:cNvSpPr txBox="1"/>
          <p:nvPr/>
        </p:nvSpPr>
        <p:spPr>
          <a:xfrm>
            <a:off x="571271" y="870966"/>
            <a:ext cx="742927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IBM Plex Mono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ⓘ  THE FOLLOWING SLIDES ARE HIGH-LEVEL SKETCHES — IMPLEMENTATION HAS NOT STARTED.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571275" y="1285875"/>
            <a:ext cx="2552400" cy="2309400"/>
          </a:xfrm>
          <a:prstGeom prst="roundRect">
            <a:avLst>
              <a:gd fmla="val 2230" name="adj"/>
            </a:avLst>
          </a:prstGeom>
          <a:solidFill>
            <a:srgbClr val="F7EDED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571271" y="1285875"/>
            <a:ext cx="2552548" cy="288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6"/>
          <p:cNvSpPr txBox="1"/>
          <p:nvPr/>
        </p:nvSpPr>
        <p:spPr>
          <a:xfrm>
            <a:off x="828446" y="1543050"/>
            <a:ext cx="20381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IBM Plex Mono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C1 — PRIMARY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828446" y="1794739"/>
            <a:ext cx="20381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Smarter Exploration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26"/>
          <p:cNvCxnSpPr/>
          <p:nvPr/>
        </p:nvCxnSpPr>
        <p:spPr>
          <a:xfrm>
            <a:off x="828446" y="2014195"/>
            <a:ext cx="2038198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26"/>
          <p:cNvSpPr txBox="1"/>
          <p:nvPr/>
        </p:nvSpPr>
        <p:spPr>
          <a:xfrm>
            <a:off x="828450" y="2099923"/>
            <a:ext cx="2038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300"/>
              <a:buFont typeface="Playfair Display"/>
              <a:buNone/>
            </a:pPr>
            <a:r>
              <a:rPr b="0" i="1" lang="en" sz="13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modeling vulnerabilities as a graph — with explicit prerequisites — help an agent explore more intelligently?”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3295275" y="1285875"/>
            <a:ext cx="2552400" cy="2309400"/>
          </a:xfrm>
          <a:prstGeom prst="roundRect">
            <a:avLst>
              <a:gd fmla="val 2230" name="adj"/>
            </a:avLst>
          </a:prstGeom>
          <a:solidFill>
            <a:srgbClr val="EDF5EE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3295269" y="1285875"/>
            <a:ext cx="2552548" cy="2880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3552444" y="1543050"/>
            <a:ext cx="20381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IBM Plex Mono"/>
              <a:buNone/>
            </a:pPr>
            <a:r>
              <a:rPr b="1" i="0" lang="en" sz="11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C2 — SUPPORTING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3552444" y="1794739"/>
            <a:ext cx="20381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Learning Across 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26"/>
          <p:cNvCxnSpPr/>
          <p:nvPr/>
        </p:nvCxnSpPr>
        <p:spPr>
          <a:xfrm>
            <a:off x="3552444" y="2014195"/>
            <a:ext cx="2038198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26"/>
          <p:cNvSpPr txBox="1"/>
          <p:nvPr/>
        </p:nvSpPr>
        <p:spPr>
          <a:xfrm>
            <a:off x="3552450" y="2099923"/>
            <a:ext cx="2038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300"/>
              <a:buFont typeface="Playfair Display"/>
              <a:buNone/>
            </a:pPr>
            <a:r>
              <a:rPr b="0" i="1" lang="en" sz="13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an agent carry forward what it learned in past engagements to perform better on similar targets?”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019275" y="1285875"/>
            <a:ext cx="2552400" cy="2309400"/>
          </a:xfrm>
          <a:prstGeom prst="roundRect">
            <a:avLst>
              <a:gd fmla="val 2230" name="adj"/>
            </a:avLst>
          </a:prstGeom>
          <a:solidFill>
            <a:srgbClr val="EDF2F7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>
            <a:off x="6019267" y="1285875"/>
            <a:ext cx="2552548" cy="28804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6276442" y="1543050"/>
            <a:ext cx="20381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C3 — METHODOLOGICAL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 txBox="1"/>
          <p:nvPr/>
        </p:nvSpPr>
        <p:spPr>
          <a:xfrm>
            <a:off x="6276442" y="1794739"/>
            <a:ext cx="20381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26"/>
          <p:cNvCxnSpPr/>
          <p:nvPr/>
        </p:nvCxnSpPr>
        <p:spPr>
          <a:xfrm>
            <a:off x="6276442" y="2014195"/>
            <a:ext cx="2038198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26"/>
          <p:cNvSpPr txBox="1"/>
          <p:nvPr/>
        </p:nvSpPr>
        <p:spPr>
          <a:xfrm>
            <a:off x="6276450" y="2099923"/>
            <a:ext cx="2038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300"/>
              <a:buFont typeface="Playfair Display"/>
              <a:buNone/>
            </a:pPr>
            <a:r>
              <a:rPr b="0" i="1" lang="en" sz="13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a single architecture be tested fairly across web, GraphQL, and multi-host surfaces using standardized oracles?”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1917865" y="4600362"/>
            <a:ext cx="754500" cy="192000"/>
          </a:xfrm>
          <a:prstGeom prst="roundRect">
            <a:avLst>
              <a:gd fmla="val 14286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 txBox="1"/>
          <p:nvPr/>
        </p:nvSpPr>
        <p:spPr>
          <a:xfrm>
            <a:off x="1917865" y="4600362"/>
            <a:ext cx="754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DISCLAIMER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 txBox="1"/>
          <p:nvPr/>
        </p:nvSpPr>
        <p:spPr>
          <a:xfrm>
            <a:off x="2245995" y="4609262"/>
            <a:ext cx="548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800"/>
              <a:buFont typeface="Source Sans 3"/>
              <a:buNone/>
            </a:pPr>
            <a:r>
              <a:rPr b="1" i="0" lang="en" sz="1000" u="none" cap="none" strike="noStrike">
                <a:solidFill>
                  <a:srgbClr val="6B6B7A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are research questions. Answers come from experiments — not this report.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26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26"/>
          <p:cNvSpPr txBox="1"/>
          <p:nvPr/>
        </p:nvSpPr>
        <p:spPr>
          <a:xfrm>
            <a:off x="7886700" y="4969307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0" y="5122926"/>
            <a:ext cx="5028971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7"/>
          <p:cNvSpPr txBox="1"/>
          <p:nvPr/>
        </p:nvSpPr>
        <p:spPr>
          <a:xfrm>
            <a:off x="571271" y="260604"/>
            <a:ext cx="742927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 — The Core Idea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571271" y="720090"/>
            <a:ext cx="4085996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p27"/>
          <p:cNvCxnSpPr/>
          <p:nvPr/>
        </p:nvCxnSpPr>
        <p:spPr>
          <a:xfrm>
            <a:off x="2643074" y="2400300"/>
            <a:ext cx="103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13" name="Google Shape;513;p27"/>
          <p:cNvCxnSpPr/>
          <p:nvPr/>
        </p:nvCxnSpPr>
        <p:spPr>
          <a:xfrm>
            <a:off x="5465141" y="2400300"/>
            <a:ext cx="103555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14" name="Google Shape;514;p27"/>
          <p:cNvSpPr/>
          <p:nvPr/>
        </p:nvSpPr>
        <p:spPr>
          <a:xfrm>
            <a:off x="2800808" y="2290572"/>
            <a:ext cx="720000" cy="219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8B1A1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7"/>
          <p:cNvSpPr txBox="1"/>
          <p:nvPr/>
        </p:nvSpPr>
        <p:spPr>
          <a:xfrm>
            <a:off x="2800808" y="2290572"/>
            <a:ext cx="720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GUIDED BY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5622874" y="2290572"/>
            <a:ext cx="720090" cy="21945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2E4A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7"/>
          <p:cNvSpPr txBox="1"/>
          <p:nvPr/>
        </p:nvSpPr>
        <p:spPr>
          <a:xfrm>
            <a:off x="5622874" y="2290572"/>
            <a:ext cx="72009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FEEDS INTO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857250" y="1507388"/>
            <a:ext cx="1785823" cy="1785823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016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1028700" y="1795424"/>
            <a:ext cx="1442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EXPLORE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 txBox="1"/>
          <p:nvPr/>
        </p:nvSpPr>
        <p:spPr>
          <a:xfrm>
            <a:off x="1028700" y="2021738"/>
            <a:ext cx="14429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Explore Broadly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 txBox="1"/>
          <p:nvPr/>
        </p:nvSpPr>
        <p:spPr>
          <a:xfrm>
            <a:off x="1028700" y="2467508"/>
            <a:ext cx="144292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Search the full attack surface. Don't commit to one path early.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3679317" y="1507388"/>
            <a:ext cx="1785824" cy="1785823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016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3850767" y="1795424"/>
            <a:ext cx="1442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GUIDE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3850767" y="2021738"/>
            <a:ext cx="14429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Dependency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7"/>
          <p:cNvSpPr txBox="1"/>
          <p:nvPr/>
        </p:nvSpPr>
        <p:spPr>
          <a:xfrm>
            <a:off x="3850767" y="2467508"/>
            <a:ext cx="144292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 which vulnerabilities depend on which. Pick the smartest next step.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6500698" y="1507388"/>
            <a:ext cx="1785824" cy="1785823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016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6672148" y="1795424"/>
            <a:ext cx="1442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LEARN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 txBox="1"/>
          <p:nvPr/>
        </p:nvSpPr>
        <p:spPr>
          <a:xfrm>
            <a:off x="6672148" y="2021738"/>
            <a:ext cx="14429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Remember and Reuse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7"/>
          <p:cNvSpPr txBox="1"/>
          <p:nvPr/>
        </p:nvSpPr>
        <p:spPr>
          <a:xfrm>
            <a:off x="6672148" y="2467508"/>
            <a:ext cx="144292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Carry forward what worked across past missions.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7"/>
          <p:cNvSpPr txBox="1"/>
          <p:nvPr/>
        </p:nvSpPr>
        <p:spPr>
          <a:xfrm>
            <a:off x="571271" y="3463290"/>
            <a:ext cx="800122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Playfair Display"/>
              <a:buNone/>
            </a:pPr>
            <a:r>
              <a:rPr b="0" i="1" lang="en" sz="1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 asks whether connecting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 txBox="1"/>
          <p:nvPr/>
        </p:nvSpPr>
        <p:spPr>
          <a:xfrm>
            <a:off x="571271" y="4149090"/>
            <a:ext cx="800122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Playfair Display"/>
              <a:buNone/>
            </a:pPr>
            <a:r>
              <a:rPr b="0" i="1" lang="en" sz="1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make autonomous penetration testing meaningfully better?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2433840" y="3837049"/>
            <a:ext cx="1062900" cy="24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65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2433840" y="3837049"/>
            <a:ext cx="1062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EXPLORATION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3510546" y="3837049"/>
            <a:ext cx="240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3764292" y="3837049"/>
            <a:ext cx="1748700" cy="24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6500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3764292" y="3837049"/>
            <a:ext cx="1748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DEPENDENCY REASONING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 txBox="1"/>
          <p:nvPr/>
        </p:nvSpPr>
        <p:spPr>
          <a:xfrm>
            <a:off x="5526798" y="3837049"/>
            <a:ext cx="240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5780544" y="3837049"/>
            <a:ext cx="891600" cy="24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650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5780544" y="3837049"/>
            <a:ext cx="891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0" y="4886325"/>
            <a:ext cx="9143771" cy="7543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7200900" y="4930902"/>
            <a:ext cx="13716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0" y="5122241"/>
            <a:ext cx="5486400" cy="212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8"/>
          <p:cNvSpPr txBox="1"/>
          <p:nvPr/>
        </p:nvSpPr>
        <p:spPr>
          <a:xfrm>
            <a:off x="571500" y="314325"/>
            <a:ext cx="7429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300"/>
              <a:buFont typeface="Playfair Display"/>
              <a:buNone/>
            </a:pPr>
            <a:r>
              <a:rPr b="1" i="0" lang="en" sz="23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 — A Rough Sketch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571500" y="771525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8"/>
          <p:cNvSpPr txBox="1"/>
          <p:nvPr/>
        </p:nvSpPr>
        <p:spPr>
          <a:xfrm>
            <a:off x="571500" y="928688"/>
            <a:ext cx="1600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12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WORLD MODEL</a:t>
            </a:r>
            <a:b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Playfair Display"/>
              <a:buNone/>
            </a:pPr>
            <a:r>
              <a:rPr b="0" i="1" lang="en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Confirmed facts vs. attack hypotheses — kept strictly separate.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2314575" y="1271587"/>
            <a:ext cx="171450" cy="16002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8"/>
          <p:cNvSpPr/>
          <p:nvPr/>
        </p:nvSpPr>
        <p:spPr>
          <a:xfrm rot="5400000">
            <a:off x="2593231" y="1950356"/>
            <a:ext cx="99900" cy="142800"/>
          </a:xfrm>
          <a:prstGeom prst="triangle">
            <a:avLst>
              <a:gd fmla="val 50000" name="adj"/>
            </a:avLst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8"/>
          <p:cNvSpPr/>
          <p:nvPr/>
        </p:nvSpPr>
        <p:spPr>
          <a:xfrm>
            <a:off x="3114675" y="1143000"/>
            <a:ext cx="14400" cy="464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8"/>
          <p:cNvSpPr/>
          <p:nvPr/>
        </p:nvSpPr>
        <p:spPr>
          <a:xfrm>
            <a:off x="3114666" y="1907375"/>
            <a:ext cx="14400" cy="5715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3114675" y="2478874"/>
            <a:ext cx="14400" cy="52170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3000375" y="1092994"/>
            <a:ext cx="242888" cy="242888"/>
          </a:xfrm>
          <a:prstGeom prst="ellipse">
            <a:avLst/>
          </a:prstGeom>
          <a:solidFill>
            <a:srgbClr val="8B1A1A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8"/>
          <p:cNvSpPr txBox="1"/>
          <p:nvPr/>
        </p:nvSpPr>
        <p:spPr>
          <a:xfrm>
            <a:off x="3000375" y="10929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3471863" y="9286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Mission Planner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5186363" y="9286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Takes in the target. Starts the scan. Stays in control.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3000375" y="1664494"/>
            <a:ext cx="242888" cy="242888"/>
          </a:xfrm>
          <a:prstGeom prst="ellipse">
            <a:avLst/>
          </a:prstGeom>
          <a:solidFill>
            <a:srgbClr val="2E4A7A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 txBox="1"/>
          <p:nvPr/>
        </p:nvSpPr>
        <p:spPr>
          <a:xfrm>
            <a:off x="3000375" y="16644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 txBox="1"/>
          <p:nvPr/>
        </p:nvSpPr>
        <p:spPr>
          <a:xfrm>
            <a:off x="3471863" y="15001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Decision-Maker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5186363" y="15001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Decides what to attack next — using the dependency graph.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3000375" y="2235994"/>
            <a:ext cx="242888" cy="242888"/>
          </a:xfrm>
          <a:prstGeom prst="ellipse">
            <a:avLst/>
          </a:prstGeom>
          <a:solidFill>
            <a:srgbClr val="A0631A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 txBox="1"/>
          <p:nvPr/>
        </p:nvSpPr>
        <p:spPr>
          <a:xfrm>
            <a:off x="3000375" y="22359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3471863" y="20716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Specialist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 txBox="1"/>
          <p:nvPr/>
        </p:nvSpPr>
        <p:spPr>
          <a:xfrm>
            <a:off x="5186363" y="20716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Web, GraphQL, Network — each focused on one attack type.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3000375" y="2807494"/>
            <a:ext cx="242888" cy="242888"/>
          </a:xfrm>
          <a:prstGeom prst="ellipse">
            <a:avLst/>
          </a:prstGeom>
          <a:solidFill>
            <a:srgbClr val="2A6B3C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8"/>
          <p:cNvSpPr txBox="1"/>
          <p:nvPr/>
        </p:nvSpPr>
        <p:spPr>
          <a:xfrm>
            <a:off x="3000375" y="28074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3471863" y="26431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Execute and Validate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5186363" y="26431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Runs the attack. Checks if it worked.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 rot="5400000">
            <a:off x="4486275" y="700088"/>
            <a:ext cx="171450" cy="56007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 rot="10800000">
            <a:off x="4472088" y="3314825"/>
            <a:ext cx="99900" cy="99900"/>
          </a:xfrm>
          <a:prstGeom prst="triangle">
            <a:avLst>
              <a:gd fmla="val 50000" name="adj"/>
            </a:avLst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1771650" y="3643313"/>
            <a:ext cx="56007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IBM Plex Mono"/>
              <a:buNone/>
            </a:pPr>
            <a:r>
              <a:rPr b="1" i="0" lang="en" sz="12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100"/>
              <a:buFont typeface="Playfair Display"/>
              <a:buNone/>
            </a:pPr>
            <a:r>
              <a:rPr b="0" i="1" lang="en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Remembers strategies and failures. Reuses what worked.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0" y="4886325"/>
            <a:ext cx="9144000" cy="7144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8"/>
          <p:cNvSpPr txBox="1"/>
          <p:nvPr/>
        </p:nvSpPr>
        <p:spPr>
          <a:xfrm>
            <a:off x="571500" y="4964906"/>
            <a:ext cx="14287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Playfair Display"/>
              <a:buNone/>
            </a:pPr>
            <a:r>
              <a:rPr b="1" i="0" lang="en" sz="700" u="none" cap="none" strike="noStrike">
                <a:solidFill>
                  <a:srgbClr val="8B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 txBox="1"/>
          <p:nvPr/>
        </p:nvSpPr>
        <p:spPr>
          <a:xfrm>
            <a:off x="7143750" y="4964906"/>
            <a:ext cx="14287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0" y="5122069"/>
            <a:ext cx="59436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9"/>
          <p:cNvSpPr txBox="1"/>
          <p:nvPr/>
        </p:nvSpPr>
        <p:spPr>
          <a:xfrm>
            <a:off x="571501" y="271463"/>
            <a:ext cx="7429524" cy="414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RedGrid Will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571501" y="735809"/>
            <a:ext cx="4086238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3429011" y="1428755"/>
            <a:ext cx="2286007" cy="1714505"/>
          </a:xfrm>
          <a:prstGeom prst="ellipse">
            <a:avLst/>
          </a:prstGeom>
          <a:noFill/>
          <a:ln cap="flat" cmpd="sng" w="15225">
            <a:solidFill>
              <a:srgbClr val="1A1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2428882" y="928691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EADAD5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9"/>
          <p:cNvSpPr/>
          <p:nvPr/>
        </p:nvSpPr>
        <p:spPr>
          <a:xfrm>
            <a:off x="2543183" y="1042991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9"/>
          <p:cNvSpPr txBox="1"/>
          <p:nvPr/>
        </p:nvSpPr>
        <p:spPr>
          <a:xfrm>
            <a:off x="2543183" y="1042991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 txBox="1"/>
          <p:nvPr/>
        </p:nvSpPr>
        <p:spPr>
          <a:xfrm>
            <a:off x="2814647" y="1042991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 txBox="1"/>
          <p:nvPr/>
        </p:nvSpPr>
        <p:spPr>
          <a:xfrm>
            <a:off x="2571758" y="1328742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Scan the target. Build a picture of what’s there.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4714890" y="928691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DFE0E1"/>
          </a:solidFill>
          <a:ln cap="flat" cmpd="sng" w="1905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9"/>
          <p:cNvSpPr/>
          <p:nvPr/>
        </p:nvSpPr>
        <p:spPr>
          <a:xfrm>
            <a:off x="4829191" y="1042991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9"/>
          <p:cNvSpPr txBox="1"/>
          <p:nvPr/>
        </p:nvSpPr>
        <p:spPr>
          <a:xfrm>
            <a:off x="4829191" y="1042991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 txBox="1"/>
          <p:nvPr/>
        </p:nvSpPr>
        <p:spPr>
          <a:xfrm>
            <a:off x="5100654" y="1042991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 txBox="1"/>
          <p:nvPr/>
        </p:nvSpPr>
        <p:spPr>
          <a:xfrm>
            <a:off x="4857766" y="1328742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Decide what to attack next — using the dependency graph.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4714890" y="2643196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EDE3D5"/>
          </a:solidFill>
          <a:ln cap="flat" cmpd="sng" w="19050">
            <a:solidFill>
              <a:srgbClr val="A0631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9"/>
          <p:cNvSpPr/>
          <p:nvPr/>
        </p:nvSpPr>
        <p:spPr>
          <a:xfrm>
            <a:off x="4829191" y="2757497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A06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9"/>
          <p:cNvSpPr txBox="1"/>
          <p:nvPr/>
        </p:nvSpPr>
        <p:spPr>
          <a:xfrm>
            <a:off x="4829191" y="2757497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5100654" y="2757497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9"/>
          <p:cNvSpPr txBox="1"/>
          <p:nvPr/>
        </p:nvSpPr>
        <p:spPr>
          <a:xfrm>
            <a:off x="4857766" y="3043247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Send in a specialist agent. Run the attempt.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2428882" y="2643196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DEE4DA"/>
          </a:solidFill>
          <a:ln cap="flat" cmpd="sng" w="19050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9"/>
          <p:cNvSpPr/>
          <p:nvPr/>
        </p:nvSpPr>
        <p:spPr>
          <a:xfrm>
            <a:off x="2543183" y="2757497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9"/>
          <p:cNvSpPr txBox="1"/>
          <p:nvPr/>
        </p:nvSpPr>
        <p:spPr>
          <a:xfrm>
            <a:off x="2543183" y="2757497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 txBox="1"/>
          <p:nvPr/>
        </p:nvSpPr>
        <p:spPr>
          <a:xfrm>
            <a:off x="2814647" y="2757497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 txBox="1"/>
          <p:nvPr/>
        </p:nvSpPr>
        <p:spPr>
          <a:xfrm>
            <a:off x="2571758" y="3043247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it work? Update the graph. Store the lesson. Repeat.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9"/>
          <p:cNvSpPr txBox="1"/>
          <p:nvPr/>
        </p:nvSpPr>
        <p:spPr>
          <a:xfrm>
            <a:off x="3571886" y="2071694"/>
            <a:ext cx="2000257" cy="428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Playfair Display"/>
              <a:buNone/>
            </a:pPr>
            <a:r>
              <a:rPr b="1" i="1" lang="en" sz="13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VDG drives the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 rot="5400000">
            <a:off x="4500577" y="1357317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9"/>
          <p:cNvSpPr/>
          <p:nvPr/>
        </p:nvSpPr>
        <p:spPr>
          <a:xfrm rot="10800000">
            <a:off x="5643580" y="2214569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9"/>
          <p:cNvSpPr/>
          <p:nvPr/>
        </p:nvSpPr>
        <p:spPr>
          <a:xfrm rot="-5400000">
            <a:off x="4500577" y="3071822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9"/>
          <p:cNvSpPr/>
          <p:nvPr/>
        </p:nvSpPr>
        <p:spPr>
          <a:xfrm>
            <a:off x="3357573" y="2214569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9"/>
          <p:cNvSpPr txBox="1"/>
          <p:nvPr/>
        </p:nvSpPr>
        <p:spPr>
          <a:xfrm>
            <a:off x="571502" y="3929075"/>
            <a:ext cx="428627" cy="285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3CF"/>
              </a:buClr>
              <a:buSzPts val="2000"/>
              <a:buFont typeface="IBM Plex Mono"/>
              <a:buNone/>
            </a:pPr>
            <a:r>
              <a:rPr b="1" lang="en" sz="2000">
                <a:solidFill>
                  <a:schemeClr val="accent3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b="1" i="0" lang="en" sz="2000" u="none" cap="none" strike="noStrike">
                <a:solidFill>
                  <a:schemeClr val="accent3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1" i="0" sz="2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1143004" y="3929075"/>
            <a:ext cx="32146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Clean Slate per Attempt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9"/>
          <p:cNvSpPr txBox="1"/>
          <p:nvPr/>
        </p:nvSpPr>
        <p:spPr>
          <a:xfrm>
            <a:off x="1143004" y="4157676"/>
            <a:ext cx="3214698" cy="4286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attack attempt runs with fresh context — no leftover noise from previous steps.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9"/>
          <p:cNvSpPr txBox="1"/>
          <p:nvPr/>
        </p:nvSpPr>
        <p:spPr>
          <a:xfrm>
            <a:off x="4786327" y="3929075"/>
            <a:ext cx="428626" cy="285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3CF"/>
              </a:buClr>
              <a:buSzPts val="2000"/>
              <a:buFont typeface="IBM Plex Mono"/>
              <a:buNone/>
            </a:pPr>
            <a:r>
              <a:rPr b="1" i="0" lang="en" sz="2000" u="none" cap="none" strike="noStrike">
                <a:solidFill>
                  <a:schemeClr val="accent3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9"/>
          <p:cNvSpPr txBox="1"/>
          <p:nvPr/>
        </p:nvSpPr>
        <p:spPr>
          <a:xfrm>
            <a:off x="5357830" y="3929075"/>
            <a:ext cx="32146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Facts vs. Guesses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 txBox="1"/>
          <p:nvPr/>
        </p:nvSpPr>
        <p:spPr>
          <a:xfrm>
            <a:off x="5357830" y="4157676"/>
            <a:ext cx="3214698" cy="4286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the agent confirmed is kept strictly separate from what it infers.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29"/>
          <p:cNvCxnSpPr/>
          <p:nvPr/>
        </p:nvCxnSpPr>
        <p:spPr>
          <a:xfrm>
            <a:off x="0" y="4886341"/>
            <a:ext cx="9144029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9"/>
          <p:cNvSpPr txBox="1"/>
          <p:nvPr/>
        </p:nvSpPr>
        <p:spPr>
          <a:xfrm>
            <a:off x="7858151" y="5000641"/>
            <a:ext cx="71437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/ 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0" y="5122085"/>
            <a:ext cx="640082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