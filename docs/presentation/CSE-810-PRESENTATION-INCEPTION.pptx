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5"/>
    <p:sldMasterId id="214748366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y="5143500" cx="9144000"/>
  <p:notesSz cx="6858000" cy="9144000"/>
  <p:embeddedFontLst>
    <p:embeddedFont>
      <p:font typeface="Playfair Display"/>
      <p:regular r:id="rId28"/>
      <p:bold r:id="rId29"/>
      <p:italic r:id="rId30"/>
      <p:boldItalic r:id="rId31"/>
    </p:embeddedFont>
    <p:embeddedFont>
      <p:font typeface="Source Sans 3"/>
      <p:regular r:id="rId32"/>
      <p:bold r:id="rId33"/>
      <p:italic r:id="rId34"/>
      <p:boldItalic r:id="rId35"/>
    </p:embeddedFont>
    <p:embeddedFont>
      <p:font typeface="IBM Plex Mono"/>
      <p:regular r:id="rId36"/>
      <p:bold r:id="rId37"/>
      <p:italic r:id="rId38"/>
      <p:boldItalic r:id="rId3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3AB41EE-A7D9-4358-8991-11DD2C65E132}">
  <a:tblStyle styleId="{73AB41EE-A7D9-4358-8991-11DD2C65E13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font" Target="fonts/PlayfairDisplay-regular.fntdata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font" Target="fonts/PlayfairDisplay-bold.fntdata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font" Target="fonts/PlayfairDisplay-boldItalic.fntdata"/><Relationship Id="rId30" Type="http://schemas.openxmlformats.org/officeDocument/2006/relationships/font" Target="fonts/PlayfairDisplay-italic.fntdata"/><Relationship Id="rId11" Type="http://schemas.openxmlformats.org/officeDocument/2006/relationships/slide" Target="slides/slide4.xml"/><Relationship Id="rId33" Type="http://schemas.openxmlformats.org/officeDocument/2006/relationships/font" Target="fonts/SourceSans3-bold.fntdata"/><Relationship Id="rId10" Type="http://schemas.openxmlformats.org/officeDocument/2006/relationships/slide" Target="slides/slide3.xml"/><Relationship Id="rId32" Type="http://schemas.openxmlformats.org/officeDocument/2006/relationships/font" Target="fonts/SourceSans3-regular.fntdata"/><Relationship Id="rId13" Type="http://schemas.openxmlformats.org/officeDocument/2006/relationships/slide" Target="slides/slide6.xml"/><Relationship Id="rId35" Type="http://schemas.openxmlformats.org/officeDocument/2006/relationships/font" Target="fonts/SourceSans3-boldItalic.fntdata"/><Relationship Id="rId12" Type="http://schemas.openxmlformats.org/officeDocument/2006/relationships/slide" Target="slides/slide5.xml"/><Relationship Id="rId34" Type="http://schemas.openxmlformats.org/officeDocument/2006/relationships/font" Target="fonts/SourceSans3-italic.fntdata"/><Relationship Id="rId15" Type="http://schemas.openxmlformats.org/officeDocument/2006/relationships/slide" Target="slides/slide8.xml"/><Relationship Id="rId37" Type="http://schemas.openxmlformats.org/officeDocument/2006/relationships/font" Target="fonts/IBMPlexMono-bold.fntdata"/><Relationship Id="rId14" Type="http://schemas.openxmlformats.org/officeDocument/2006/relationships/slide" Target="slides/slide7.xml"/><Relationship Id="rId36" Type="http://schemas.openxmlformats.org/officeDocument/2006/relationships/font" Target="fonts/IBMPlexMono-regular.fntdata"/><Relationship Id="rId17" Type="http://schemas.openxmlformats.org/officeDocument/2006/relationships/slide" Target="slides/slide10.xml"/><Relationship Id="rId39" Type="http://schemas.openxmlformats.org/officeDocument/2006/relationships/font" Target="fonts/IBMPlexMono-boldItalic.fntdata"/><Relationship Id="rId16" Type="http://schemas.openxmlformats.org/officeDocument/2006/relationships/slide" Target="slides/slide9.xml"/><Relationship Id="rId38" Type="http://schemas.openxmlformats.org/officeDocument/2006/relationships/font" Target="fonts/IBMPlexMono-italic.fntdata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" name="Google Shape;54;p1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5" name="Google Shape;55;p1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p2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8" name="Google Shape;78;p2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3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8" name="Google Shape;98;p3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4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p4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8" name="Google Shape;178;p4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5:notes"/>
          <p:cNvSpPr/>
          <p:nvPr>
            <p:ph idx="2" type="sldImg"/>
          </p:nvPr>
        </p:nvSpPr>
        <p:spPr>
          <a:xfrm>
            <a:off x="685727" y="857273"/>
            <a:ext cx="5486546" cy="231463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5" name="Google Shape;205;p5:notes"/>
          <p:cNvSpPr txBox="1"/>
          <p:nvPr>
            <p:ph idx="1" type="body"/>
          </p:nvPr>
        </p:nvSpPr>
        <p:spPr>
          <a:xfrm>
            <a:off x="685800" y="3300500"/>
            <a:ext cx="5486400" cy="27004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6" name="Google Shape;206;p5:notes"/>
          <p:cNvSpPr txBox="1"/>
          <p:nvPr>
            <p:ph idx="12" type="sldNum"/>
          </p:nvPr>
        </p:nvSpPr>
        <p:spPr>
          <a:xfrm>
            <a:off x="3884613" y="6514083"/>
            <a:ext cx="2971800" cy="34409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6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5" name="Google Shape;245;p6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6" name="Google Shape;246;p6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7:notes"/>
          <p:cNvSpPr/>
          <p:nvPr>
            <p:ph idx="2" type="sldImg"/>
          </p:nvPr>
        </p:nvSpPr>
        <p:spPr>
          <a:xfrm>
            <a:off x="685727" y="857273"/>
            <a:ext cx="5486546" cy="231463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1" name="Google Shape;291;p7:notes"/>
          <p:cNvSpPr txBox="1"/>
          <p:nvPr>
            <p:ph idx="1" type="body"/>
          </p:nvPr>
        </p:nvSpPr>
        <p:spPr>
          <a:xfrm>
            <a:off x="685800" y="3300500"/>
            <a:ext cx="5486400" cy="27004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2" name="Google Shape;292;p7:notes"/>
          <p:cNvSpPr txBox="1"/>
          <p:nvPr>
            <p:ph idx="12" type="sldNum"/>
          </p:nvPr>
        </p:nvSpPr>
        <p:spPr>
          <a:xfrm>
            <a:off x="3884613" y="6514083"/>
            <a:ext cx="2971800" cy="34409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8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6" name="Google Shape;326;p8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27" name="Google Shape;327;p8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9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9" name="Google Shape;339;p9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40" name="Google Shape;340;p9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4" name="Google Shape;374;p1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75" name="Google Shape;375;p1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11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8" name="Google Shape;438;p11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39" name="Google Shape;439;p11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12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5" name="Google Shape;475;p12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76" name="Google Shape;476;p12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5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13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7" name="Google Shape;507;p13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08" name="Google Shape;508;p13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3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14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5" name="Google Shape;545;p14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46" name="Google Shape;546;p14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9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15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1" name="Google Shape;581;p15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82" name="Google Shape;582;p15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16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3" name="Google Shape;623;p16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4" name="Google Shape;624;p16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p17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p17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53" name="Google Shape;653;p17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p18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p18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95" name="Google Shape;695;p18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9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5" name="Google Shape;725;p19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26" name="Google Shape;726;p19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p2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2" name="Google Shape;772;p2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73" name="Google Shape;773;p2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" name="Google Shape;2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1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1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3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11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10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6.png"/><Relationship Id="rId5" Type="http://schemas.openxmlformats.org/officeDocument/2006/relationships/image" Target="../media/image9.png"/><Relationship Id="rId6" Type="http://schemas.openxmlformats.org/officeDocument/2006/relationships/image" Target="../media/image8.png"/><Relationship Id="rId7" Type="http://schemas.openxmlformats.org/officeDocument/2006/relationships/image" Target="../media/image7.png"/><Relationship Id="rId8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ogo-university.png" id="58" name="Google Shape;58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2900" y="285750"/>
            <a:ext cx="289627" cy="371475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15"/>
          <p:cNvSpPr txBox="1"/>
          <p:nvPr/>
        </p:nvSpPr>
        <p:spPr>
          <a:xfrm>
            <a:off x="57150" y="571500"/>
            <a:ext cx="90868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900"/>
              <a:buFont typeface="Calibri"/>
              <a:buNone/>
            </a:pPr>
            <a:r>
              <a:rPr b="1" i="0" lang="en" sz="1200" u="none" cap="none" strike="noStrike">
                <a:solidFill>
                  <a:srgbClr val="6B6B7A"/>
                </a:solidFill>
                <a:latin typeface="Calibri"/>
                <a:ea typeface="Calibri"/>
                <a:cs typeface="Calibri"/>
                <a:sym typeface="Calibri"/>
              </a:rPr>
              <a:t>PROFESSIONAL MASTERS IN INFORMATION AND CYBER SECURITY (PMICS)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15"/>
          <p:cNvSpPr txBox="1"/>
          <p:nvPr/>
        </p:nvSpPr>
        <p:spPr>
          <a:xfrm>
            <a:off x="57150" y="742950"/>
            <a:ext cx="908685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800"/>
              <a:buFont typeface="Courier New"/>
              <a:buNone/>
            </a:pPr>
            <a:r>
              <a:rPr b="1" i="0" lang="en" sz="1200" u="none" cap="none" strike="noStrike">
                <a:solidFill>
                  <a:srgbClr val="2E4A7A"/>
                </a:solidFill>
                <a:latin typeface="Courier New"/>
                <a:ea typeface="Courier New"/>
                <a:cs typeface="Courier New"/>
                <a:sym typeface="Courier New"/>
              </a:rPr>
              <a:t>CSE 810: PROJECT ON CYBER SECURITY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15"/>
          <p:cNvSpPr/>
          <p:nvPr/>
        </p:nvSpPr>
        <p:spPr>
          <a:xfrm>
            <a:off x="3464719" y="928688"/>
            <a:ext cx="2214563" cy="185738"/>
          </a:xfrm>
          <a:prstGeom prst="roundRect">
            <a:avLst>
              <a:gd fmla="val 14769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15"/>
          <p:cNvSpPr txBox="1"/>
          <p:nvPr/>
        </p:nvSpPr>
        <p:spPr>
          <a:xfrm>
            <a:off x="3464719" y="928688"/>
            <a:ext cx="22146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4F1A"/>
              </a:buClr>
              <a:buSzPts val="700"/>
              <a:buFont typeface="Calibri"/>
              <a:buNone/>
            </a:pPr>
            <a:r>
              <a:rPr b="1" i="0" lang="en" sz="1000" u="none" cap="none" strike="noStrike">
                <a:solidFill>
                  <a:srgbClr val="7A4F1A"/>
                </a:solidFill>
                <a:latin typeface="Calibri"/>
                <a:ea typeface="Calibri"/>
                <a:cs typeface="Calibri"/>
                <a:sym typeface="Calibri"/>
              </a:rPr>
              <a:t>INCEPTION STAGE  ·  SEPTEMBER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15"/>
          <p:cNvSpPr txBox="1"/>
          <p:nvPr/>
        </p:nvSpPr>
        <p:spPr>
          <a:xfrm>
            <a:off x="57150" y="1314450"/>
            <a:ext cx="9086850" cy="6429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4500"/>
              <a:buFont typeface="Cambria"/>
              <a:buNone/>
            </a:pPr>
            <a:r>
              <a:rPr b="1" i="0" lang="en" sz="45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RedGrid</a:t>
            </a:r>
            <a:endParaRPr i="0" sz="4500" u="none" cap="none" strike="noStrike">
              <a:solidFill>
                <a:schemeClr val="dk1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  <p:cxnSp>
        <p:nvCxnSpPr>
          <p:cNvPr id="64" name="Google Shape;64;p15"/>
          <p:cNvCxnSpPr/>
          <p:nvPr/>
        </p:nvCxnSpPr>
        <p:spPr>
          <a:xfrm>
            <a:off x="3286125" y="2014538"/>
            <a:ext cx="2571750" cy="0"/>
          </a:xfrm>
          <a:prstGeom prst="straightConnector1">
            <a:avLst/>
          </a:prstGeom>
          <a:noFill/>
          <a:ln cap="flat" cmpd="sng" w="1905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" name="Google Shape;65;p15"/>
          <p:cNvSpPr txBox="1"/>
          <p:nvPr/>
        </p:nvSpPr>
        <p:spPr>
          <a:xfrm>
            <a:off x="285750" y="2114550"/>
            <a:ext cx="85725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Dependency-Constrained UCB Exploration for Autonomous Penetration Testing</a:t>
            </a:r>
            <a:endParaRPr b="1" i="0" sz="1400" u="none" cap="none" strike="noStrike">
              <a:solidFill>
                <a:schemeClr val="dk1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57150" y="2728913"/>
            <a:ext cx="9086850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Calibri"/>
              <a:buNone/>
            </a:pPr>
            <a:r>
              <a:rPr b="1" i="0" lang="en" sz="900" u="none" cap="none" strike="noStrike">
                <a:solidFill>
                  <a:srgbClr val="2E4A7A"/>
                </a:solidFill>
                <a:latin typeface="Calibri"/>
                <a:ea typeface="Calibri"/>
                <a:cs typeface="Calibri"/>
                <a:sym typeface="Calibri"/>
              </a:rPr>
              <a:t>PRESENTED BY</a:t>
            </a:r>
            <a:endParaRPr b="0" i="0" sz="900" u="none" cap="none" strike="noStrike">
              <a:solidFill>
                <a:srgbClr val="2E4A7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7" name="Google Shape;67;p15"/>
          <p:cNvGraphicFramePr/>
          <p:nvPr/>
        </p:nvGraphicFramePr>
        <p:xfrm>
          <a:off x="3000375" y="292893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{73AB41EE-A7D9-4358-8991-11DD2C65E132}</a:tableStyleId>
              </a:tblPr>
              <a:tblGrid>
                <a:gridCol w="1571625"/>
                <a:gridCol w="785800"/>
                <a:gridCol w="785800"/>
              </a:tblGrid>
              <a:tr h="1714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A9AAA"/>
                        </a:buClr>
                        <a:buSzPts val="700"/>
                        <a:buFont typeface="Calibri"/>
                        <a:buNone/>
                      </a:pPr>
                      <a:r>
                        <a:rPr b="1" lang="en" sz="900" u="none" cap="none" strike="noStrike">
                          <a:solidFill>
                            <a:schemeClr val="dk1"/>
                          </a:solidFill>
                        </a:rPr>
                        <a:t>Name</a:t>
                      </a:r>
                      <a:endParaRPr sz="9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A9AAA"/>
                        </a:buClr>
                        <a:buSzPts val="700"/>
                        <a:buFont typeface="Calibri"/>
                        <a:buNone/>
                      </a:pPr>
                      <a:r>
                        <a:rPr b="1" lang="en" sz="900" u="none" cap="none" strike="noStrike">
                          <a:solidFill>
                            <a:schemeClr val="dk1"/>
                          </a:solidFill>
                        </a:rPr>
                        <a:t>Class Roll</a:t>
                      </a:r>
                      <a:endParaRPr sz="9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A9AAA"/>
                        </a:buClr>
                        <a:buSzPts val="700"/>
                        <a:buFont typeface="Calibri"/>
                        <a:buNone/>
                      </a:pPr>
                      <a:r>
                        <a:rPr b="1" lang="en" sz="900" u="none" cap="none" strike="noStrike">
                          <a:solidFill>
                            <a:schemeClr val="dk1"/>
                          </a:solidFill>
                        </a:rPr>
                        <a:t>Reg No</a:t>
                      </a:r>
                      <a:endParaRPr sz="9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</a:tr>
              <a:tr h="1714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8B1A1A"/>
                        </a:buClr>
                        <a:buSzPts val="900"/>
                        <a:buFont typeface="Calibri"/>
                        <a:buNone/>
                      </a:pPr>
                      <a:r>
                        <a:rPr b="1" lang="en" sz="900" u="none" cap="none" strike="noStrike">
                          <a:solidFill>
                            <a:srgbClr val="8B1A1A"/>
                          </a:solidFill>
                        </a:rPr>
                        <a:t>Nishan Paul</a:t>
                      </a:r>
                      <a:endParaRPr sz="9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</a:rPr>
                        <a:t>50028</a:t>
                      </a:r>
                      <a:endParaRPr sz="9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</a:rPr>
                        <a:t>H-55</a:t>
                      </a:r>
                      <a:endParaRPr sz="9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14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8B1A1A"/>
                        </a:buClr>
                        <a:buSzPts val="900"/>
                        <a:buFont typeface="Calibri"/>
                        <a:buNone/>
                      </a:pPr>
                      <a:r>
                        <a:rPr b="1" lang="en" sz="900" u="none" cap="none" strike="noStrike">
                          <a:solidFill>
                            <a:srgbClr val="8B1A1A"/>
                          </a:solidFill>
                        </a:rPr>
                        <a:t>Md Rakibur Rahman</a:t>
                      </a:r>
                      <a:endParaRPr sz="9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</a:rPr>
                        <a:t>50040</a:t>
                      </a:r>
                      <a:endParaRPr sz="9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</a:rPr>
                        <a:t>H-49</a:t>
                      </a:r>
                      <a:endParaRPr sz="9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8" name="Google Shape;68;p15"/>
          <p:cNvSpPr/>
          <p:nvPr/>
        </p:nvSpPr>
        <p:spPr>
          <a:xfrm>
            <a:off x="3286125" y="3836194"/>
            <a:ext cx="2571750" cy="1143000"/>
          </a:xfrm>
          <a:prstGeom prst="rect">
            <a:avLst/>
          </a:prstGeom>
          <a:solidFill>
            <a:srgbClr val="EFEBE3"/>
          </a:solidFill>
          <a:ln>
            <a:noFill/>
          </a:ln>
          <a:effectLst>
            <a:outerShdw blurRad="76200" rotWithShape="0" algn="bl" dir="5400000" dist="38100">
              <a:srgbClr val="000000">
                <a:alpha val="5098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5"/>
          <p:cNvSpPr/>
          <p:nvPr/>
        </p:nvSpPr>
        <p:spPr>
          <a:xfrm>
            <a:off x="3286125" y="3836194"/>
            <a:ext cx="2571750" cy="21431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5"/>
          <p:cNvSpPr txBox="1"/>
          <p:nvPr/>
        </p:nvSpPr>
        <p:spPr>
          <a:xfrm>
            <a:off x="3286125" y="3979069"/>
            <a:ext cx="2571750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Calibri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Calibri"/>
                <a:ea typeface="Calibri"/>
                <a:cs typeface="Calibri"/>
                <a:sym typeface="Calibri"/>
              </a:rPr>
              <a:t>SUPERVISOR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3286125" y="4164806"/>
            <a:ext cx="2571750" cy="1857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Cambria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Dr. Md. Abdur Razzaque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15"/>
          <p:cNvSpPr txBox="1"/>
          <p:nvPr/>
        </p:nvSpPr>
        <p:spPr>
          <a:xfrm>
            <a:off x="3286125" y="4393406"/>
            <a:ext cx="2571750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800"/>
              <a:buFont typeface="Calibri"/>
              <a:buNone/>
            </a:pPr>
            <a:r>
              <a:rPr b="1" i="0" lang="en" sz="900" u="none" cap="none" strike="noStrike">
                <a:solidFill>
                  <a:srgbClr val="2E4A7A"/>
                </a:solidFill>
                <a:latin typeface="Calibri"/>
                <a:ea typeface="Calibri"/>
                <a:cs typeface="Calibri"/>
                <a:sym typeface="Calibri"/>
              </a:rPr>
              <a:t>Professor and Chair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15"/>
          <p:cNvSpPr txBox="1"/>
          <p:nvPr/>
        </p:nvSpPr>
        <p:spPr>
          <a:xfrm>
            <a:off x="3286125" y="4550569"/>
            <a:ext cx="2571750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Department of Computer Science and Engineering</a:t>
            </a:r>
            <a:endParaRPr b="1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5"/>
          <p:cNvSpPr txBox="1"/>
          <p:nvPr/>
        </p:nvSpPr>
        <p:spPr>
          <a:xfrm>
            <a:off x="3286025" y="4707744"/>
            <a:ext cx="2571900" cy="9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Calibri"/>
              <a:buNone/>
            </a:pPr>
            <a:r>
              <a:rPr b="1" i="0" lang="en" sz="900" u="none" cap="none" strike="noStrike">
                <a:solidFill>
                  <a:srgbClr val="2E4A7A"/>
                </a:solidFill>
                <a:latin typeface="Calibri"/>
                <a:ea typeface="Calibri"/>
                <a:cs typeface="Calibri"/>
                <a:sym typeface="Calibri"/>
              </a:rPr>
              <a:t>U</a:t>
            </a:r>
            <a:r>
              <a:rPr b="1" lang="en" sz="900">
                <a:solidFill>
                  <a:srgbClr val="2E4A7A"/>
                </a:solidFill>
                <a:latin typeface="Calibri"/>
                <a:ea typeface="Calibri"/>
                <a:cs typeface="Calibri"/>
                <a:sym typeface="Calibri"/>
              </a:rPr>
              <a:t>niversity</a:t>
            </a:r>
            <a:r>
              <a:rPr b="1" i="0" lang="en" sz="900" u="none" cap="none" strike="noStrike">
                <a:solidFill>
                  <a:srgbClr val="2E4A7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 sz="900">
                <a:solidFill>
                  <a:srgbClr val="2E4A7A"/>
                </a:solidFill>
                <a:latin typeface="Calibri"/>
                <a:ea typeface="Calibri"/>
                <a:cs typeface="Calibri"/>
                <a:sym typeface="Calibri"/>
              </a:rPr>
              <a:t>of</a:t>
            </a:r>
            <a:r>
              <a:rPr b="1" i="0" lang="en" sz="900" u="none" cap="none" strike="noStrike">
                <a:solidFill>
                  <a:srgbClr val="2E4A7A"/>
                </a:solidFill>
                <a:latin typeface="Calibri"/>
                <a:ea typeface="Calibri"/>
                <a:cs typeface="Calibri"/>
                <a:sym typeface="Calibri"/>
              </a:rPr>
              <a:t> D</a:t>
            </a:r>
            <a:r>
              <a:rPr b="1" lang="en" sz="900">
                <a:solidFill>
                  <a:srgbClr val="2E4A7A"/>
                </a:solidFill>
                <a:latin typeface="Calibri"/>
                <a:ea typeface="Calibri"/>
                <a:cs typeface="Calibri"/>
                <a:sym typeface="Calibri"/>
              </a:rPr>
              <a:t>haka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/>
        </p:nvSpPr>
        <p:spPr>
          <a:xfrm>
            <a:off x="571500" y="428625"/>
            <a:ext cx="8001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Why This Matters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6"/>
          <p:cNvSpPr/>
          <p:nvPr/>
        </p:nvSpPr>
        <p:spPr>
          <a:xfrm>
            <a:off x="571500" y="878681"/>
            <a:ext cx="440055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6"/>
          <p:cNvSpPr txBox="1"/>
          <p:nvPr/>
        </p:nvSpPr>
        <p:spPr>
          <a:xfrm>
            <a:off x="571500" y="1089422"/>
            <a:ext cx="464058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Source Sans 3"/>
              <a:buNone/>
            </a:pPr>
            <a:r>
              <a:rPr b="1" i="0" lang="en" sz="1100" u="none" cap="none" strike="noStrike">
                <a:solidFill>
                  <a:srgbClr val="9A9AAA"/>
                </a:solidFill>
                <a:latin typeface="Source Sans 3"/>
                <a:ea typeface="Source Sans 3"/>
                <a:cs typeface="Source Sans 3"/>
                <a:sym typeface="Source Sans 3"/>
              </a:rPr>
              <a:t>PROJECT MOTIVATION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16"/>
          <p:cNvSpPr txBox="1"/>
          <p:nvPr/>
        </p:nvSpPr>
        <p:spPr>
          <a:xfrm>
            <a:off x="571500" y="1375172"/>
            <a:ext cx="4640580" cy="9572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800"/>
              <a:buFont typeface="Playfair Display"/>
              <a:buNone/>
            </a:pPr>
            <a:r>
              <a:rPr b="0" i="1" lang="en" sz="18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“Attackers move fast. Defenders move slow. Automated testers don’t move at all.”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6"/>
          <p:cNvSpPr txBox="1"/>
          <p:nvPr/>
        </p:nvSpPr>
        <p:spPr>
          <a:xfrm>
            <a:off x="571500" y="2503885"/>
            <a:ext cx="46405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0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Security vulnerabilities are found daily in web apps, APIs, and networks. Human pen testers are scarce and expensive. Automated scanners use fixed rule-sets — they cannot reason, adapt, or chain exploits.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6"/>
          <p:cNvSpPr/>
          <p:nvPr/>
        </p:nvSpPr>
        <p:spPr>
          <a:xfrm>
            <a:off x="571500" y="3589735"/>
            <a:ext cx="4640580" cy="1007269"/>
          </a:xfrm>
          <a:prstGeom prst="rect">
            <a:avLst/>
          </a:prstGeom>
          <a:solidFill>
            <a:srgbClr val="F2EAD9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6"/>
          <p:cNvSpPr/>
          <p:nvPr/>
        </p:nvSpPr>
        <p:spPr>
          <a:xfrm>
            <a:off x="571500" y="3589735"/>
            <a:ext cx="28575" cy="1007269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6"/>
          <p:cNvSpPr txBox="1"/>
          <p:nvPr/>
        </p:nvSpPr>
        <p:spPr>
          <a:xfrm>
            <a:off x="771525" y="3732610"/>
            <a:ext cx="424053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4F1A"/>
              </a:buClr>
              <a:buSzPts val="1000"/>
              <a:buFont typeface="Source Sans 3"/>
              <a:buNone/>
            </a:pPr>
            <a:r>
              <a:rPr b="1" i="0" lang="en" sz="1000" u="none" cap="none" strike="noStrike">
                <a:solidFill>
                  <a:srgbClr val="7A4F1A"/>
                </a:solidFill>
                <a:latin typeface="Source Sans 3"/>
                <a:ea typeface="Source Sans 3"/>
                <a:cs typeface="Source Sans 3"/>
                <a:sym typeface="Source Sans 3"/>
              </a:rPr>
              <a:t>The question: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6"/>
          <p:cNvSpPr txBox="1"/>
          <p:nvPr/>
        </p:nvSpPr>
        <p:spPr>
          <a:xfrm>
            <a:off x="771525" y="3904060"/>
            <a:ext cx="4240530" cy="6072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0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Can an LLM agent carry out penetration testing autonomously — without step-by-step human direction?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graph.png" id="89" name="Google Shape;89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97830" y="1439466"/>
            <a:ext cx="3074670" cy="257175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6"/>
          <p:cNvSpPr/>
          <p:nvPr/>
        </p:nvSpPr>
        <p:spPr>
          <a:xfrm>
            <a:off x="5497830" y="1439466"/>
            <a:ext cx="3074670" cy="2571750"/>
          </a:xfrm>
          <a:prstGeom prst="roundRect">
            <a:avLst>
              <a:gd fmla="val 1111" name="adj"/>
            </a:avLst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6"/>
          <p:cNvSpPr txBox="1"/>
          <p:nvPr/>
        </p:nvSpPr>
        <p:spPr>
          <a:xfrm>
            <a:off x="5497830" y="4125516"/>
            <a:ext cx="3074670" cy="121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Source Sans 3"/>
              <a:buNone/>
            </a:pPr>
            <a:r>
              <a:rPr b="1" i="0" lang="en" sz="700" u="none" cap="none" strike="noStrike">
                <a:solidFill>
                  <a:srgbClr val="9A9AAA"/>
                </a:solidFill>
                <a:latin typeface="Source Sans 3"/>
                <a:ea typeface="Source Sans 3"/>
                <a:cs typeface="Source Sans 3"/>
                <a:sym typeface="Source Sans 3"/>
              </a:rPr>
              <a:t>ATTACK SURFACE EXPLORATION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2" name="Google Shape;92;p16"/>
          <p:cNvCxnSpPr/>
          <p:nvPr/>
        </p:nvCxnSpPr>
        <p:spPr>
          <a:xfrm>
            <a:off x="0" y="4886325"/>
            <a:ext cx="9144000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3" name="Google Shape;93;p16"/>
          <p:cNvSpPr txBox="1"/>
          <p:nvPr/>
        </p:nvSpPr>
        <p:spPr>
          <a:xfrm>
            <a:off x="7715250" y="4957763"/>
            <a:ext cx="85725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6"/>
          <p:cNvSpPr/>
          <p:nvPr/>
        </p:nvSpPr>
        <p:spPr>
          <a:xfrm>
            <a:off x="0" y="5122069"/>
            <a:ext cx="4572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7"/>
          <p:cNvSpPr txBox="1"/>
          <p:nvPr/>
        </p:nvSpPr>
        <p:spPr>
          <a:xfrm>
            <a:off x="571271" y="226314"/>
            <a:ext cx="44577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100"/>
              <a:buFont typeface="Playfair Display"/>
              <a:buNone/>
            </a:pPr>
            <a:r>
              <a:rPr b="1" i="0" lang="en" sz="2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Literature We Surveyed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7"/>
          <p:cNvSpPr/>
          <p:nvPr/>
        </p:nvSpPr>
        <p:spPr>
          <a:xfrm>
            <a:off x="571271" y="589788"/>
            <a:ext cx="2331720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7"/>
          <p:cNvSpPr/>
          <p:nvPr/>
        </p:nvSpPr>
        <p:spPr>
          <a:xfrm>
            <a:off x="571478" y="700065"/>
            <a:ext cx="200048" cy="200047"/>
          </a:xfrm>
          <a:prstGeom prst="ellipse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7"/>
          <p:cNvSpPr txBox="1"/>
          <p:nvPr/>
        </p:nvSpPr>
        <p:spPr>
          <a:xfrm>
            <a:off x="571478" y="700065"/>
            <a:ext cx="200048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Source Sans 3"/>
                <a:ea typeface="Source Sans 3"/>
                <a:cs typeface="Source Sans 3"/>
                <a:sym typeface="Source Sans 3"/>
              </a:rPr>
              <a:t>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7"/>
          <p:cNvSpPr txBox="1"/>
          <p:nvPr/>
        </p:nvSpPr>
        <p:spPr>
          <a:xfrm>
            <a:off x="859513" y="700065"/>
            <a:ext cx="1508760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Source Sans 3"/>
              <a:buNone/>
            </a:pPr>
            <a:r>
              <a:rPr b="1" i="0" lang="en" sz="700" u="none" cap="none" strike="noStrike">
                <a:solidFill>
                  <a:srgbClr val="2E4A7A"/>
                </a:solidFill>
                <a:latin typeface="Source Sans 3"/>
                <a:ea typeface="Source Sans 3"/>
                <a:cs typeface="Source Sans 3"/>
                <a:sym typeface="Source Sans 3"/>
              </a:rPr>
              <a:t>AGENT SYSTEMS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7"/>
          <p:cNvSpPr txBox="1"/>
          <p:nvPr/>
        </p:nvSpPr>
        <p:spPr>
          <a:xfrm>
            <a:off x="4217670" y="700065"/>
            <a:ext cx="1028700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IBM Plex Mono"/>
                <a:ea typeface="IBM Plex Mono"/>
                <a:cs typeface="IBM Plex Mono"/>
                <a:sym typeface="IBM Plex Mono"/>
              </a:rPr>
              <a:t>8 PAPERS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6" name="Google Shape;106;p17"/>
          <p:cNvCxnSpPr/>
          <p:nvPr/>
        </p:nvCxnSpPr>
        <p:spPr>
          <a:xfrm>
            <a:off x="571477" y="988101"/>
            <a:ext cx="4674892" cy="0"/>
          </a:xfrm>
          <a:prstGeom prst="straightConnector1">
            <a:avLst/>
          </a:prstGeom>
          <a:noFill/>
          <a:ln cap="flat" cmpd="sng" w="19050">
            <a:solidFill>
              <a:srgbClr val="1A1A2E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7" name="Google Shape;107;p17"/>
          <p:cNvCxnSpPr/>
          <p:nvPr/>
        </p:nvCxnSpPr>
        <p:spPr>
          <a:xfrm>
            <a:off x="5532142" y="700065"/>
            <a:ext cx="0" cy="4071938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8" name="Google Shape;108;p17"/>
          <p:cNvSpPr txBox="1"/>
          <p:nvPr/>
        </p:nvSpPr>
        <p:spPr>
          <a:xfrm>
            <a:off x="571478" y="1042965"/>
            <a:ext cx="228371" cy="466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7"/>
          <p:cNvSpPr txBox="1"/>
          <p:nvPr/>
        </p:nvSpPr>
        <p:spPr>
          <a:xfrm>
            <a:off x="799849" y="1042965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Fang 2024a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7"/>
          <p:cNvSpPr txBox="1"/>
          <p:nvPr/>
        </p:nvSpPr>
        <p:spPr>
          <a:xfrm>
            <a:off x="799849" y="1276030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Fang et al., 2024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7"/>
          <p:cNvSpPr txBox="1"/>
          <p:nvPr/>
        </p:nvSpPr>
        <p:spPr>
          <a:xfrm>
            <a:off x="2157047" y="1042965"/>
            <a:ext cx="3089323" cy="466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GPT-4 successfully exploits real web vulnerabilities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7"/>
          <p:cNvSpPr txBox="1"/>
          <p:nvPr/>
        </p:nvSpPr>
        <p:spPr>
          <a:xfrm>
            <a:off x="571478" y="1509095"/>
            <a:ext cx="228371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7"/>
          <p:cNvSpPr txBox="1"/>
          <p:nvPr/>
        </p:nvSpPr>
        <p:spPr>
          <a:xfrm>
            <a:off x="799849" y="1509095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Fang 2024b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7"/>
          <p:cNvSpPr txBox="1"/>
          <p:nvPr/>
        </p:nvSpPr>
        <p:spPr>
          <a:xfrm>
            <a:off x="799849" y="1742159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Fang et al., 2024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7"/>
          <p:cNvSpPr txBox="1"/>
          <p:nvPr/>
        </p:nvSpPr>
        <p:spPr>
          <a:xfrm>
            <a:off x="2157047" y="1509095"/>
            <a:ext cx="3089323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GPT-4 exploits one-day CVEs at 87% success with description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6" name="Google Shape;116;p17"/>
          <p:cNvCxnSpPr/>
          <p:nvPr/>
        </p:nvCxnSpPr>
        <p:spPr>
          <a:xfrm>
            <a:off x="571477" y="1509095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" name="Google Shape;117;p17"/>
          <p:cNvSpPr txBox="1"/>
          <p:nvPr/>
        </p:nvSpPr>
        <p:spPr>
          <a:xfrm>
            <a:off x="571478" y="1975224"/>
            <a:ext cx="228371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7"/>
          <p:cNvSpPr txBox="1"/>
          <p:nvPr/>
        </p:nvSpPr>
        <p:spPr>
          <a:xfrm>
            <a:off x="799849" y="1975224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HPTSA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7"/>
          <p:cNvSpPr txBox="1"/>
          <p:nvPr/>
        </p:nvSpPr>
        <p:spPr>
          <a:xfrm>
            <a:off x="799849" y="2208289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Zhu et al., 2024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7"/>
          <p:cNvSpPr txBox="1"/>
          <p:nvPr/>
        </p:nvSpPr>
        <p:spPr>
          <a:xfrm>
            <a:off x="2157047" y="1975224"/>
            <a:ext cx="3089323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Hierarchical multi-agent system for zero-day CVEs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1" name="Google Shape;121;p17"/>
          <p:cNvCxnSpPr/>
          <p:nvPr/>
        </p:nvCxnSpPr>
        <p:spPr>
          <a:xfrm>
            <a:off x="571477" y="1975224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2" name="Google Shape;122;p17"/>
          <p:cNvSpPr txBox="1"/>
          <p:nvPr/>
        </p:nvSpPr>
        <p:spPr>
          <a:xfrm>
            <a:off x="571478" y="2441353"/>
            <a:ext cx="228371" cy="466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7"/>
          <p:cNvSpPr txBox="1"/>
          <p:nvPr/>
        </p:nvSpPr>
        <p:spPr>
          <a:xfrm>
            <a:off x="799849" y="2441354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PentestGPT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7"/>
          <p:cNvSpPr txBox="1"/>
          <p:nvPr/>
        </p:nvSpPr>
        <p:spPr>
          <a:xfrm>
            <a:off x="799849" y="2674418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Deng et al., 2024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7"/>
          <p:cNvSpPr txBox="1"/>
          <p:nvPr/>
        </p:nvSpPr>
        <p:spPr>
          <a:xfrm>
            <a:off x="2157047" y="2441353"/>
            <a:ext cx="3089323" cy="466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Context loss is the dominant failure in long sessions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6" name="Google Shape;126;p17"/>
          <p:cNvCxnSpPr/>
          <p:nvPr/>
        </p:nvCxnSpPr>
        <p:spPr>
          <a:xfrm>
            <a:off x="571477" y="2441354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7" name="Google Shape;127;p17"/>
          <p:cNvSpPr txBox="1"/>
          <p:nvPr/>
        </p:nvSpPr>
        <p:spPr>
          <a:xfrm>
            <a:off x="571478" y="2907484"/>
            <a:ext cx="228371" cy="466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7"/>
          <p:cNvSpPr txBox="1"/>
          <p:nvPr/>
        </p:nvSpPr>
        <p:spPr>
          <a:xfrm>
            <a:off x="799849" y="2907484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VulnBot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7"/>
          <p:cNvSpPr txBox="1"/>
          <p:nvPr/>
        </p:nvSpPr>
        <p:spPr>
          <a:xfrm>
            <a:off x="799849" y="3140549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Kong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7"/>
          <p:cNvSpPr txBox="1"/>
          <p:nvPr/>
        </p:nvSpPr>
        <p:spPr>
          <a:xfrm>
            <a:off x="2157047" y="2907484"/>
            <a:ext cx="3089323" cy="466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Role-specialised multi-agent dispatch architecture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1" name="Google Shape;131;p17"/>
          <p:cNvCxnSpPr/>
          <p:nvPr/>
        </p:nvCxnSpPr>
        <p:spPr>
          <a:xfrm>
            <a:off x="571477" y="2907484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2" name="Google Shape;132;p17"/>
          <p:cNvSpPr txBox="1"/>
          <p:nvPr/>
        </p:nvSpPr>
        <p:spPr>
          <a:xfrm>
            <a:off x="571478" y="3373613"/>
            <a:ext cx="228371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7"/>
          <p:cNvSpPr txBox="1"/>
          <p:nvPr/>
        </p:nvSpPr>
        <p:spPr>
          <a:xfrm>
            <a:off x="799849" y="3373613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CHECKMATE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7"/>
          <p:cNvSpPr txBox="1"/>
          <p:nvPr/>
        </p:nvSpPr>
        <p:spPr>
          <a:xfrm>
            <a:off x="799849" y="3606678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Wang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7"/>
          <p:cNvSpPr txBox="1"/>
          <p:nvPr/>
        </p:nvSpPr>
        <p:spPr>
          <a:xfrm>
            <a:off x="2157047" y="3373613"/>
            <a:ext cx="3089323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Classical planning integrated with LLM agent execution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6" name="Google Shape;136;p17"/>
          <p:cNvCxnSpPr/>
          <p:nvPr/>
        </p:nvCxnSpPr>
        <p:spPr>
          <a:xfrm>
            <a:off x="571477" y="3373613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7" name="Google Shape;137;p17"/>
          <p:cNvSpPr txBox="1"/>
          <p:nvPr/>
        </p:nvSpPr>
        <p:spPr>
          <a:xfrm>
            <a:off x="571478" y="3839743"/>
            <a:ext cx="228371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7"/>
          <p:cNvSpPr txBox="1"/>
          <p:nvPr/>
        </p:nvSpPr>
        <p:spPr>
          <a:xfrm>
            <a:off x="799849" y="3839743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Incalmo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7"/>
          <p:cNvSpPr txBox="1"/>
          <p:nvPr/>
        </p:nvSpPr>
        <p:spPr>
          <a:xfrm>
            <a:off x="799849" y="4072808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Singer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7"/>
          <p:cNvSpPr txBox="1"/>
          <p:nvPr/>
        </p:nvSpPr>
        <p:spPr>
          <a:xfrm>
            <a:off x="2157047" y="3839743"/>
            <a:ext cx="3089323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Multi-host orchestration across Active Directory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1" name="Google Shape;141;p17"/>
          <p:cNvCxnSpPr/>
          <p:nvPr/>
        </p:nvCxnSpPr>
        <p:spPr>
          <a:xfrm>
            <a:off x="571477" y="3839743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2" name="Google Shape;142;p17"/>
          <p:cNvSpPr txBox="1"/>
          <p:nvPr/>
        </p:nvSpPr>
        <p:spPr>
          <a:xfrm>
            <a:off x="571478" y="4305872"/>
            <a:ext cx="228371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7"/>
          <p:cNvSpPr txBox="1"/>
          <p:nvPr/>
        </p:nvSpPr>
        <p:spPr>
          <a:xfrm>
            <a:off x="799849" y="4305872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PrediQL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7"/>
          <p:cNvSpPr txBox="1"/>
          <p:nvPr/>
        </p:nvSpPr>
        <p:spPr>
          <a:xfrm>
            <a:off x="799849" y="4538937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Liu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 txBox="1"/>
          <p:nvPr/>
        </p:nvSpPr>
        <p:spPr>
          <a:xfrm>
            <a:off x="2157047" y="4305872"/>
            <a:ext cx="3089323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Schema-aware LLM fuzzer for GraphQL APIs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6" name="Google Shape;146;p17"/>
          <p:cNvCxnSpPr/>
          <p:nvPr/>
        </p:nvCxnSpPr>
        <p:spPr>
          <a:xfrm>
            <a:off x="571477" y="4305872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7" name="Google Shape;147;p17"/>
          <p:cNvSpPr/>
          <p:nvPr/>
        </p:nvSpPr>
        <p:spPr>
          <a:xfrm>
            <a:off x="5817848" y="700065"/>
            <a:ext cx="200047" cy="200047"/>
          </a:xfrm>
          <a:prstGeom prst="ellipse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17"/>
          <p:cNvSpPr txBox="1"/>
          <p:nvPr/>
        </p:nvSpPr>
        <p:spPr>
          <a:xfrm>
            <a:off x="5817848" y="700065"/>
            <a:ext cx="200047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Source Sans 3"/>
                <a:ea typeface="Source Sans 3"/>
                <a:cs typeface="Source Sans 3"/>
                <a:sym typeface="Source Sans 3"/>
              </a:rPr>
              <a:t>B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 txBox="1"/>
          <p:nvPr/>
        </p:nvSpPr>
        <p:spPr>
          <a:xfrm>
            <a:off x="6105883" y="700065"/>
            <a:ext cx="1508760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700"/>
              <a:buFont typeface="Source Sans 3"/>
              <a:buNone/>
            </a:pPr>
            <a:r>
              <a:rPr b="1" i="0" lang="en" sz="700" u="none" cap="none" strike="noStrike">
                <a:solidFill>
                  <a:srgbClr val="A0631A"/>
                </a:solidFill>
                <a:latin typeface="Source Sans 3"/>
                <a:ea typeface="Source Sans 3"/>
                <a:cs typeface="Source Sans 3"/>
                <a:sym typeface="Source Sans 3"/>
              </a:rPr>
              <a:t>BENCHMARKS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7"/>
          <p:cNvSpPr txBox="1"/>
          <p:nvPr/>
        </p:nvSpPr>
        <p:spPr>
          <a:xfrm>
            <a:off x="7543800" y="700065"/>
            <a:ext cx="1028700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IBM Plex Mono"/>
                <a:ea typeface="IBM Plex Mono"/>
                <a:cs typeface="IBM Plex Mono"/>
                <a:sym typeface="IBM Plex Mono"/>
              </a:rPr>
              <a:t>2 PAPERS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1" name="Google Shape;151;p17"/>
          <p:cNvCxnSpPr/>
          <p:nvPr/>
        </p:nvCxnSpPr>
        <p:spPr>
          <a:xfrm>
            <a:off x="5817848" y="988101"/>
            <a:ext cx="2754652" cy="0"/>
          </a:xfrm>
          <a:prstGeom prst="straightConnector1">
            <a:avLst/>
          </a:prstGeom>
          <a:noFill/>
          <a:ln cap="flat" cmpd="sng" w="19050">
            <a:solidFill>
              <a:srgbClr val="1A1A2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2" name="Google Shape;152;p17"/>
          <p:cNvSpPr txBox="1"/>
          <p:nvPr/>
        </p:nvSpPr>
        <p:spPr>
          <a:xfrm>
            <a:off x="5817848" y="1042965"/>
            <a:ext cx="1357199" cy="22288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1100"/>
              <a:buFont typeface="IBM Plex Mono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CVE-Bench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7"/>
          <p:cNvSpPr txBox="1"/>
          <p:nvPr/>
        </p:nvSpPr>
        <p:spPr>
          <a:xfrm>
            <a:off x="5817848" y="1265850"/>
            <a:ext cx="1357199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Zhu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7"/>
          <p:cNvSpPr txBox="1"/>
          <p:nvPr/>
        </p:nvSpPr>
        <p:spPr>
          <a:xfrm>
            <a:off x="7175045" y="1042965"/>
            <a:ext cx="1397455" cy="445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40 critical web CVEs with oracle-backed evaluation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7"/>
          <p:cNvSpPr txBox="1"/>
          <p:nvPr/>
        </p:nvSpPr>
        <p:spPr>
          <a:xfrm>
            <a:off x="5817848" y="1488735"/>
            <a:ext cx="1357199" cy="22288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1100"/>
              <a:buFont typeface="IBM Plex Mono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PentestEval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7"/>
          <p:cNvSpPr txBox="1"/>
          <p:nvPr/>
        </p:nvSpPr>
        <p:spPr>
          <a:xfrm>
            <a:off x="5817848" y="1711620"/>
            <a:ext cx="1357199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Yang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7"/>
          <p:cNvSpPr txBox="1"/>
          <p:nvPr/>
        </p:nvSpPr>
        <p:spPr>
          <a:xfrm>
            <a:off x="7175045" y="1488735"/>
            <a:ext cx="1397455" cy="445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Stage-level breakdown of pipeline failure modes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8" name="Google Shape;158;p17"/>
          <p:cNvCxnSpPr/>
          <p:nvPr/>
        </p:nvCxnSpPr>
        <p:spPr>
          <a:xfrm>
            <a:off x="5817848" y="1488735"/>
            <a:ext cx="275465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9" name="Google Shape;159;p17"/>
          <p:cNvSpPr/>
          <p:nvPr/>
        </p:nvSpPr>
        <p:spPr>
          <a:xfrm>
            <a:off x="5817848" y="2048828"/>
            <a:ext cx="200047" cy="200047"/>
          </a:xfrm>
          <a:prstGeom prst="ellipse">
            <a:avLst/>
          </a:prstGeom>
          <a:solidFill>
            <a:srgbClr val="4A7A5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17"/>
          <p:cNvSpPr txBox="1"/>
          <p:nvPr/>
        </p:nvSpPr>
        <p:spPr>
          <a:xfrm>
            <a:off x="5817848" y="2048828"/>
            <a:ext cx="200047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Source Sans 3"/>
                <a:ea typeface="Source Sans 3"/>
                <a:cs typeface="Source Sans 3"/>
                <a:sym typeface="Source Sans 3"/>
              </a:rPr>
              <a:t>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7"/>
          <p:cNvSpPr txBox="1"/>
          <p:nvPr/>
        </p:nvSpPr>
        <p:spPr>
          <a:xfrm>
            <a:off x="6105883" y="2048828"/>
            <a:ext cx="1508760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7A5E"/>
              </a:buClr>
              <a:buSzPts val="700"/>
              <a:buFont typeface="Source Sans 3"/>
              <a:buNone/>
            </a:pPr>
            <a:r>
              <a:rPr b="1" i="0" lang="en" sz="700" u="none" cap="none" strike="noStrike">
                <a:solidFill>
                  <a:srgbClr val="4A7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SURVEYS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7"/>
          <p:cNvSpPr txBox="1"/>
          <p:nvPr/>
        </p:nvSpPr>
        <p:spPr>
          <a:xfrm>
            <a:off x="7543800" y="2048828"/>
            <a:ext cx="1028700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IBM Plex Mono"/>
                <a:ea typeface="IBM Plex Mono"/>
                <a:cs typeface="IBM Plex Mono"/>
                <a:sym typeface="IBM Plex Mono"/>
              </a:rPr>
              <a:t>1 PAPER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3" name="Google Shape;163;p17"/>
          <p:cNvCxnSpPr/>
          <p:nvPr/>
        </p:nvCxnSpPr>
        <p:spPr>
          <a:xfrm>
            <a:off x="5817848" y="2336864"/>
            <a:ext cx="2754652" cy="0"/>
          </a:xfrm>
          <a:prstGeom prst="straightConnector1">
            <a:avLst/>
          </a:prstGeom>
          <a:noFill/>
          <a:ln cap="flat" cmpd="sng" w="19050">
            <a:solidFill>
              <a:srgbClr val="1A1A2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4" name="Google Shape;164;p17"/>
          <p:cNvSpPr txBox="1"/>
          <p:nvPr/>
        </p:nvSpPr>
        <p:spPr>
          <a:xfrm>
            <a:off x="5817848" y="2391728"/>
            <a:ext cx="1357199" cy="22288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7A5E"/>
              </a:buClr>
              <a:buSzPts val="1100"/>
              <a:buFont typeface="IBM Plex Mono"/>
              <a:buNone/>
            </a:pPr>
            <a:r>
              <a:rPr b="1" i="0" lang="en" sz="1100" u="none" cap="none" strike="noStrike">
                <a:solidFill>
                  <a:srgbClr val="4A7A5E"/>
                </a:solidFill>
                <a:latin typeface="IBM Plex Mono"/>
                <a:ea typeface="IBM Plex Mono"/>
                <a:cs typeface="IBM Plex Mono"/>
                <a:sym typeface="IBM Plex Mono"/>
              </a:rPr>
              <a:t>Wang 2025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7"/>
          <p:cNvSpPr txBox="1"/>
          <p:nvPr/>
        </p:nvSpPr>
        <p:spPr>
          <a:xfrm>
            <a:off x="5817848" y="2614613"/>
            <a:ext cx="1357199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Wang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7"/>
          <p:cNvSpPr txBox="1"/>
          <p:nvPr/>
        </p:nvSpPr>
        <p:spPr>
          <a:xfrm>
            <a:off x="7175045" y="2391728"/>
            <a:ext cx="1397455" cy="445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General survey of LLM-based agent architectures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7"/>
          <p:cNvSpPr/>
          <p:nvPr/>
        </p:nvSpPr>
        <p:spPr>
          <a:xfrm>
            <a:off x="5817923" y="3606663"/>
            <a:ext cx="2754600" cy="1062900"/>
          </a:xfrm>
          <a:prstGeom prst="roundRect">
            <a:avLst>
              <a:gd fmla="val 3871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381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17"/>
          <p:cNvSpPr/>
          <p:nvPr/>
        </p:nvSpPr>
        <p:spPr>
          <a:xfrm>
            <a:off x="5817923" y="3606663"/>
            <a:ext cx="2754600" cy="309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17"/>
          <p:cNvSpPr txBox="1"/>
          <p:nvPr/>
        </p:nvSpPr>
        <p:spPr>
          <a:xfrm>
            <a:off x="5989373" y="3709532"/>
            <a:ext cx="24117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600"/>
              <a:buFont typeface="Source Sans 3"/>
              <a:buNone/>
            </a:pPr>
            <a:r>
              <a:rPr b="1" i="0" lang="en" sz="900" u="none" cap="none" strike="noStrike">
                <a:solidFill>
                  <a:srgbClr val="8B1A1A"/>
                </a:solidFill>
                <a:latin typeface="Source Sans 3"/>
                <a:ea typeface="Source Sans 3"/>
                <a:cs typeface="Source Sans 3"/>
                <a:sym typeface="Source Sans 3"/>
              </a:rPr>
              <a:t>KEY TAKEAWAY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7"/>
          <p:cNvSpPr txBox="1"/>
          <p:nvPr/>
        </p:nvSpPr>
        <p:spPr>
          <a:xfrm>
            <a:off x="5989375" y="3884438"/>
            <a:ext cx="24117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Playfair Display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8 Agent Systems · 2 Benchmarks · 1 Survey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7"/>
          <p:cNvSpPr txBox="1"/>
          <p:nvPr/>
        </p:nvSpPr>
        <p:spPr>
          <a:xfrm>
            <a:off x="5989373" y="4100439"/>
            <a:ext cx="24117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Benchmarks serve as the primary source for failure-mode analysis and motivate the research gap.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2" name="Google Shape;172;p17"/>
          <p:cNvCxnSpPr/>
          <p:nvPr/>
        </p:nvCxnSpPr>
        <p:spPr>
          <a:xfrm>
            <a:off x="0" y="4886325"/>
            <a:ext cx="9143771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3" name="Google Shape;173;p17"/>
          <p:cNvSpPr txBox="1"/>
          <p:nvPr/>
        </p:nvSpPr>
        <p:spPr>
          <a:xfrm>
            <a:off x="7543800" y="4903470"/>
            <a:ext cx="10287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03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7"/>
          <p:cNvSpPr/>
          <p:nvPr/>
        </p:nvSpPr>
        <p:spPr>
          <a:xfrm>
            <a:off x="0" y="5122241"/>
            <a:ext cx="914378" cy="2126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8"/>
          <p:cNvSpPr txBox="1"/>
          <p:nvPr/>
        </p:nvSpPr>
        <p:spPr>
          <a:xfrm>
            <a:off x="571500" y="285750"/>
            <a:ext cx="74295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400"/>
              <a:buFont typeface="Playfair Display"/>
              <a:buNone/>
            </a:pPr>
            <a:r>
              <a:rPr b="1" i="0" lang="en" sz="24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What the Literature Agrees On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8"/>
          <p:cNvSpPr/>
          <p:nvPr/>
        </p:nvSpPr>
        <p:spPr>
          <a:xfrm>
            <a:off x="571500" y="742950"/>
            <a:ext cx="4086225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18"/>
          <p:cNvSpPr/>
          <p:nvPr/>
        </p:nvSpPr>
        <p:spPr>
          <a:xfrm>
            <a:off x="1371600" y="928688"/>
            <a:ext cx="6400800" cy="871538"/>
          </a:xfrm>
          <a:prstGeom prst="roundRect">
            <a:avLst>
              <a:gd fmla="val 2459" name="adj"/>
            </a:avLst>
          </a:prstGeom>
          <a:solidFill>
            <a:srgbClr val="EDE9E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8"/>
          <p:cNvSpPr/>
          <p:nvPr/>
        </p:nvSpPr>
        <p:spPr>
          <a:xfrm>
            <a:off x="1371600" y="928688"/>
            <a:ext cx="21431" cy="87153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18"/>
          <p:cNvSpPr txBox="1"/>
          <p:nvPr/>
        </p:nvSpPr>
        <p:spPr>
          <a:xfrm>
            <a:off x="1543050" y="1071563"/>
            <a:ext cx="6057900" cy="2714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700"/>
              <a:buFont typeface="Playfair Display"/>
              <a:buNone/>
            </a:pPr>
            <a:r>
              <a:rPr b="0" i="1" lang="en" sz="17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"Architecture, not model scale, is the dominant variable."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8"/>
          <p:cNvSpPr txBox="1"/>
          <p:nvPr/>
        </p:nvSpPr>
        <p:spPr>
          <a:xfrm>
            <a:off x="1751647" y="1443038"/>
            <a:ext cx="1094536" cy="1857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Source Sans 3"/>
              <a:buNone/>
            </a:pPr>
            <a:r>
              <a:rPr b="1" i="0" lang="en" sz="700" u="none" cap="none" strike="noStrike">
                <a:solidFill>
                  <a:srgbClr val="9A9AAA"/>
                </a:solidFill>
                <a:latin typeface="Source Sans 3"/>
                <a:ea typeface="Source Sans 3"/>
                <a:cs typeface="Source Sans 3"/>
                <a:sym typeface="Source Sans 3"/>
              </a:rPr>
              <a:t>CONSISTENT ACROSS: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8"/>
          <p:cNvSpPr/>
          <p:nvPr/>
        </p:nvSpPr>
        <p:spPr>
          <a:xfrm>
            <a:off x="2917622" y="1428750"/>
            <a:ext cx="633679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8"/>
          <p:cNvSpPr txBox="1"/>
          <p:nvPr/>
        </p:nvSpPr>
        <p:spPr>
          <a:xfrm>
            <a:off x="2917622" y="1428750"/>
            <a:ext cx="633679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VulnBot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8"/>
          <p:cNvSpPr/>
          <p:nvPr/>
        </p:nvSpPr>
        <p:spPr>
          <a:xfrm>
            <a:off x="3622739" y="1428750"/>
            <a:ext cx="822960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18"/>
          <p:cNvSpPr txBox="1"/>
          <p:nvPr/>
        </p:nvSpPr>
        <p:spPr>
          <a:xfrm>
            <a:off x="3622739" y="1428750"/>
            <a:ext cx="822960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PentestGPT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8"/>
          <p:cNvSpPr/>
          <p:nvPr/>
        </p:nvSpPr>
        <p:spPr>
          <a:xfrm>
            <a:off x="4517136" y="1428750"/>
            <a:ext cx="759866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18"/>
          <p:cNvSpPr txBox="1"/>
          <p:nvPr/>
        </p:nvSpPr>
        <p:spPr>
          <a:xfrm>
            <a:off x="4517136" y="1428750"/>
            <a:ext cx="759866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CHECKMATE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8"/>
          <p:cNvSpPr/>
          <p:nvPr/>
        </p:nvSpPr>
        <p:spPr>
          <a:xfrm>
            <a:off x="5348440" y="1428750"/>
            <a:ext cx="633679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18"/>
          <p:cNvSpPr txBox="1"/>
          <p:nvPr/>
        </p:nvSpPr>
        <p:spPr>
          <a:xfrm>
            <a:off x="5348440" y="1428750"/>
            <a:ext cx="633679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Incalmo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8"/>
          <p:cNvSpPr/>
          <p:nvPr/>
        </p:nvSpPr>
        <p:spPr>
          <a:xfrm>
            <a:off x="6053557" y="1428750"/>
            <a:ext cx="507492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18"/>
          <p:cNvSpPr txBox="1"/>
          <p:nvPr/>
        </p:nvSpPr>
        <p:spPr>
          <a:xfrm>
            <a:off x="6053557" y="1428750"/>
            <a:ext cx="507492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HPTSA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8"/>
          <p:cNvSpPr/>
          <p:nvPr/>
        </p:nvSpPr>
        <p:spPr>
          <a:xfrm>
            <a:off x="6632486" y="1428750"/>
            <a:ext cx="759866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8"/>
          <p:cNvSpPr txBox="1"/>
          <p:nvPr/>
        </p:nvSpPr>
        <p:spPr>
          <a:xfrm>
            <a:off x="6632486" y="1428750"/>
            <a:ext cx="759866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Fang 2024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98" name="Google Shape;198;p18"/>
          <p:cNvGraphicFramePr/>
          <p:nvPr/>
        </p:nvGraphicFramePr>
        <p:xfrm>
          <a:off x="571500" y="201453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{73AB41EE-A7D9-4358-8991-11DD2C65E132}</a:tableStyleId>
              </a:tblPr>
              <a:tblGrid>
                <a:gridCol w="4000500"/>
                <a:gridCol w="4000500"/>
              </a:tblGrid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1300"/>
                        <a:buFont typeface="Source Sans 3"/>
                        <a:buNone/>
                      </a:pPr>
                      <a:r>
                        <a:rPr b="1" lang="en" sz="13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Unstructured ReAct + GPT-4</a:t>
                      </a:r>
                      <a:endParaRPr sz="13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1300"/>
                        <a:buFont typeface="Source Sans 3"/>
                        <a:buNone/>
                      </a:pPr>
                      <a:r>
                        <a:rPr b="1" lang="en" sz="13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Structured Pipeline + GPT-4o-mini</a:t>
                      </a:r>
                      <a:endParaRPr sz="13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 Depth-first tunnel vision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 Broad, structured exploration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 Context loss in long sessions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 Scoped per-invocation context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 No failure recovery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 Retry / adapt / escalate loops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 Implicit planning only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 Explicit dependency modeling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18"/>
          <p:cNvSpPr txBox="1"/>
          <p:nvPr/>
        </p:nvSpPr>
        <p:spPr>
          <a:xfrm>
            <a:off x="571500" y="4443413"/>
            <a:ext cx="80010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8B1A1A"/>
                </a:solidFill>
                <a:latin typeface="Source Sans 3"/>
                <a:ea typeface="Source Sans 3"/>
                <a:cs typeface="Source Sans 3"/>
                <a:sym typeface="Source Sans 3"/>
              </a:rPr>
              <a:t>Synthesised from 6 independent papers   |   September 2026 Review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18"/>
          <p:cNvCxnSpPr/>
          <p:nvPr/>
        </p:nvCxnSpPr>
        <p:spPr>
          <a:xfrm>
            <a:off x="0" y="4886325"/>
            <a:ext cx="9144000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1" name="Google Shape;201;p18"/>
          <p:cNvSpPr txBox="1"/>
          <p:nvPr/>
        </p:nvSpPr>
        <p:spPr>
          <a:xfrm>
            <a:off x="8001000" y="5000625"/>
            <a:ext cx="85725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04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8"/>
          <p:cNvSpPr/>
          <p:nvPr/>
        </p:nvSpPr>
        <p:spPr>
          <a:xfrm>
            <a:off x="0" y="5122069"/>
            <a:ext cx="13716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9"/>
          <p:cNvSpPr txBox="1"/>
          <p:nvPr/>
        </p:nvSpPr>
        <p:spPr>
          <a:xfrm>
            <a:off x="571286" y="314096"/>
            <a:ext cx="742946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300"/>
              <a:buFont typeface="Cambria"/>
              <a:buNone/>
            </a:pPr>
            <a:r>
              <a:rPr b="1" i="0" lang="en" sz="23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Failure Mode 1 — Insufficient Exploration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9"/>
          <p:cNvSpPr/>
          <p:nvPr/>
        </p:nvSpPr>
        <p:spPr>
          <a:xfrm>
            <a:off x="571286" y="700202"/>
            <a:ext cx="4086105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19"/>
          <p:cNvSpPr txBox="1"/>
          <p:nvPr/>
        </p:nvSpPr>
        <p:spPr>
          <a:xfrm>
            <a:off x="571286" y="1527277"/>
            <a:ext cx="385772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alibri"/>
              <a:buNone/>
            </a:pPr>
            <a:r>
              <a:rPr b="1" i="0" lang="en" sz="1000" u="none" cap="none" strike="noStrike">
                <a:solidFill>
                  <a:srgbClr val="A0631A"/>
                </a:solidFill>
                <a:latin typeface="Calibri"/>
                <a:ea typeface="Calibri"/>
                <a:cs typeface="Calibri"/>
                <a:sym typeface="Calibri"/>
              </a:rPr>
              <a:t>CVE-BENCH  ·  40 CRITICAL WEB CVEs  ·  CVSS 9.0+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9"/>
          <p:cNvSpPr txBox="1"/>
          <p:nvPr/>
        </p:nvSpPr>
        <p:spPr>
          <a:xfrm>
            <a:off x="571286" y="1793024"/>
            <a:ext cx="3857728" cy="4251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Even the best agent exploits only 13% (one-day) or 10% (zero-day).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9"/>
          <p:cNvSpPr/>
          <p:nvPr/>
        </p:nvSpPr>
        <p:spPr>
          <a:xfrm>
            <a:off x="571286" y="2333092"/>
            <a:ext cx="21300" cy="8229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19"/>
          <p:cNvSpPr/>
          <p:nvPr/>
        </p:nvSpPr>
        <p:spPr>
          <a:xfrm>
            <a:off x="592550" y="2333100"/>
            <a:ext cx="3763500" cy="822900"/>
          </a:xfrm>
          <a:prstGeom prst="rect">
            <a:avLst/>
          </a:prstGeom>
          <a:solidFill>
            <a:srgbClr val="EDE9E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19"/>
          <p:cNvSpPr txBox="1"/>
          <p:nvPr/>
        </p:nvSpPr>
        <p:spPr>
          <a:xfrm>
            <a:off x="707075" y="2333100"/>
            <a:ext cx="36489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0" i="0" lang="en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dominant failure is not reasoning quality — it is breadth of search. Agents commit early to a narrow attack path and never revisit.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9"/>
          <p:cNvSpPr txBox="1"/>
          <p:nvPr/>
        </p:nvSpPr>
        <p:spPr>
          <a:xfrm>
            <a:off x="571268" y="3270914"/>
            <a:ext cx="3743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Range: </a:t>
            </a:r>
            <a:r>
              <a:rPr b="0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37.5% – 80% exploration failure rates across all agents tested.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9"/>
          <p:cNvSpPr txBox="1"/>
          <p:nvPr/>
        </p:nvSpPr>
        <p:spPr>
          <a:xfrm>
            <a:off x="571268" y="3729714"/>
            <a:ext cx="3743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Root cause: </a:t>
            </a:r>
            <a:r>
              <a:rPr b="0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Not a smarter-model problem — it's a search problem.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9"/>
          <p:cNvSpPr txBox="1"/>
          <p:nvPr/>
        </p:nvSpPr>
        <p:spPr>
          <a:xfrm>
            <a:off x="4840505" y="1359667"/>
            <a:ext cx="3732223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Calibri"/>
                <a:ea typeface="Calibri"/>
                <a:cs typeface="Calibri"/>
                <a:sym typeface="Calibri"/>
              </a:rPr>
              <a:t>Exploration Failure Rate by Agent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8" name="Google Shape;218;p19"/>
          <p:cNvCxnSpPr/>
          <p:nvPr/>
        </p:nvCxnSpPr>
        <p:spPr>
          <a:xfrm>
            <a:off x="4634760" y="1736857"/>
            <a:ext cx="0" cy="2285771"/>
          </a:xfrm>
          <a:prstGeom prst="straightConnector1">
            <a:avLst/>
          </a:prstGeom>
          <a:noFill/>
          <a:ln cap="flat" cmpd="sng" w="1395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19" name="Google Shape;219;p19"/>
          <p:cNvCxnSpPr/>
          <p:nvPr/>
        </p:nvCxnSpPr>
        <p:spPr>
          <a:xfrm>
            <a:off x="7206681" y="1736857"/>
            <a:ext cx="0" cy="2285771"/>
          </a:xfrm>
          <a:prstGeom prst="straightConnector1">
            <a:avLst/>
          </a:prstGeom>
          <a:noFill/>
          <a:ln cap="flat" cmpd="sng" w="12700">
            <a:solidFill>
              <a:srgbClr val="A0631A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20" name="Google Shape;220;p19"/>
          <p:cNvSpPr txBox="1"/>
          <p:nvPr/>
        </p:nvSpPr>
        <p:spPr>
          <a:xfrm>
            <a:off x="7234114" y="1585981"/>
            <a:ext cx="89156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700"/>
              <a:buFont typeface="Calibri"/>
              <a:buNone/>
            </a:pPr>
            <a:r>
              <a:rPr b="0" i="0" lang="en" sz="800" u="none" cap="none" strike="noStrike">
                <a:solidFill>
                  <a:srgbClr val="A0631A"/>
                </a:solidFill>
                <a:latin typeface="Calibri"/>
                <a:ea typeface="Calibri"/>
                <a:cs typeface="Calibri"/>
                <a:sym typeface="Calibri"/>
              </a:rPr>
              <a:t>50% threshold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9"/>
          <p:cNvSpPr txBox="1"/>
          <p:nvPr/>
        </p:nvSpPr>
        <p:spPr>
          <a:xfrm>
            <a:off x="4840505" y="1736857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T-Agent (0-day)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9"/>
          <p:cNvSpPr/>
          <p:nvPr/>
        </p:nvSpPr>
        <p:spPr>
          <a:xfrm>
            <a:off x="5840634" y="1786921"/>
            <a:ext cx="2185675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19"/>
          <p:cNvSpPr txBox="1"/>
          <p:nvPr/>
        </p:nvSpPr>
        <p:spPr>
          <a:xfrm>
            <a:off x="8094892" y="1736857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80.0%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9"/>
          <p:cNvSpPr txBox="1"/>
          <p:nvPr/>
        </p:nvSpPr>
        <p:spPr>
          <a:xfrm>
            <a:off x="4840505" y="2142645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AutoGPT (0-day)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9"/>
          <p:cNvSpPr/>
          <p:nvPr/>
        </p:nvSpPr>
        <p:spPr>
          <a:xfrm>
            <a:off x="5840634" y="2192708"/>
            <a:ext cx="1980768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9"/>
          <p:cNvSpPr txBox="1"/>
          <p:nvPr/>
        </p:nvSpPr>
        <p:spPr>
          <a:xfrm>
            <a:off x="7889985" y="2142645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72.5%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9"/>
          <p:cNvSpPr txBox="1"/>
          <p:nvPr/>
        </p:nvSpPr>
        <p:spPr>
          <a:xfrm>
            <a:off x="4840505" y="2548432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Cy-Agent (0-day)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9"/>
          <p:cNvSpPr/>
          <p:nvPr/>
        </p:nvSpPr>
        <p:spPr>
          <a:xfrm>
            <a:off x="5840634" y="2598497"/>
            <a:ext cx="1844163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19"/>
          <p:cNvSpPr txBox="1"/>
          <p:nvPr/>
        </p:nvSpPr>
        <p:spPr>
          <a:xfrm>
            <a:off x="7753380" y="2548432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67.5%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9"/>
          <p:cNvSpPr txBox="1"/>
          <p:nvPr/>
        </p:nvSpPr>
        <p:spPr>
          <a:xfrm>
            <a:off x="4840505" y="2954221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T-Agent (1-day)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9"/>
          <p:cNvSpPr/>
          <p:nvPr/>
        </p:nvSpPr>
        <p:spPr>
          <a:xfrm>
            <a:off x="5840634" y="3004284"/>
            <a:ext cx="1502652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19"/>
          <p:cNvSpPr txBox="1"/>
          <p:nvPr/>
        </p:nvSpPr>
        <p:spPr>
          <a:xfrm>
            <a:off x="7411868" y="2954221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55.0%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9"/>
          <p:cNvSpPr txBox="1"/>
          <p:nvPr/>
        </p:nvSpPr>
        <p:spPr>
          <a:xfrm>
            <a:off x="4840505" y="3360008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AutoGPT (1-day)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9"/>
          <p:cNvSpPr/>
          <p:nvPr/>
        </p:nvSpPr>
        <p:spPr>
          <a:xfrm>
            <a:off x="5840634" y="3410072"/>
            <a:ext cx="1229443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19"/>
          <p:cNvSpPr txBox="1"/>
          <p:nvPr/>
        </p:nvSpPr>
        <p:spPr>
          <a:xfrm>
            <a:off x="7138659" y="3360008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45.0%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9"/>
          <p:cNvSpPr txBox="1"/>
          <p:nvPr/>
        </p:nvSpPr>
        <p:spPr>
          <a:xfrm>
            <a:off x="4840505" y="3765797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Cy-Agent (1-day)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9"/>
          <p:cNvSpPr/>
          <p:nvPr/>
        </p:nvSpPr>
        <p:spPr>
          <a:xfrm>
            <a:off x="5840634" y="3815860"/>
            <a:ext cx="1024536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19"/>
          <p:cNvSpPr txBox="1"/>
          <p:nvPr/>
        </p:nvSpPr>
        <p:spPr>
          <a:xfrm>
            <a:off x="6933751" y="3765797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37.5%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9"/>
          <p:cNvSpPr txBox="1"/>
          <p:nvPr/>
        </p:nvSpPr>
        <p:spPr>
          <a:xfrm>
            <a:off x="4840505" y="4136951"/>
            <a:ext cx="373222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700"/>
              <a:buFont typeface="Calibri"/>
              <a:buNone/>
            </a:pPr>
            <a:r>
              <a:rPr b="0" i="1" lang="en" sz="700" u="none" cap="none" strike="noStrike">
                <a:solidFill>
                  <a:srgbClr val="6B6B7A"/>
                </a:solidFill>
                <a:latin typeface="Calibri"/>
                <a:ea typeface="Calibri"/>
                <a:cs typeface="Calibri"/>
                <a:sym typeface="Calibri"/>
              </a:rPr>
              <a:t>Source: CVE-Bench (Zhu et al., 2025), Table 5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0" name="Google Shape;240;p19"/>
          <p:cNvCxnSpPr/>
          <p:nvPr/>
        </p:nvCxnSpPr>
        <p:spPr>
          <a:xfrm>
            <a:off x="0" y="4886325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1" name="Google Shape;241;p19"/>
          <p:cNvSpPr txBox="1"/>
          <p:nvPr/>
        </p:nvSpPr>
        <p:spPr>
          <a:xfrm>
            <a:off x="7201092" y="4937760"/>
            <a:ext cx="1257105" cy="1508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05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9"/>
          <p:cNvSpPr/>
          <p:nvPr/>
        </p:nvSpPr>
        <p:spPr>
          <a:xfrm>
            <a:off x="0" y="5122069"/>
            <a:ext cx="1829078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0"/>
          <p:cNvSpPr txBox="1"/>
          <p:nvPr/>
        </p:nvSpPr>
        <p:spPr>
          <a:xfrm>
            <a:off x="571271" y="314096"/>
            <a:ext cx="7429271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100"/>
              <a:buFont typeface="Cambria"/>
              <a:buNone/>
            </a:pPr>
            <a:r>
              <a:rPr b="1" i="0" lang="en" sz="21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Failure Mode 2 — The Dependency-Reasoning Gap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0"/>
          <p:cNvSpPr/>
          <p:nvPr/>
        </p:nvSpPr>
        <p:spPr>
          <a:xfrm>
            <a:off x="571271" y="678942"/>
            <a:ext cx="4085996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20"/>
          <p:cNvSpPr/>
          <p:nvPr/>
        </p:nvSpPr>
        <p:spPr>
          <a:xfrm>
            <a:off x="4572229" y="886054"/>
            <a:ext cx="10287" cy="3828821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20"/>
          <p:cNvSpPr txBox="1"/>
          <p:nvPr/>
        </p:nvSpPr>
        <p:spPr>
          <a:xfrm>
            <a:off x="571271" y="886054"/>
            <a:ext cx="371497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900"/>
              <a:buFont typeface="Arial"/>
              <a:buNone/>
            </a:pPr>
            <a:r>
              <a:rPr b="1" i="0" lang="en" sz="9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PENTESTEVAL GT INJECTION ABLATION — TASK SCORE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0"/>
          <p:cNvSpPr/>
          <p:nvPr/>
        </p:nvSpPr>
        <p:spPr>
          <a:xfrm>
            <a:off x="785927" y="1383259"/>
            <a:ext cx="8230" cy="2285771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20"/>
          <p:cNvSpPr txBox="1"/>
          <p:nvPr/>
        </p:nvSpPr>
        <p:spPr>
          <a:xfrm>
            <a:off x="342900" y="1321537"/>
            <a:ext cx="41148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0.80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0"/>
          <p:cNvSpPr txBox="1"/>
          <p:nvPr/>
        </p:nvSpPr>
        <p:spPr>
          <a:xfrm>
            <a:off x="342900" y="1892808"/>
            <a:ext cx="41148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0.60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20"/>
          <p:cNvSpPr txBox="1"/>
          <p:nvPr/>
        </p:nvSpPr>
        <p:spPr>
          <a:xfrm>
            <a:off x="342900" y="2464079"/>
            <a:ext cx="41148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0.40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0"/>
          <p:cNvSpPr txBox="1"/>
          <p:nvPr/>
        </p:nvSpPr>
        <p:spPr>
          <a:xfrm>
            <a:off x="342900" y="3036037"/>
            <a:ext cx="41148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0.20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0"/>
          <p:cNvSpPr txBox="1"/>
          <p:nvPr/>
        </p:nvSpPr>
        <p:spPr>
          <a:xfrm>
            <a:off x="342900" y="3607308"/>
            <a:ext cx="41148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0.00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20"/>
          <p:cNvSpPr/>
          <p:nvPr/>
        </p:nvSpPr>
        <p:spPr>
          <a:xfrm>
            <a:off x="857250" y="3669030"/>
            <a:ext cx="3429000" cy="8230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20"/>
          <p:cNvSpPr/>
          <p:nvPr/>
        </p:nvSpPr>
        <p:spPr>
          <a:xfrm>
            <a:off x="1007441" y="2782976"/>
            <a:ext cx="557213" cy="88605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20"/>
          <p:cNvSpPr/>
          <p:nvPr/>
        </p:nvSpPr>
        <p:spPr>
          <a:xfrm>
            <a:off x="1864690" y="2239823"/>
            <a:ext cx="557213" cy="543154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20"/>
          <p:cNvSpPr/>
          <p:nvPr/>
        </p:nvSpPr>
        <p:spPr>
          <a:xfrm>
            <a:off x="2721941" y="2154784"/>
            <a:ext cx="557213" cy="85725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20"/>
          <p:cNvSpPr/>
          <p:nvPr/>
        </p:nvSpPr>
        <p:spPr>
          <a:xfrm>
            <a:off x="3579191" y="1754276"/>
            <a:ext cx="557213" cy="399821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3" name="Google Shape;263;p20"/>
          <p:cNvCxnSpPr/>
          <p:nvPr/>
        </p:nvCxnSpPr>
        <p:spPr>
          <a:xfrm>
            <a:off x="1285875" y="2783663"/>
            <a:ext cx="857250" cy="0"/>
          </a:xfrm>
          <a:prstGeom prst="straightConnector1">
            <a:avLst/>
          </a:prstGeom>
          <a:noFill/>
          <a:ln cap="flat" cmpd="sng" w="12700">
            <a:solidFill>
              <a:srgbClr val="D4CFC8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4" name="Google Shape;264;p20"/>
          <p:cNvCxnSpPr/>
          <p:nvPr/>
        </p:nvCxnSpPr>
        <p:spPr>
          <a:xfrm>
            <a:off x="2143125" y="2240509"/>
            <a:ext cx="857250" cy="0"/>
          </a:xfrm>
          <a:prstGeom prst="straightConnector1">
            <a:avLst/>
          </a:prstGeom>
          <a:noFill/>
          <a:ln cap="flat" cmpd="sng" w="12700">
            <a:solidFill>
              <a:srgbClr val="D4CFC8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5" name="Google Shape;265;p20"/>
          <p:cNvCxnSpPr/>
          <p:nvPr/>
        </p:nvCxnSpPr>
        <p:spPr>
          <a:xfrm>
            <a:off x="3000375" y="2154784"/>
            <a:ext cx="857250" cy="0"/>
          </a:xfrm>
          <a:prstGeom prst="straightConnector1">
            <a:avLst/>
          </a:prstGeom>
          <a:noFill/>
          <a:ln cap="flat" cmpd="sng" w="12700">
            <a:solidFill>
              <a:srgbClr val="D4CFC8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66" name="Google Shape;266;p20"/>
          <p:cNvSpPr txBox="1"/>
          <p:nvPr/>
        </p:nvSpPr>
        <p:spPr>
          <a:xfrm>
            <a:off x="771525" y="2606040"/>
            <a:ext cx="10287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Baseline (0.31)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0"/>
          <p:cNvSpPr txBox="1"/>
          <p:nvPr/>
        </p:nvSpPr>
        <p:spPr>
          <a:xfrm>
            <a:off x="1628775" y="2064258"/>
            <a:ext cx="10287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rgbClr val="2A6B3C"/>
                </a:solidFill>
                <a:latin typeface="Courier New"/>
                <a:ea typeface="Courier New"/>
                <a:cs typeface="Courier New"/>
                <a:sym typeface="Courier New"/>
              </a:rPr>
              <a:t>+0.19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0"/>
          <p:cNvSpPr txBox="1"/>
          <p:nvPr/>
        </p:nvSpPr>
        <p:spPr>
          <a:xfrm>
            <a:off x="2486025" y="1981962"/>
            <a:ext cx="10287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rgbClr val="2A6B3C"/>
                </a:solidFill>
                <a:latin typeface="Courier New"/>
                <a:ea typeface="Courier New"/>
                <a:cs typeface="Courier New"/>
                <a:sym typeface="Courier New"/>
              </a:rPr>
              <a:t>+0.03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0"/>
          <p:cNvSpPr txBox="1"/>
          <p:nvPr/>
        </p:nvSpPr>
        <p:spPr>
          <a:xfrm>
            <a:off x="3343275" y="1577340"/>
            <a:ext cx="10287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+0.14 ★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0"/>
          <p:cNvSpPr/>
          <p:nvPr/>
        </p:nvSpPr>
        <p:spPr>
          <a:xfrm>
            <a:off x="3223260" y="1255014"/>
            <a:ext cx="1268700" cy="219600"/>
          </a:xfrm>
          <a:prstGeom prst="roundRect">
            <a:avLst>
              <a:gd fmla="val 28125" name="adj"/>
            </a:avLst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20"/>
          <p:cNvSpPr txBox="1"/>
          <p:nvPr/>
        </p:nvSpPr>
        <p:spPr>
          <a:xfrm>
            <a:off x="3223260" y="1255014"/>
            <a:ext cx="12687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Largest single-stage gain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0"/>
          <p:cNvSpPr txBox="1"/>
          <p:nvPr/>
        </p:nvSpPr>
        <p:spPr>
          <a:xfrm>
            <a:off x="857250" y="3977640"/>
            <a:ext cx="8572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SMP Baseline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0"/>
          <p:cNvSpPr txBox="1"/>
          <p:nvPr/>
        </p:nvSpPr>
        <p:spPr>
          <a:xfrm>
            <a:off x="1714500" y="3977640"/>
            <a:ext cx="8572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+ GT Weakness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Gathering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0"/>
          <p:cNvSpPr txBox="1"/>
          <p:nvPr/>
        </p:nvSpPr>
        <p:spPr>
          <a:xfrm>
            <a:off x="2571750" y="3977640"/>
            <a:ext cx="8572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+ GT Weakness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Filtering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0"/>
          <p:cNvSpPr txBox="1"/>
          <p:nvPr/>
        </p:nvSpPr>
        <p:spPr>
          <a:xfrm>
            <a:off x="3429000" y="3977640"/>
            <a:ext cx="8572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+ GT Attack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Decision-Making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0"/>
          <p:cNvSpPr txBox="1"/>
          <p:nvPr/>
        </p:nvSpPr>
        <p:spPr>
          <a:xfrm>
            <a:off x="571271" y="4306824"/>
            <a:ext cx="3714979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700"/>
              <a:buFont typeface="Arial"/>
              <a:buNone/>
            </a:pPr>
            <a:r>
              <a:rPr b="0" i="1" lang="en" sz="700" u="none" cap="none" strike="noStrike">
                <a:solidFill>
                  <a:srgbClr val="6B6B7A"/>
                </a:solidFill>
                <a:latin typeface="Arial"/>
                <a:ea typeface="Arial"/>
                <a:cs typeface="Arial"/>
                <a:sym typeface="Arial"/>
              </a:rPr>
              <a:t>Source: PentestEval (Yang et al., 2025)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0"/>
          <p:cNvSpPr txBox="1"/>
          <p:nvPr/>
        </p:nvSpPr>
        <p:spPr>
          <a:xfrm>
            <a:off x="4857521" y="1714500"/>
            <a:ext cx="3714979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Arial"/>
              <a:buNone/>
            </a:pPr>
            <a:r>
              <a:rPr b="1" i="0" lang="en" sz="900" u="none" cap="none" strike="noStrike">
                <a:solidFill>
                  <a:srgbClr val="A0631A"/>
                </a:solidFill>
                <a:latin typeface="Arial"/>
                <a:ea typeface="Arial"/>
                <a:cs typeface="Arial"/>
                <a:sym typeface="Arial"/>
              </a:rPr>
              <a:t>PENTESTEVAL  ·  12 REAL-WORLD SCENARIOS  ·  346 TASKS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0"/>
          <p:cNvSpPr txBox="1"/>
          <p:nvPr/>
        </p:nvSpPr>
        <p:spPr>
          <a:xfrm>
            <a:off x="4857521" y="1906524"/>
            <a:ext cx="3714979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Attack Decision-Making (ADM) is the single weakest stage — Spearman ρ = 0.25.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0"/>
          <p:cNvSpPr/>
          <p:nvPr/>
        </p:nvSpPr>
        <p:spPr>
          <a:xfrm>
            <a:off x="4857521" y="2482596"/>
            <a:ext cx="3714979" cy="6858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20"/>
          <p:cNvSpPr/>
          <p:nvPr/>
        </p:nvSpPr>
        <p:spPr>
          <a:xfrm>
            <a:off x="4857521" y="2482596"/>
            <a:ext cx="21260" cy="68580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20"/>
          <p:cNvSpPr txBox="1"/>
          <p:nvPr/>
        </p:nvSpPr>
        <p:spPr>
          <a:xfrm>
            <a:off x="4999482" y="2551176"/>
            <a:ext cx="3463290" cy="5623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Ground-truth ADM injection adds +0.14 on top of already-perfect weakness discovery. No existing system closes this gap.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0"/>
          <p:cNvSpPr txBox="1"/>
          <p:nvPr/>
        </p:nvSpPr>
        <p:spPr>
          <a:xfrm>
            <a:off x="4857521" y="3394710"/>
            <a:ext cx="109728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800"/>
              <a:buFont typeface="Courier New"/>
              <a:buNone/>
            </a:pPr>
            <a:r>
              <a:rPr b="1" i="0" lang="en" sz="1800" u="none" cap="none" strike="noStrike">
                <a:solidFill>
                  <a:srgbClr val="8B1A1A"/>
                </a:solidFill>
                <a:latin typeface="Courier New"/>
                <a:ea typeface="Courier New"/>
                <a:cs typeface="Courier New"/>
                <a:sym typeface="Courier New"/>
              </a:rPr>
              <a:t>0.25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0"/>
          <p:cNvSpPr txBox="1"/>
          <p:nvPr/>
        </p:nvSpPr>
        <p:spPr>
          <a:xfrm>
            <a:off x="4857521" y="3717036"/>
            <a:ext cx="130302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ADM SPEARMAN ρ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20"/>
          <p:cNvSpPr txBox="1"/>
          <p:nvPr/>
        </p:nvSpPr>
        <p:spPr>
          <a:xfrm>
            <a:off x="6000750" y="3394710"/>
            <a:ext cx="109728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1800"/>
              <a:buFont typeface="Courier New"/>
              <a:buNone/>
            </a:pPr>
            <a:r>
              <a:rPr b="1" i="0" lang="en" sz="1800" u="none" cap="none" strike="noStrike">
                <a:solidFill>
                  <a:srgbClr val="2A6B3C"/>
                </a:solidFill>
                <a:latin typeface="Courier New"/>
                <a:ea typeface="Courier New"/>
                <a:cs typeface="Courier New"/>
                <a:sym typeface="Courier New"/>
              </a:rPr>
              <a:t>+0.14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0"/>
          <p:cNvSpPr txBox="1"/>
          <p:nvPr/>
        </p:nvSpPr>
        <p:spPr>
          <a:xfrm>
            <a:off x="6000750" y="3717036"/>
            <a:ext cx="130302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GT ADM GAIN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20"/>
          <p:cNvSpPr/>
          <p:nvPr/>
        </p:nvSpPr>
        <p:spPr>
          <a:xfrm>
            <a:off x="0" y="4886325"/>
            <a:ext cx="9143771" cy="7543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20"/>
          <p:cNvSpPr txBox="1"/>
          <p:nvPr/>
        </p:nvSpPr>
        <p:spPr>
          <a:xfrm>
            <a:off x="7749540" y="4965192"/>
            <a:ext cx="82296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06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20"/>
          <p:cNvSpPr/>
          <p:nvPr/>
        </p:nvSpPr>
        <p:spPr>
          <a:xfrm>
            <a:off x="0" y="5122241"/>
            <a:ext cx="2285771" cy="2126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1"/>
          <p:cNvSpPr txBox="1"/>
          <p:nvPr/>
        </p:nvSpPr>
        <p:spPr>
          <a:xfrm>
            <a:off x="571515" y="285750"/>
            <a:ext cx="7429698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400"/>
              <a:buFont typeface="Georgia"/>
              <a:buNone/>
            </a:pPr>
            <a:r>
              <a:rPr b="1" i="0" lang="en" sz="2400" u="none" cap="none" strike="noStrike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The Gap No System Has Closed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1"/>
          <p:cNvSpPr/>
          <p:nvPr/>
        </p:nvSpPr>
        <p:spPr>
          <a:xfrm>
            <a:off x="571515" y="735806"/>
            <a:ext cx="4086334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21"/>
          <p:cNvSpPr/>
          <p:nvPr/>
        </p:nvSpPr>
        <p:spPr>
          <a:xfrm>
            <a:off x="571515" y="928688"/>
            <a:ext cx="3179053" cy="2707481"/>
          </a:xfrm>
          <a:prstGeom prst="roundRect">
            <a:avLst>
              <a:gd fmla="val 2026" name="adj"/>
            </a:avLst>
          </a:prstGeom>
          <a:solidFill>
            <a:srgbClr val="FFFFFF"/>
          </a:solidFill>
          <a:ln cap="flat" cmpd="sng" w="9525">
            <a:solidFill>
              <a:srgbClr val="E0DDD8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21"/>
          <p:cNvSpPr/>
          <p:nvPr/>
        </p:nvSpPr>
        <p:spPr>
          <a:xfrm>
            <a:off x="571515" y="928688"/>
            <a:ext cx="3179053" cy="42863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21"/>
          <p:cNvSpPr txBox="1"/>
          <p:nvPr/>
        </p:nvSpPr>
        <p:spPr>
          <a:xfrm>
            <a:off x="857273" y="1257300"/>
            <a:ext cx="2607538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500"/>
              <a:buFont typeface="Georgia"/>
              <a:buNone/>
            </a:pPr>
            <a:r>
              <a:rPr b="1" i="0" lang="en" sz="1500" u="none" cap="none" strike="noStrike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Wide Exploration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1"/>
          <p:cNvSpPr/>
          <p:nvPr/>
        </p:nvSpPr>
        <p:spPr>
          <a:xfrm>
            <a:off x="857273" y="1643063"/>
            <a:ext cx="428636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HPTSA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21"/>
          <p:cNvSpPr/>
          <p:nvPr/>
        </p:nvSpPr>
        <p:spPr>
          <a:xfrm>
            <a:off x="1343061" y="1643063"/>
            <a:ext cx="531509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VulnBot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21"/>
          <p:cNvSpPr/>
          <p:nvPr/>
        </p:nvSpPr>
        <p:spPr>
          <a:xfrm>
            <a:off x="1931721" y="1643063"/>
            <a:ext cx="531509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T-Agent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21"/>
          <p:cNvSpPr/>
          <p:nvPr/>
        </p:nvSpPr>
        <p:spPr>
          <a:xfrm>
            <a:off x="2520382" y="1643063"/>
            <a:ext cx="531509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AutoGPT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3" name="Google Shape;303;p21"/>
          <p:cNvCxnSpPr/>
          <p:nvPr/>
        </p:nvCxnSpPr>
        <p:spPr>
          <a:xfrm>
            <a:off x="857273" y="1957388"/>
            <a:ext cx="2607538" cy="0"/>
          </a:xfrm>
          <a:prstGeom prst="straightConnector1">
            <a:avLst/>
          </a:prstGeom>
          <a:noFill/>
          <a:ln cap="flat" cmpd="sng" w="19050">
            <a:solidFill>
              <a:srgbClr val="E0DD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4" name="Google Shape;304;p21"/>
          <p:cNvSpPr txBox="1"/>
          <p:nvPr/>
        </p:nvSpPr>
        <p:spPr>
          <a:xfrm>
            <a:off x="857273" y="2100263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2A6B3C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Finds many candidate weaknesses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21"/>
          <p:cNvSpPr txBox="1"/>
          <p:nvPr/>
        </p:nvSpPr>
        <p:spPr>
          <a:xfrm>
            <a:off x="857273" y="2357438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✗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No prerequisite / dependency model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21"/>
          <p:cNvSpPr txBox="1"/>
          <p:nvPr/>
        </p:nvSpPr>
        <p:spPr>
          <a:xfrm>
            <a:off x="857273" y="2614613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✗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Flat task dispatch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21"/>
          <p:cNvSpPr/>
          <p:nvPr/>
        </p:nvSpPr>
        <p:spPr>
          <a:xfrm>
            <a:off x="5393675" y="928688"/>
            <a:ext cx="3179053" cy="2707481"/>
          </a:xfrm>
          <a:prstGeom prst="roundRect">
            <a:avLst>
              <a:gd fmla="val 2026" name="adj"/>
            </a:avLst>
          </a:prstGeom>
          <a:solidFill>
            <a:srgbClr val="FFFFFF"/>
          </a:solidFill>
          <a:ln cap="flat" cmpd="sng" w="9525">
            <a:solidFill>
              <a:srgbClr val="E0DDD8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21"/>
          <p:cNvSpPr/>
          <p:nvPr/>
        </p:nvSpPr>
        <p:spPr>
          <a:xfrm>
            <a:off x="5393675" y="928688"/>
            <a:ext cx="3179053" cy="42863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21"/>
          <p:cNvSpPr txBox="1"/>
          <p:nvPr/>
        </p:nvSpPr>
        <p:spPr>
          <a:xfrm>
            <a:off x="5679433" y="1257300"/>
            <a:ext cx="2607538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500"/>
              <a:buFont typeface="Georgia"/>
              <a:buNone/>
            </a:pPr>
            <a:r>
              <a:rPr b="1" i="0" lang="en" sz="1500" u="none" cap="none" strike="noStrike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Dependency Reasoning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1"/>
          <p:cNvSpPr/>
          <p:nvPr/>
        </p:nvSpPr>
        <p:spPr>
          <a:xfrm>
            <a:off x="5679433" y="1643063"/>
            <a:ext cx="634382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CHECKMATE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21"/>
          <p:cNvSpPr/>
          <p:nvPr/>
        </p:nvSpPr>
        <p:spPr>
          <a:xfrm>
            <a:off x="6370966" y="1643063"/>
            <a:ext cx="943000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PentestEval SMP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12" name="Google Shape;312;p21"/>
          <p:cNvCxnSpPr/>
          <p:nvPr/>
        </p:nvCxnSpPr>
        <p:spPr>
          <a:xfrm>
            <a:off x="5679433" y="1957388"/>
            <a:ext cx="2607538" cy="0"/>
          </a:xfrm>
          <a:prstGeom prst="straightConnector1">
            <a:avLst/>
          </a:prstGeom>
          <a:noFill/>
          <a:ln cap="flat" cmpd="sng" w="19050">
            <a:solidFill>
              <a:srgbClr val="E0DD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3" name="Google Shape;313;p21"/>
          <p:cNvSpPr txBox="1"/>
          <p:nvPr/>
        </p:nvSpPr>
        <p:spPr>
          <a:xfrm>
            <a:off x="5679433" y="2100263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2A6B3C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Explicit prerequisite modeling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1"/>
          <p:cNvSpPr txBox="1"/>
          <p:nvPr/>
        </p:nvSpPr>
        <p:spPr>
          <a:xfrm>
            <a:off x="5679433" y="2357438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✗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Requires pre-enumerated weakness sets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21"/>
          <p:cNvSpPr txBox="1"/>
          <p:nvPr/>
        </p:nvSpPr>
        <p:spPr>
          <a:xfrm>
            <a:off x="5679433" y="2614613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✗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Does not scale to open-ended discovery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21"/>
          <p:cNvSpPr/>
          <p:nvPr/>
        </p:nvSpPr>
        <p:spPr>
          <a:xfrm>
            <a:off x="3750569" y="1460897"/>
            <a:ext cx="1643100" cy="1643100"/>
          </a:xfrm>
          <a:prstGeom prst="ellipse">
            <a:avLst/>
          </a:prstGeom>
          <a:solidFill>
            <a:schemeClr val="lt1"/>
          </a:solidFill>
          <a:ln cap="flat" cmpd="sng" w="1016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304800" rotWithShape="0" algn="bl" dir="5400000" dist="101600">
              <a:srgbClr val="000000">
                <a:alpha val="2000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21"/>
          <p:cNvSpPr txBox="1"/>
          <p:nvPr/>
        </p:nvSpPr>
        <p:spPr>
          <a:xfrm>
            <a:off x="3750569" y="1932385"/>
            <a:ext cx="16431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500"/>
              <a:buFont typeface="Arial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Arial"/>
                <a:ea typeface="Arial"/>
                <a:cs typeface="Arial"/>
                <a:sym typeface="Arial"/>
              </a:rPr>
              <a:t>UNEXPLORED TERRITORY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21"/>
          <p:cNvSpPr txBox="1"/>
          <p:nvPr/>
        </p:nvSpPr>
        <p:spPr>
          <a:xfrm>
            <a:off x="3750569" y="2075260"/>
            <a:ext cx="1643106" cy="7858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COMPOUND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GAP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21"/>
          <p:cNvSpPr/>
          <p:nvPr/>
        </p:nvSpPr>
        <p:spPr>
          <a:xfrm>
            <a:off x="571515" y="3893344"/>
            <a:ext cx="8001213" cy="821531"/>
          </a:xfrm>
          <a:prstGeom prst="rect">
            <a:avLst/>
          </a:prstGeom>
          <a:solidFill>
            <a:srgbClr val="FDFDFD"/>
          </a:solidFill>
          <a:ln cap="flat" cmpd="sng" w="19050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21"/>
          <p:cNvSpPr txBox="1"/>
          <p:nvPr/>
        </p:nvSpPr>
        <p:spPr>
          <a:xfrm>
            <a:off x="800121" y="3893344"/>
            <a:ext cx="7544001" cy="82153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Arial"/>
              <a:buNone/>
            </a:pPr>
            <a:r>
              <a:rPr b="0" i="0" lang="en" sz="12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No system combines </a:t>
            </a:r>
            <a:r>
              <a:rPr b="1" i="0" lang="en" sz="1200" u="none" cap="none" strike="noStrike">
                <a:solidFill>
                  <a:srgbClr val="1A1A2E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open-ended exploration</a:t>
            </a:r>
            <a:r>
              <a:rPr b="0" i="0" lang="en" sz="12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 with </a:t>
            </a:r>
            <a:r>
              <a:rPr b="1" i="0" lang="en" sz="1200" u="none" cap="none" strike="noStrike">
                <a:solidFill>
                  <a:srgbClr val="1A1A2E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dynamic dependency-aware planning</a:t>
            </a:r>
            <a:r>
              <a:rPr b="0" i="0" lang="en" sz="12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Arial"/>
              <a:buNone/>
            </a:pPr>
            <a:r>
              <a:rPr b="1" i="0" lang="en" sz="12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RedGrid investigates this exact combination.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21" name="Google Shape;321;p21"/>
          <p:cNvCxnSpPr/>
          <p:nvPr/>
        </p:nvCxnSpPr>
        <p:spPr>
          <a:xfrm>
            <a:off x="0" y="4886325"/>
            <a:ext cx="9144015" cy="0"/>
          </a:xfrm>
          <a:prstGeom prst="straightConnector1">
            <a:avLst/>
          </a:prstGeom>
          <a:noFill/>
          <a:ln cap="flat" cmpd="sng" w="1270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2" name="Google Shape;322;p21"/>
          <p:cNvSpPr txBox="1"/>
          <p:nvPr/>
        </p:nvSpPr>
        <p:spPr>
          <a:xfrm>
            <a:off x="7858334" y="5000625"/>
            <a:ext cx="714394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07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1"/>
          <p:cNvSpPr/>
          <p:nvPr/>
        </p:nvSpPr>
        <p:spPr>
          <a:xfrm>
            <a:off x="0" y="5122069"/>
            <a:ext cx="2743273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2"/>
          <p:cNvSpPr txBox="1"/>
          <p:nvPr/>
        </p:nvSpPr>
        <p:spPr>
          <a:xfrm>
            <a:off x="571500" y="314325"/>
            <a:ext cx="74295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400"/>
              <a:buFont typeface="Playfair Display"/>
              <a:buNone/>
            </a:pPr>
            <a:r>
              <a:rPr b="1" i="0" lang="en" sz="24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Prior System Comparison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22"/>
          <p:cNvSpPr/>
          <p:nvPr/>
        </p:nvSpPr>
        <p:spPr>
          <a:xfrm>
            <a:off x="571500" y="735806"/>
            <a:ext cx="4086225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22"/>
          <p:cNvSpPr txBox="1"/>
          <p:nvPr/>
        </p:nvSpPr>
        <p:spPr>
          <a:xfrm>
            <a:off x="571500" y="857250"/>
            <a:ext cx="742950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FOUR DIMENSIONS THAT MATTER MOST  ·  PRELIMINARY 11-PAPER REVIEW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32" name="Google Shape;332;p22"/>
          <p:cNvGraphicFramePr/>
          <p:nvPr/>
        </p:nvGraphicFramePr>
        <p:xfrm>
          <a:off x="571500" y="11144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{73AB41EE-A7D9-4358-8991-11DD2C65E132}</a:tableStyleId>
              </a:tblPr>
              <a:tblGrid>
                <a:gridCol w="1200150"/>
                <a:gridCol w="1920225"/>
                <a:gridCol w="1760450"/>
                <a:gridCol w="1680200"/>
                <a:gridCol w="1440175"/>
              </a:tblGrid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600"/>
                        <a:buFont typeface="Source Sans 3"/>
                        <a:buNone/>
                      </a:pPr>
                      <a:r>
                        <a:rPr b="1" lang="en" sz="6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SYSTEM</a:t>
                      </a:r>
                      <a:endParaRPr sz="6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600"/>
                        <a:buFont typeface="Source Sans 3"/>
                        <a:buNone/>
                      </a:pPr>
                      <a:r>
                        <a:rPr b="1" lang="en" sz="6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ARCHITECTURE</a:t>
                      </a:r>
                      <a:endParaRPr sz="6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600"/>
                        <a:buFont typeface="Source Sans 3"/>
                        <a:buNone/>
                      </a:pPr>
                      <a:r>
                        <a:rPr b="1" lang="en" sz="6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DEPENDENCY MODELING</a:t>
                      </a:r>
                      <a:endParaRPr sz="6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600"/>
                        <a:buFont typeface="Source Sans 3"/>
                        <a:buNone/>
                      </a:pPr>
                      <a:r>
                        <a:rPr b="1" lang="en" sz="6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CROSS-SESSION MEMORY</a:t>
                      </a:r>
                      <a:endParaRPr sz="6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600"/>
                        <a:buFont typeface="Source Sans 3"/>
                        <a:buNone/>
                      </a:pPr>
                      <a:r>
                        <a:rPr b="1" lang="en" sz="6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BENCHMARK</a:t>
                      </a:r>
                      <a:endParaRPr sz="6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C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Fang et al. 2024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Single agent (ReAct)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15 CVEs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HPTSA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Hierarchical planner + tasks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Flat dispatch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14 zero-day CVEs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PentestGPT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Split reasoning / parsing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3A0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3A0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~ Implicit (LLM only)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E9D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HTB / VulnHub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VulnBot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Multi-agent, role-specialised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Flat dispatch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HTB-style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CHECKMATE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Agent + classical planner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Explicit, pre-enumerated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Curated only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Incalmo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Multi-host orchestration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3A0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3A0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~ Partial (host/cred)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E9D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MHBench (40)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PrediQL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LLM-guided fuzzer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3A0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3A0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~ Schema-derived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E9D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6 GraphQL APIs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E5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2E5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RedGrid (proposed)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25400">
                      <a:solidFill>
                        <a:srgbClr val="2E4A7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E5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2E5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4-layer multi-agent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Dynamic VDG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3-tier memory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E5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2E5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Web + GraphQL + Multi-host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333" name="Google Shape;333;p22"/>
          <p:cNvSpPr txBox="1"/>
          <p:nvPr/>
        </p:nvSpPr>
        <p:spPr>
          <a:xfrm>
            <a:off x="626364" y="4282821"/>
            <a:ext cx="7429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PRELIMINARY READING — 11-PAPER FOCUSED REVIEW, SEPTEMBER 2026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34" name="Google Shape;334;p22"/>
          <p:cNvCxnSpPr/>
          <p:nvPr/>
        </p:nvCxnSpPr>
        <p:spPr>
          <a:xfrm>
            <a:off x="0" y="4886325"/>
            <a:ext cx="9143771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5" name="Google Shape;335;p22"/>
          <p:cNvSpPr txBox="1"/>
          <p:nvPr/>
        </p:nvSpPr>
        <p:spPr>
          <a:xfrm>
            <a:off x="7886471" y="4957763"/>
            <a:ext cx="6858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800"/>
              <a:buFont typeface="IBM Plex Mono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08 / 20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22"/>
          <p:cNvSpPr/>
          <p:nvPr/>
        </p:nvSpPr>
        <p:spPr>
          <a:xfrm>
            <a:off x="0" y="5122069"/>
            <a:ext cx="320032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3"/>
          <p:cNvSpPr txBox="1"/>
          <p:nvPr/>
        </p:nvSpPr>
        <p:spPr>
          <a:xfrm>
            <a:off x="571500" y="285750"/>
            <a:ext cx="74295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400"/>
              <a:buFont typeface="Playfair Display"/>
              <a:buNone/>
            </a:pPr>
            <a:r>
              <a:rPr b="1" i="0" lang="en" sz="24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Research Gap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3"/>
          <p:cNvSpPr/>
          <p:nvPr/>
        </p:nvSpPr>
        <p:spPr>
          <a:xfrm>
            <a:off x="571500" y="757238"/>
            <a:ext cx="50292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23"/>
          <p:cNvSpPr/>
          <p:nvPr/>
        </p:nvSpPr>
        <p:spPr>
          <a:xfrm>
            <a:off x="1171575" y="957263"/>
            <a:ext cx="6800850" cy="1357313"/>
          </a:xfrm>
          <a:prstGeom prst="rect">
            <a:avLst/>
          </a:prstGeom>
          <a:solidFill>
            <a:srgbClr val="EDE9E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23"/>
          <p:cNvSpPr/>
          <p:nvPr/>
        </p:nvSpPr>
        <p:spPr>
          <a:xfrm>
            <a:off x="1171575" y="957263"/>
            <a:ext cx="21431" cy="1357313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23"/>
          <p:cNvSpPr txBox="1"/>
          <p:nvPr/>
        </p:nvSpPr>
        <p:spPr>
          <a:xfrm>
            <a:off x="1371600" y="1071563"/>
            <a:ext cx="6400800" cy="11287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Source Sans 3"/>
              <a:buNone/>
            </a:pPr>
            <a:r>
              <a:rPr b="1" i="0" lang="en" sz="900" u="none" cap="none" strike="noStrike">
                <a:solidFill>
                  <a:srgbClr val="8B1A1A"/>
                </a:solidFill>
                <a:latin typeface="Source Sans 3"/>
                <a:ea typeface="Source Sans 3"/>
                <a:cs typeface="Source Sans 3"/>
                <a:sym typeface="Source Sans 3"/>
              </a:rPr>
              <a:t>THE IDENTIFIED GAP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Playfair Display"/>
              <a:buNone/>
            </a:pPr>
            <a:r>
              <a:rPr b="0" i="1" lang="en" sz="1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“The reviewed literature does not contain a system that combines: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Playfair Display"/>
              <a:buNone/>
            </a:pPr>
            <a:r>
              <a:rPr b="0" i="1" lang="en" sz="1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     (1) broad, open-ended exploration of an unfamiliar attack surface,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Playfair Display"/>
              <a:buNone/>
            </a:pPr>
            <a:r>
              <a:rPr b="0" i="1" lang="en" sz="1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     (2) with an explicit, dynamically constructed dependency model,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Playfair Display"/>
              <a:buNone/>
            </a:pPr>
            <a:r>
              <a:rPr b="0" i="1" lang="en" sz="1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     (3) evaluated across more than one benchmarked attack-surface family.”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3"/>
          <p:cNvSpPr txBox="1"/>
          <p:nvPr/>
        </p:nvSpPr>
        <p:spPr>
          <a:xfrm>
            <a:off x="785813" y="2600325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Exploration Gap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23"/>
          <p:cNvSpPr txBox="1"/>
          <p:nvPr/>
        </p:nvSpPr>
        <p:spPr>
          <a:xfrm>
            <a:off x="785813" y="2786063"/>
            <a:ext cx="2238375" cy="242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700"/>
              <a:buFont typeface="IBM Plex Mono"/>
              <a:buNone/>
            </a:pPr>
            <a:r>
              <a:rPr b="1" i="0" lang="en" sz="17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37 – 80%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3"/>
          <p:cNvSpPr txBox="1"/>
          <p:nvPr/>
        </p:nvSpPr>
        <p:spPr>
          <a:xfrm>
            <a:off x="785813" y="3086100"/>
            <a:ext cx="2238375" cy="1285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Source Sans 3"/>
                <a:ea typeface="Source Sans 3"/>
                <a:cs typeface="Source Sans 3"/>
                <a:sym typeface="Source Sans 3"/>
              </a:rPr>
              <a:t>EXPLORATION FAILURE RATE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3"/>
          <p:cNvSpPr/>
          <p:nvPr/>
        </p:nvSpPr>
        <p:spPr>
          <a:xfrm>
            <a:off x="785813" y="3286125"/>
            <a:ext cx="2238375" cy="678656"/>
          </a:xfrm>
          <a:prstGeom prst="rect">
            <a:avLst/>
          </a:prstGeom>
          <a:solidFill>
            <a:srgbClr val="FDFDFD"/>
          </a:solidFill>
          <a:ln>
            <a:noFill/>
          </a:ln>
          <a:effectLst>
            <a:outerShdw blurRad="76200" rotWithShape="0" algn="bl" dir="5400000" dist="254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23"/>
          <p:cNvSpPr/>
          <p:nvPr/>
        </p:nvSpPr>
        <p:spPr>
          <a:xfrm>
            <a:off x="785813" y="3286125"/>
            <a:ext cx="21431" cy="67865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23"/>
          <p:cNvSpPr txBox="1"/>
          <p:nvPr/>
        </p:nvSpPr>
        <p:spPr>
          <a:xfrm>
            <a:off x="900113" y="3286125"/>
            <a:ext cx="2038350" cy="678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CVE-Bench: insufficient exploration is the dominant failure mode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3" name="Google Shape;353;p23"/>
          <p:cNvCxnSpPr/>
          <p:nvPr/>
        </p:nvCxnSpPr>
        <p:spPr>
          <a:xfrm>
            <a:off x="3238500" y="2736770"/>
            <a:ext cx="0" cy="1091565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4" name="Google Shape;354;p23"/>
          <p:cNvSpPr txBox="1"/>
          <p:nvPr/>
        </p:nvSpPr>
        <p:spPr>
          <a:xfrm>
            <a:off x="3452813" y="2600325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Planning Gap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3"/>
          <p:cNvSpPr txBox="1"/>
          <p:nvPr/>
        </p:nvSpPr>
        <p:spPr>
          <a:xfrm>
            <a:off x="3452813" y="2786063"/>
            <a:ext cx="2238375" cy="242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700"/>
              <a:buFont typeface="IBM Plex Mono"/>
              <a:buNone/>
            </a:pPr>
            <a:r>
              <a:rPr b="1" i="0" lang="en" sz="17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0.25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3"/>
          <p:cNvSpPr txBox="1"/>
          <p:nvPr/>
        </p:nvSpPr>
        <p:spPr>
          <a:xfrm>
            <a:off x="3452813" y="3086100"/>
            <a:ext cx="2238375" cy="1285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Source Sans 3"/>
                <a:ea typeface="Source Sans 3"/>
                <a:cs typeface="Source Sans 3"/>
                <a:sym typeface="Source Sans 3"/>
              </a:rPr>
              <a:t>ADM SPEARMAN ρ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3"/>
          <p:cNvSpPr/>
          <p:nvPr/>
        </p:nvSpPr>
        <p:spPr>
          <a:xfrm>
            <a:off x="3452813" y="3286125"/>
            <a:ext cx="2238375" cy="678656"/>
          </a:xfrm>
          <a:prstGeom prst="rect">
            <a:avLst/>
          </a:prstGeom>
          <a:solidFill>
            <a:srgbClr val="FDFDFD"/>
          </a:solidFill>
          <a:ln>
            <a:noFill/>
          </a:ln>
          <a:effectLst>
            <a:outerShdw blurRad="76200" rotWithShape="0" algn="bl" dir="5400000" dist="254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23"/>
          <p:cNvSpPr/>
          <p:nvPr/>
        </p:nvSpPr>
        <p:spPr>
          <a:xfrm>
            <a:off x="3452813" y="3286125"/>
            <a:ext cx="21431" cy="67865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23"/>
          <p:cNvSpPr txBox="1"/>
          <p:nvPr/>
        </p:nvSpPr>
        <p:spPr>
          <a:xfrm>
            <a:off x="3567113" y="3286125"/>
            <a:ext cx="2038350" cy="678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PentestEval: ADM is the weakest stage across all pipelines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60" name="Google Shape;360;p23"/>
          <p:cNvCxnSpPr/>
          <p:nvPr/>
        </p:nvCxnSpPr>
        <p:spPr>
          <a:xfrm>
            <a:off x="5905500" y="2736770"/>
            <a:ext cx="0" cy="1091565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1" name="Google Shape;361;p23"/>
          <p:cNvSpPr txBox="1"/>
          <p:nvPr/>
        </p:nvSpPr>
        <p:spPr>
          <a:xfrm>
            <a:off x="6119813" y="2600325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Coverage Gap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3"/>
          <p:cNvSpPr txBox="1"/>
          <p:nvPr/>
        </p:nvSpPr>
        <p:spPr>
          <a:xfrm>
            <a:off x="6119813" y="2786063"/>
            <a:ext cx="2238375" cy="242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700"/>
              <a:buFont typeface="IBM Plex Mono"/>
              <a:buNone/>
            </a:pPr>
            <a:r>
              <a:rPr b="1" i="0" lang="en" sz="17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23"/>
          <p:cNvSpPr txBox="1"/>
          <p:nvPr/>
        </p:nvSpPr>
        <p:spPr>
          <a:xfrm>
            <a:off x="6119813" y="3086100"/>
            <a:ext cx="2238375" cy="1285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Source Sans 3"/>
                <a:ea typeface="Source Sans 3"/>
                <a:cs typeface="Source Sans 3"/>
                <a:sym typeface="Source Sans 3"/>
              </a:rPr>
              <a:t>ATTACK SURFACE PER SYSTEM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3"/>
          <p:cNvSpPr/>
          <p:nvPr/>
        </p:nvSpPr>
        <p:spPr>
          <a:xfrm>
            <a:off x="6119813" y="3286125"/>
            <a:ext cx="2238375" cy="678656"/>
          </a:xfrm>
          <a:prstGeom prst="rect">
            <a:avLst/>
          </a:prstGeom>
          <a:solidFill>
            <a:srgbClr val="FDFDFD"/>
          </a:solidFill>
          <a:ln>
            <a:noFill/>
          </a:ln>
          <a:effectLst>
            <a:outerShdw blurRad="76200" rotWithShape="0" algn="bl" dir="5400000" dist="254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23"/>
          <p:cNvSpPr/>
          <p:nvPr/>
        </p:nvSpPr>
        <p:spPr>
          <a:xfrm>
            <a:off x="6119813" y="3286125"/>
            <a:ext cx="21431" cy="67865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23"/>
          <p:cNvSpPr txBox="1"/>
          <p:nvPr/>
        </p:nvSpPr>
        <p:spPr>
          <a:xfrm>
            <a:off x="6234113" y="3286125"/>
            <a:ext cx="2038350" cy="678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Every prior system evaluated on exactly one surface only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3"/>
          <p:cNvSpPr/>
          <p:nvPr/>
        </p:nvSpPr>
        <p:spPr>
          <a:xfrm>
            <a:off x="2091690" y="4150519"/>
            <a:ext cx="4960620" cy="442913"/>
          </a:xfrm>
          <a:prstGeom prst="rect">
            <a:avLst/>
          </a:prstGeom>
          <a:solidFill>
            <a:srgbClr val="FDFDFD"/>
          </a:solidFill>
          <a:ln>
            <a:noFill/>
          </a:ln>
          <a:effectLst>
            <a:outerShdw blurRad="1270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23"/>
          <p:cNvSpPr txBox="1"/>
          <p:nvPr/>
        </p:nvSpPr>
        <p:spPr>
          <a:xfrm>
            <a:off x="2234565" y="4150519"/>
            <a:ext cx="4732020" cy="4429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This is the gap </a:t>
            </a:r>
            <a:r>
              <a:rPr b="1" i="0" lang="en" sz="1200" u="none" cap="none" strike="noStrike">
                <a:solidFill>
                  <a:srgbClr val="8B1A1A"/>
                </a:solidFill>
                <a:latin typeface="Source Sans 3"/>
                <a:ea typeface="Source Sans 3"/>
                <a:cs typeface="Source Sans 3"/>
                <a:sym typeface="Source Sans 3"/>
              </a:rPr>
              <a:t>RedGrid</a:t>
            </a: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 is designed to investigate.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69" name="Google Shape;369;p23"/>
          <p:cNvCxnSpPr/>
          <p:nvPr/>
        </p:nvCxnSpPr>
        <p:spPr>
          <a:xfrm>
            <a:off x="0" y="4886325"/>
            <a:ext cx="9144000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0" name="Google Shape;370;p23"/>
          <p:cNvSpPr txBox="1"/>
          <p:nvPr/>
        </p:nvSpPr>
        <p:spPr>
          <a:xfrm>
            <a:off x="7858125" y="5000625"/>
            <a:ext cx="71437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09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23"/>
          <p:cNvSpPr/>
          <p:nvPr/>
        </p:nvSpPr>
        <p:spPr>
          <a:xfrm>
            <a:off x="0" y="5122069"/>
            <a:ext cx="36576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24"/>
          <p:cNvSpPr txBox="1"/>
          <p:nvPr/>
        </p:nvSpPr>
        <p:spPr>
          <a:xfrm>
            <a:off x="571486" y="314317"/>
            <a:ext cx="7429314" cy="4251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Introducing </a:t>
            </a:r>
            <a:r>
              <a:rPr b="1" i="0" lang="en" sz="2500" u="none" cap="none" strike="noStrike">
                <a:solidFill>
                  <a:srgbClr val="8B1A1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RedGrid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24"/>
          <p:cNvSpPr/>
          <p:nvPr/>
        </p:nvSpPr>
        <p:spPr>
          <a:xfrm>
            <a:off x="571486" y="740664"/>
            <a:ext cx="4086123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24"/>
          <p:cNvSpPr txBox="1"/>
          <p:nvPr/>
        </p:nvSpPr>
        <p:spPr>
          <a:xfrm>
            <a:off x="571486" y="925830"/>
            <a:ext cx="3457489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Arial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Dependency-Constrained UCB Exploration for Autonomous Penetration Testing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4"/>
          <p:cNvSpPr/>
          <p:nvPr/>
        </p:nvSpPr>
        <p:spPr>
          <a:xfrm>
            <a:off x="571486" y="1515618"/>
            <a:ext cx="3600360" cy="720090"/>
          </a:xfrm>
          <a:prstGeom prst="roundRect">
            <a:avLst>
              <a:gd fmla="val 3810" name="adj"/>
            </a:avLst>
          </a:prstGeom>
          <a:solidFill>
            <a:srgbClr val="FFFFFF"/>
          </a:solidFill>
          <a:ln cap="flat" cmpd="sng" w="1270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24"/>
          <p:cNvSpPr/>
          <p:nvPr/>
        </p:nvSpPr>
        <p:spPr>
          <a:xfrm>
            <a:off x="571486" y="1515618"/>
            <a:ext cx="30861" cy="72009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24"/>
          <p:cNvSpPr txBox="1"/>
          <p:nvPr/>
        </p:nvSpPr>
        <p:spPr>
          <a:xfrm>
            <a:off x="742936" y="1604772"/>
            <a:ext cx="315468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900"/>
              <a:buFont typeface="IBM Plex Mono"/>
              <a:buNone/>
            </a:pPr>
            <a:r>
              <a:rPr b="1" i="0" lang="en" sz="11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VDG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24"/>
          <p:cNvSpPr txBox="1"/>
          <p:nvPr/>
        </p:nvSpPr>
        <p:spPr>
          <a:xfrm>
            <a:off x="742936" y="1803654"/>
            <a:ext cx="3154680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Arial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Model vulnerabilities as a graph with prerequisite edges, not a flat list.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24"/>
          <p:cNvSpPr/>
          <p:nvPr/>
        </p:nvSpPr>
        <p:spPr>
          <a:xfrm>
            <a:off x="571486" y="2379726"/>
            <a:ext cx="3600360" cy="720090"/>
          </a:xfrm>
          <a:prstGeom prst="roundRect">
            <a:avLst>
              <a:gd fmla="val 3810" name="adj"/>
            </a:avLst>
          </a:prstGeom>
          <a:solidFill>
            <a:srgbClr val="FFFFFF"/>
          </a:solidFill>
          <a:ln cap="flat" cmpd="sng" w="1270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24"/>
          <p:cNvSpPr/>
          <p:nvPr/>
        </p:nvSpPr>
        <p:spPr>
          <a:xfrm>
            <a:off x="571486" y="2379726"/>
            <a:ext cx="30861" cy="720090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24"/>
          <p:cNvSpPr txBox="1"/>
          <p:nvPr/>
        </p:nvSpPr>
        <p:spPr>
          <a:xfrm>
            <a:off x="742936" y="2468880"/>
            <a:ext cx="315468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900"/>
              <a:buFont typeface="IBM Plex Mono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UCB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24"/>
          <p:cNvSpPr txBox="1"/>
          <p:nvPr/>
        </p:nvSpPr>
        <p:spPr>
          <a:xfrm>
            <a:off x="742936" y="2667762"/>
            <a:ext cx="3154680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Arial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Guide exploration with Upper Confidence Bound over the dependency-constrained frontier.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24"/>
          <p:cNvSpPr/>
          <p:nvPr/>
        </p:nvSpPr>
        <p:spPr>
          <a:xfrm>
            <a:off x="571486" y="3243834"/>
            <a:ext cx="3600360" cy="582930"/>
          </a:xfrm>
          <a:prstGeom prst="roundRect">
            <a:avLst>
              <a:gd fmla="val 4706" name="adj"/>
            </a:avLst>
          </a:prstGeom>
          <a:solidFill>
            <a:srgbClr val="FFFFFF"/>
          </a:solidFill>
          <a:ln cap="flat" cmpd="sng" w="1270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24"/>
          <p:cNvSpPr/>
          <p:nvPr/>
        </p:nvSpPr>
        <p:spPr>
          <a:xfrm>
            <a:off x="571486" y="3243834"/>
            <a:ext cx="30861" cy="58293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24"/>
          <p:cNvSpPr txBox="1"/>
          <p:nvPr/>
        </p:nvSpPr>
        <p:spPr>
          <a:xfrm>
            <a:off x="742936" y="3332988"/>
            <a:ext cx="315468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900"/>
              <a:buFont typeface="IBM Plex Mono"/>
              <a:buNone/>
            </a:pPr>
            <a:r>
              <a:rPr b="1" i="0" lang="en" sz="11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Memory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4"/>
          <p:cNvSpPr txBox="1"/>
          <p:nvPr/>
        </p:nvSpPr>
        <p:spPr>
          <a:xfrm>
            <a:off x="742936" y="3531870"/>
            <a:ext cx="3154680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Arial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Retain and reuse strategies across missions.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24"/>
          <p:cNvSpPr/>
          <p:nvPr/>
        </p:nvSpPr>
        <p:spPr>
          <a:xfrm>
            <a:off x="4457700" y="1028700"/>
            <a:ext cx="4114800" cy="3285900"/>
          </a:xfrm>
          <a:prstGeom prst="roundRect">
            <a:avLst>
              <a:gd fmla="val 1252" name="adj"/>
            </a:avLst>
          </a:prstGeom>
          <a:solidFill>
            <a:srgbClr val="FDFDFD"/>
          </a:solidFill>
          <a:ln cap="flat" cmpd="sng" w="152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24"/>
          <p:cNvSpPr/>
          <p:nvPr/>
        </p:nvSpPr>
        <p:spPr>
          <a:xfrm>
            <a:off x="4743443" y="1314443"/>
            <a:ext cx="1142971" cy="607204"/>
          </a:xfrm>
          <a:prstGeom prst="roundRect">
            <a:avLst>
              <a:gd fmla="val 5647" name="adj"/>
            </a:avLst>
          </a:prstGeom>
          <a:solidFill>
            <a:srgbClr val="FFFFFF"/>
          </a:solidFill>
          <a:ln cap="flat" cmpd="sng" w="12700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24"/>
          <p:cNvSpPr/>
          <p:nvPr/>
        </p:nvSpPr>
        <p:spPr>
          <a:xfrm>
            <a:off x="4743443" y="1314443"/>
            <a:ext cx="1142971" cy="192024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24"/>
          <p:cNvSpPr txBox="1"/>
          <p:nvPr/>
        </p:nvSpPr>
        <p:spPr>
          <a:xfrm>
            <a:off x="4743443" y="1314443"/>
            <a:ext cx="1142971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SQLi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24"/>
          <p:cNvSpPr txBox="1"/>
          <p:nvPr/>
        </p:nvSpPr>
        <p:spPr>
          <a:xfrm>
            <a:off x="4798307" y="1554472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STATE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24"/>
          <p:cNvSpPr/>
          <p:nvPr/>
        </p:nvSpPr>
        <p:spPr>
          <a:xfrm>
            <a:off x="5296626" y="1561331"/>
            <a:ext cx="534924" cy="137160"/>
          </a:xfrm>
          <a:prstGeom prst="roundRect">
            <a:avLst>
              <a:gd fmla="val 15000" name="adj"/>
            </a:avLst>
          </a:prstGeom>
          <a:solidFill>
            <a:srgbClr val="D6EDD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24"/>
          <p:cNvSpPr txBox="1"/>
          <p:nvPr/>
        </p:nvSpPr>
        <p:spPr>
          <a:xfrm>
            <a:off x="5296626" y="1561331"/>
            <a:ext cx="53492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4A28"/>
              </a:buClr>
              <a:buSzPts val="500"/>
              <a:buFont typeface="Arial"/>
              <a:buNone/>
            </a:pPr>
            <a:r>
              <a:rPr b="1" i="0" lang="en" sz="500" u="none" cap="none" strike="noStrike">
                <a:solidFill>
                  <a:srgbClr val="1A4A28"/>
                </a:solidFill>
                <a:latin typeface="Arial"/>
                <a:ea typeface="Arial"/>
                <a:cs typeface="Arial"/>
                <a:sym typeface="Arial"/>
              </a:rPr>
              <a:t>ELIGIBLE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24"/>
          <p:cNvSpPr txBox="1"/>
          <p:nvPr/>
        </p:nvSpPr>
        <p:spPr>
          <a:xfrm>
            <a:off x="4798307" y="1773929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UCB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24"/>
          <p:cNvSpPr txBox="1"/>
          <p:nvPr/>
        </p:nvSpPr>
        <p:spPr>
          <a:xfrm>
            <a:off x="5296626" y="1773929"/>
            <a:ext cx="534924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3.42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24"/>
          <p:cNvSpPr/>
          <p:nvPr/>
        </p:nvSpPr>
        <p:spPr>
          <a:xfrm>
            <a:off x="4743443" y="3278925"/>
            <a:ext cx="1142971" cy="607204"/>
          </a:xfrm>
          <a:prstGeom prst="roundRect">
            <a:avLst>
              <a:gd fmla="val 5647" name="adj"/>
            </a:avLst>
          </a:prstGeom>
          <a:solidFill>
            <a:srgbClr val="FFFFFF"/>
          </a:solidFill>
          <a:ln cap="flat" cmpd="sng" w="12700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24"/>
          <p:cNvSpPr/>
          <p:nvPr/>
        </p:nvSpPr>
        <p:spPr>
          <a:xfrm>
            <a:off x="4743443" y="3278925"/>
            <a:ext cx="1142971" cy="192024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24"/>
          <p:cNvSpPr txBox="1"/>
          <p:nvPr/>
        </p:nvSpPr>
        <p:spPr>
          <a:xfrm>
            <a:off x="4743443" y="3278925"/>
            <a:ext cx="1142971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XSS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24"/>
          <p:cNvSpPr txBox="1"/>
          <p:nvPr/>
        </p:nvSpPr>
        <p:spPr>
          <a:xfrm>
            <a:off x="4798307" y="3518955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STATE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24"/>
          <p:cNvSpPr/>
          <p:nvPr/>
        </p:nvSpPr>
        <p:spPr>
          <a:xfrm>
            <a:off x="5296626" y="3525813"/>
            <a:ext cx="534924" cy="137160"/>
          </a:xfrm>
          <a:prstGeom prst="roundRect">
            <a:avLst>
              <a:gd fmla="val 15000" name="adj"/>
            </a:avLst>
          </a:prstGeom>
          <a:solidFill>
            <a:srgbClr val="D6EDD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24"/>
          <p:cNvSpPr txBox="1"/>
          <p:nvPr/>
        </p:nvSpPr>
        <p:spPr>
          <a:xfrm>
            <a:off x="5296626" y="3525813"/>
            <a:ext cx="53492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4A28"/>
              </a:buClr>
              <a:buSzPts val="500"/>
              <a:buFont typeface="Arial"/>
              <a:buNone/>
            </a:pPr>
            <a:r>
              <a:rPr b="1" i="0" lang="en" sz="500" u="none" cap="none" strike="noStrike">
                <a:solidFill>
                  <a:srgbClr val="1A4A28"/>
                </a:solidFill>
                <a:latin typeface="Arial"/>
                <a:ea typeface="Arial"/>
                <a:cs typeface="Arial"/>
                <a:sym typeface="Arial"/>
              </a:rPr>
              <a:t>ELIGIBLE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4"/>
          <p:cNvSpPr txBox="1"/>
          <p:nvPr/>
        </p:nvSpPr>
        <p:spPr>
          <a:xfrm>
            <a:off x="4798307" y="3738411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UCB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24"/>
          <p:cNvSpPr txBox="1"/>
          <p:nvPr/>
        </p:nvSpPr>
        <p:spPr>
          <a:xfrm>
            <a:off x="5296626" y="3738411"/>
            <a:ext cx="534924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2.81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24"/>
          <p:cNvSpPr/>
          <p:nvPr/>
        </p:nvSpPr>
        <p:spPr>
          <a:xfrm>
            <a:off x="5854408" y="2347546"/>
            <a:ext cx="1184120" cy="648352"/>
          </a:xfrm>
          <a:prstGeom prst="roundRect">
            <a:avLst>
              <a:gd fmla="val 5289" name="adj"/>
            </a:avLst>
          </a:prstGeom>
          <a:noFill/>
          <a:ln cap="flat" cmpd="sng" w="19050">
            <a:solidFill>
              <a:srgbClr val="A063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24"/>
          <p:cNvSpPr/>
          <p:nvPr/>
        </p:nvSpPr>
        <p:spPr>
          <a:xfrm>
            <a:off x="5874983" y="2368120"/>
            <a:ext cx="1142972" cy="607204"/>
          </a:xfrm>
          <a:prstGeom prst="roundRect">
            <a:avLst>
              <a:gd fmla="val 5647" name="adj"/>
            </a:avLst>
          </a:prstGeom>
          <a:solidFill>
            <a:srgbClr val="FFFFFF"/>
          </a:solidFill>
          <a:ln cap="flat" cmpd="sng" w="12700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24"/>
          <p:cNvSpPr/>
          <p:nvPr/>
        </p:nvSpPr>
        <p:spPr>
          <a:xfrm>
            <a:off x="5874983" y="2368120"/>
            <a:ext cx="1142972" cy="192024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24"/>
          <p:cNvSpPr txBox="1"/>
          <p:nvPr/>
        </p:nvSpPr>
        <p:spPr>
          <a:xfrm>
            <a:off x="5874983" y="2368120"/>
            <a:ext cx="1142972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Auth Bypass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24"/>
          <p:cNvSpPr txBox="1"/>
          <p:nvPr/>
        </p:nvSpPr>
        <p:spPr>
          <a:xfrm>
            <a:off x="5929847" y="2608150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STATE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24"/>
          <p:cNvSpPr/>
          <p:nvPr/>
        </p:nvSpPr>
        <p:spPr>
          <a:xfrm>
            <a:off x="6428166" y="2615008"/>
            <a:ext cx="534924" cy="137160"/>
          </a:xfrm>
          <a:prstGeom prst="roundRect">
            <a:avLst>
              <a:gd fmla="val 15000" name="adj"/>
            </a:avLst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24"/>
          <p:cNvSpPr txBox="1"/>
          <p:nvPr/>
        </p:nvSpPr>
        <p:spPr>
          <a:xfrm>
            <a:off x="6428166" y="2615008"/>
            <a:ext cx="53492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al"/>
              <a:buNone/>
            </a:pPr>
            <a:r>
              <a:rPr b="1" i="0" lang="en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NEXT ►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24"/>
          <p:cNvSpPr txBox="1"/>
          <p:nvPr/>
        </p:nvSpPr>
        <p:spPr>
          <a:xfrm>
            <a:off x="5929847" y="2827606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UCB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24"/>
          <p:cNvSpPr txBox="1"/>
          <p:nvPr/>
        </p:nvSpPr>
        <p:spPr>
          <a:xfrm>
            <a:off x="6428166" y="2827606"/>
            <a:ext cx="534924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4.17 ★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24"/>
          <p:cNvSpPr/>
          <p:nvPr/>
        </p:nvSpPr>
        <p:spPr>
          <a:xfrm>
            <a:off x="7317988" y="2368120"/>
            <a:ext cx="1142971" cy="607204"/>
          </a:xfrm>
          <a:prstGeom prst="roundRect">
            <a:avLst>
              <a:gd fmla="val 5647" name="adj"/>
            </a:avLst>
          </a:prstGeom>
          <a:solidFill>
            <a:srgbClr val="FFFFFF"/>
          </a:solidFill>
          <a:ln cap="flat" cmpd="sng" w="12700">
            <a:solidFill>
              <a:srgbClr val="6B6B7A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24"/>
          <p:cNvSpPr/>
          <p:nvPr/>
        </p:nvSpPr>
        <p:spPr>
          <a:xfrm>
            <a:off x="7317988" y="2368120"/>
            <a:ext cx="1142971" cy="192024"/>
          </a:xfrm>
          <a:prstGeom prst="rect">
            <a:avLst/>
          </a:prstGeom>
          <a:solidFill>
            <a:srgbClr val="4A4A5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24"/>
          <p:cNvSpPr txBox="1"/>
          <p:nvPr/>
        </p:nvSpPr>
        <p:spPr>
          <a:xfrm>
            <a:off x="7317988" y="2368120"/>
            <a:ext cx="1142971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RCE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24"/>
          <p:cNvSpPr txBox="1"/>
          <p:nvPr/>
        </p:nvSpPr>
        <p:spPr>
          <a:xfrm>
            <a:off x="7372852" y="2608150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STATE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24"/>
          <p:cNvSpPr/>
          <p:nvPr/>
        </p:nvSpPr>
        <p:spPr>
          <a:xfrm>
            <a:off x="7871172" y="2615008"/>
            <a:ext cx="534924" cy="137160"/>
          </a:xfrm>
          <a:prstGeom prst="roundRect">
            <a:avLst>
              <a:gd fmla="val 15000" name="adj"/>
            </a:avLst>
          </a:prstGeom>
          <a:solidFill>
            <a:srgbClr val="E8E4D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24"/>
          <p:cNvSpPr txBox="1"/>
          <p:nvPr/>
        </p:nvSpPr>
        <p:spPr>
          <a:xfrm>
            <a:off x="7871172" y="2615008"/>
            <a:ext cx="53492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500"/>
              <a:buFont typeface="Arial"/>
              <a:buNone/>
            </a:pPr>
            <a:r>
              <a:rPr b="1" i="0" lang="en" sz="500" u="none" cap="none" strike="noStrike">
                <a:solidFill>
                  <a:srgbClr val="6B6B7A"/>
                </a:solidFill>
                <a:latin typeface="Arial"/>
                <a:ea typeface="Arial"/>
                <a:cs typeface="Arial"/>
                <a:sym typeface="Arial"/>
              </a:rPr>
              <a:t>BLOCKED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24"/>
          <p:cNvSpPr txBox="1"/>
          <p:nvPr/>
        </p:nvSpPr>
        <p:spPr>
          <a:xfrm>
            <a:off x="7372852" y="2827606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UCB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24"/>
          <p:cNvSpPr txBox="1"/>
          <p:nvPr/>
        </p:nvSpPr>
        <p:spPr>
          <a:xfrm>
            <a:off x="7871172" y="2827606"/>
            <a:ext cx="534924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—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26" name="Google Shape;426;p24"/>
          <p:cNvCxnSpPr>
            <a:endCxn id="412" idx="0"/>
          </p:cNvCxnSpPr>
          <p:nvPr/>
        </p:nvCxnSpPr>
        <p:spPr>
          <a:xfrm>
            <a:off x="5879469" y="1640020"/>
            <a:ext cx="567000" cy="728100"/>
          </a:xfrm>
          <a:prstGeom prst="straightConnector1">
            <a:avLst/>
          </a:prstGeom>
          <a:noFill/>
          <a:ln cap="flat" cmpd="sng" w="22225">
            <a:solidFill>
              <a:srgbClr val="4A4A5E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427" name="Google Shape;427;p24"/>
          <p:cNvCxnSpPr/>
          <p:nvPr/>
        </p:nvCxnSpPr>
        <p:spPr>
          <a:xfrm flipH="1" rot="10800000">
            <a:off x="5874974" y="2999043"/>
            <a:ext cx="472800" cy="530400"/>
          </a:xfrm>
          <a:prstGeom prst="straightConnector1">
            <a:avLst/>
          </a:prstGeom>
          <a:noFill/>
          <a:ln cap="flat" cmpd="sng" w="22225">
            <a:solidFill>
              <a:srgbClr val="4A4A5E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428" name="Google Shape;428;p24"/>
          <p:cNvCxnSpPr/>
          <p:nvPr/>
        </p:nvCxnSpPr>
        <p:spPr>
          <a:xfrm>
            <a:off x="7059102" y="2464132"/>
            <a:ext cx="217738" cy="6858"/>
          </a:xfrm>
          <a:prstGeom prst="straightConnector1">
            <a:avLst/>
          </a:prstGeom>
          <a:noFill/>
          <a:ln cap="flat" cmpd="sng" w="22225">
            <a:solidFill>
              <a:srgbClr val="8B1A1A"/>
            </a:solidFill>
            <a:prstDash val="dash"/>
            <a:round/>
            <a:headEnd len="sm" w="sm" type="none"/>
            <a:tailEnd len="med" w="med" type="triangle"/>
          </a:ln>
        </p:spPr>
      </p:cxnSp>
      <p:sp>
        <p:nvSpPr>
          <p:cNvPr id="429" name="Google Shape;429;p24"/>
          <p:cNvSpPr txBox="1"/>
          <p:nvPr/>
        </p:nvSpPr>
        <p:spPr>
          <a:xfrm>
            <a:off x="6655526" y="3043868"/>
            <a:ext cx="205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400"/>
              <a:buFont typeface="Calibri"/>
              <a:buNone/>
            </a:pPr>
            <a:r>
              <a:rPr b="1" i="0" lang="en" sz="2300" u="none" cap="none" strike="noStrike">
                <a:solidFill>
                  <a:srgbClr val="8B1A1A"/>
                </a:solidFill>
                <a:latin typeface="Calibri"/>
                <a:ea typeface="Calibri"/>
                <a:cs typeface="Calibri"/>
                <a:sym typeface="Calibri"/>
              </a:rPr>
              <a:t>↑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24"/>
          <p:cNvSpPr/>
          <p:nvPr/>
        </p:nvSpPr>
        <p:spPr>
          <a:xfrm>
            <a:off x="6447881" y="3318224"/>
            <a:ext cx="1440180" cy="20574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24"/>
          <p:cNvSpPr txBox="1"/>
          <p:nvPr/>
        </p:nvSpPr>
        <p:spPr>
          <a:xfrm>
            <a:off x="6447881" y="3318224"/>
            <a:ext cx="14403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Agent targets highest UCB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24"/>
          <p:cNvSpPr txBox="1"/>
          <p:nvPr/>
        </p:nvSpPr>
        <p:spPr>
          <a:xfrm>
            <a:off x="4457700" y="4451902"/>
            <a:ext cx="4114697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Vulnerability Dependency Graph (VDG) — conceptual sketch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24"/>
          <p:cNvSpPr/>
          <p:nvPr/>
        </p:nvSpPr>
        <p:spPr>
          <a:xfrm>
            <a:off x="0" y="4886203"/>
            <a:ext cx="9143771" cy="6858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24"/>
          <p:cNvSpPr txBox="1"/>
          <p:nvPr/>
        </p:nvSpPr>
        <p:spPr>
          <a:xfrm>
            <a:off x="7886700" y="4896612"/>
            <a:ext cx="569214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10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24"/>
          <p:cNvSpPr/>
          <p:nvPr/>
        </p:nvSpPr>
        <p:spPr>
          <a:xfrm>
            <a:off x="0" y="5122926"/>
            <a:ext cx="4114697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25"/>
          <p:cNvSpPr txBox="1"/>
          <p:nvPr/>
        </p:nvSpPr>
        <p:spPr>
          <a:xfrm>
            <a:off x="571500" y="314325"/>
            <a:ext cx="7429271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Research Objectives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25"/>
          <p:cNvSpPr/>
          <p:nvPr/>
        </p:nvSpPr>
        <p:spPr>
          <a:xfrm>
            <a:off x="571500" y="778669"/>
            <a:ext cx="4086099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25"/>
          <p:cNvSpPr txBox="1"/>
          <p:nvPr/>
        </p:nvSpPr>
        <p:spPr>
          <a:xfrm>
            <a:off x="571500" y="842963"/>
            <a:ext cx="7429271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FIVE WORKING GOALS AT INCEPTION STAGE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25"/>
          <p:cNvSpPr/>
          <p:nvPr/>
        </p:nvSpPr>
        <p:spPr>
          <a:xfrm>
            <a:off x="571500" y="1114425"/>
            <a:ext cx="8000771" cy="557213"/>
          </a:xfrm>
          <a:prstGeom prst="roundRect">
            <a:avLst>
              <a:gd fmla="val 7385" name="adj"/>
            </a:avLst>
          </a:prstGeom>
          <a:solidFill>
            <a:srgbClr val="FFFFFF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25"/>
          <p:cNvSpPr/>
          <p:nvPr/>
        </p:nvSpPr>
        <p:spPr>
          <a:xfrm>
            <a:off x="571500" y="1114425"/>
            <a:ext cx="28575" cy="557213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25"/>
          <p:cNvSpPr/>
          <p:nvPr/>
        </p:nvSpPr>
        <p:spPr>
          <a:xfrm>
            <a:off x="742950" y="1235869"/>
            <a:ext cx="314325" cy="314325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BM Plex Mono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25"/>
          <p:cNvSpPr txBox="1"/>
          <p:nvPr/>
        </p:nvSpPr>
        <p:spPr>
          <a:xfrm>
            <a:off x="1228725" y="1114425"/>
            <a:ext cx="1857375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VDG Formalization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25"/>
          <p:cNvSpPr txBox="1"/>
          <p:nvPr/>
        </p:nvSpPr>
        <p:spPr>
          <a:xfrm>
            <a:off x="3257550" y="1114425"/>
            <a:ext cx="5143271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Investigate whether a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prerequisite-edge graph</a:t>
            </a: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 improves agent exploration over a flat priority list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25"/>
          <p:cNvSpPr/>
          <p:nvPr/>
        </p:nvSpPr>
        <p:spPr>
          <a:xfrm>
            <a:off x="571500" y="1743075"/>
            <a:ext cx="8000771" cy="557213"/>
          </a:xfrm>
          <a:prstGeom prst="roundRect">
            <a:avLst>
              <a:gd fmla="val 7385" name="adj"/>
            </a:avLst>
          </a:prstGeom>
          <a:solidFill>
            <a:srgbClr val="FFFFFF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25"/>
          <p:cNvSpPr/>
          <p:nvPr/>
        </p:nvSpPr>
        <p:spPr>
          <a:xfrm>
            <a:off x="571500" y="1743075"/>
            <a:ext cx="28575" cy="557213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25"/>
          <p:cNvSpPr/>
          <p:nvPr/>
        </p:nvSpPr>
        <p:spPr>
          <a:xfrm>
            <a:off x="742950" y="1864519"/>
            <a:ext cx="314325" cy="314325"/>
          </a:xfrm>
          <a:prstGeom prst="ellipse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BM Plex Mono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25"/>
          <p:cNvSpPr txBox="1"/>
          <p:nvPr/>
        </p:nvSpPr>
        <p:spPr>
          <a:xfrm>
            <a:off x="1228725" y="1743075"/>
            <a:ext cx="1857375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Dual-Layer World Model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25"/>
          <p:cNvSpPr txBox="1"/>
          <p:nvPr/>
        </p:nvSpPr>
        <p:spPr>
          <a:xfrm>
            <a:off x="3257550" y="1743075"/>
            <a:ext cx="5143271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Separate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confirmed facts</a:t>
            </a: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 from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inferred hypotheses</a:t>
            </a: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 for independent ablation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25"/>
          <p:cNvSpPr/>
          <p:nvPr/>
        </p:nvSpPr>
        <p:spPr>
          <a:xfrm>
            <a:off x="571500" y="2371725"/>
            <a:ext cx="8000771" cy="557213"/>
          </a:xfrm>
          <a:prstGeom prst="roundRect">
            <a:avLst>
              <a:gd fmla="val 7385" name="adj"/>
            </a:avLst>
          </a:prstGeom>
          <a:solidFill>
            <a:srgbClr val="FFFFFF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25"/>
          <p:cNvSpPr/>
          <p:nvPr/>
        </p:nvSpPr>
        <p:spPr>
          <a:xfrm>
            <a:off x="571500" y="2371725"/>
            <a:ext cx="28575" cy="557213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25"/>
          <p:cNvSpPr/>
          <p:nvPr/>
        </p:nvSpPr>
        <p:spPr>
          <a:xfrm>
            <a:off x="742950" y="2493169"/>
            <a:ext cx="314325" cy="314325"/>
          </a:xfrm>
          <a:prstGeom prst="ellipse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BM Plex Mono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25"/>
          <p:cNvSpPr txBox="1"/>
          <p:nvPr/>
        </p:nvSpPr>
        <p:spPr>
          <a:xfrm>
            <a:off x="1228725" y="2371725"/>
            <a:ext cx="1857375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Multi-Layer Orchestration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25"/>
          <p:cNvSpPr txBox="1"/>
          <p:nvPr/>
        </p:nvSpPr>
        <p:spPr>
          <a:xfrm>
            <a:off x="3257550" y="2371725"/>
            <a:ext cx="5143271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Design a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four-layer agent hierarchy</a:t>
            </a: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 matching the strongest surveyed systems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25"/>
          <p:cNvSpPr/>
          <p:nvPr/>
        </p:nvSpPr>
        <p:spPr>
          <a:xfrm>
            <a:off x="571500" y="3000375"/>
            <a:ext cx="8000771" cy="557213"/>
          </a:xfrm>
          <a:prstGeom prst="roundRect">
            <a:avLst>
              <a:gd fmla="val 7385" name="adj"/>
            </a:avLst>
          </a:prstGeom>
          <a:solidFill>
            <a:srgbClr val="FFFFFF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" name="Google Shape;460;p25"/>
          <p:cNvSpPr/>
          <p:nvPr/>
        </p:nvSpPr>
        <p:spPr>
          <a:xfrm>
            <a:off x="571500" y="3000375"/>
            <a:ext cx="28575" cy="557213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" name="Google Shape;461;p25"/>
          <p:cNvSpPr/>
          <p:nvPr/>
        </p:nvSpPr>
        <p:spPr>
          <a:xfrm>
            <a:off x="742950" y="3121819"/>
            <a:ext cx="314325" cy="314325"/>
          </a:xfrm>
          <a:prstGeom prst="ellipse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BM Plex Mono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25"/>
          <p:cNvSpPr txBox="1"/>
          <p:nvPr/>
        </p:nvSpPr>
        <p:spPr>
          <a:xfrm>
            <a:off x="1228725" y="3000375"/>
            <a:ext cx="1857375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Cross-Mission Memory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25"/>
          <p:cNvSpPr txBox="1"/>
          <p:nvPr/>
        </p:nvSpPr>
        <p:spPr>
          <a:xfrm>
            <a:off x="3257550" y="3000375"/>
            <a:ext cx="5143271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Determine whether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strategy reuse</a:t>
            </a: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 offers measurable benefit vs.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negative-transfer risk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25"/>
          <p:cNvSpPr/>
          <p:nvPr/>
        </p:nvSpPr>
        <p:spPr>
          <a:xfrm>
            <a:off x="571500" y="3629025"/>
            <a:ext cx="8000771" cy="557213"/>
          </a:xfrm>
          <a:prstGeom prst="roundRect">
            <a:avLst>
              <a:gd fmla="val 7385" name="adj"/>
            </a:avLst>
          </a:prstGeom>
          <a:solidFill>
            <a:srgbClr val="FFFFFF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5" name="Google Shape;465;p25"/>
          <p:cNvSpPr/>
          <p:nvPr/>
        </p:nvSpPr>
        <p:spPr>
          <a:xfrm>
            <a:off x="571500" y="3629025"/>
            <a:ext cx="28575" cy="557213"/>
          </a:xfrm>
          <a:prstGeom prst="rect">
            <a:avLst/>
          </a:prstGeom>
          <a:solidFill>
            <a:srgbClr val="6B6B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25"/>
          <p:cNvSpPr/>
          <p:nvPr/>
        </p:nvSpPr>
        <p:spPr>
          <a:xfrm>
            <a:off x="742950" y="3750469"/>
            <a:ext cx="314325" cy="314325"/>
          </a:xfrm>
          <a:prstGeom prst="ellipse">
            <a:avLst/>
          </a:prstGeom>
          <a:solidFill>
            <a:srgbClr val="6B6B7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BM Plex Mono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5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25"/>
          <p:cNvSpPr txBox="1"/>
          <p:nvPr/>
        </p:nvSpPr>
        <p:spPr>
          <a:xfrm>
            <a:off x="1228725" y="3629025"/>
            <a:ext cx="1857375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Benchmark-Grounded Evaluation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25"/>
          <p:cNvSpPr txBox="1"/>
          <p:nvPr/>
        </p:nvSpPr>
        <p:spPr>
          <a:xfrm>
            <a:off x="3257550" y="3629025"/>
            <a:ext cx="5143271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Evaluate on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oracle-backed benchmarks</a:t>
            </a: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 across 3+ attack surfaces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25"/>
          <p:cNvSpPr txBox="1"/>
          <p:nvPr/>
        </p:nvSpPr>
        <p:spPr>
          <a:xfrm>
            <a:off x="571500" y="4371975"/>
            <a:ext cx="8000771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highlight>
                  <a:srgbClr val="8B1A1A"/>
                </a:highlight>
                <a:latin typeface="IBM Plex Mono"/>
                <a:ea typeface="IBM Plex Mono"/>
                <a:cs typeface="IBM Plex Mono"/>
                <a:sym typeface="IBM Plex Mono"/>
              </a:rPr>
              <a:t> NOTE </a:t>
            </a:r>
            <a:r>
              <a:rPr b="1" i="0" lang="en" sz="900" u="none" cap="none" strike="noStrike">
                <a:solidFill>
                  <a:srgbClr val="6B6B7A"/>
                </a:solidFill>
                <a:latin typeface="Source Sans 3"/>
                <a:ea typeface="Source Sans 3"/>
                <a:cs typeface="Source Sans 3"/>
                <a:sym typeface="Source Sans 3"/>
              </a:rPr>
              <a:t>   These reflect the research direction at inception stage. Scope will evolve with implementation.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70" name="Google Shape;470;p25"/>
          <p:cNvCxnSpPr/>
          <p:nvPr/>
        </p:nvCxnSpPr>
        <p:spPr>
          <a:xfrm>
            <a:off x="0" y="4886325"/>
            <a:ext cx="9143771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71" name="Google Shape;471;p25"/>
          <p:cNvSpPr txBox="1"/>
          <p:nvPr/>
        </p:nvSpPr>
        <p:spPr>
          <a:xfrm>
            <a:off x="7886471" y="4957763"/>
            <a:ext cx="685800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11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25"/>
          <p:cNvSpPr/>
          <p:nvPr/>
        </p:nvSpPr>
        <p:spPr>
          <a:xfrm>
            <a:off x="0" y="5122069"/>
            <a:ext cx="4571886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26"/>
          <p:cNvSpPr txBox="1"/>
          <p:nvPr/>
        </p:nvSpPr>
        <p:spPr>
          <a:xfrm>
            <a:off x="571271" y="314096"/>
            <a:ext cx="7429271" cy="445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Expected Contributions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26"/>
          <p:cNvSpPr/>
          <p:nvPr/>
        </p:nvSpPr>
        <p:spPr>
          <a:xfrm>
            <a:off x="571271" y="747522"/>
            <a:ext cx="4085996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26"/>
          <p:cNvSpPr txBox="1"/>
          <p:nvPr/>
        </p:nvSpPr>
        <p:spPr>
          <a:xfrm>
            <a:off x="571271" y="870966"/>
            <a:ext cx="7429271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700"/>
              <a:buFont typeface="IBM Plex Mono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ⓘ  THE FOLLOWING SLIDES ARE HIGH-LEVEL SKETCHES — IMPLEMENTATION HAS NOT STARTED.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26"/>
          <p:cNvSpPr/>
          <p:nvPr/>
        </p:nvSpPr>
        <p:spPr>
          <a:xfrm>
            <a:off x="571275" y="1285875"/>
            <a:ext cx="2552400" cy="2309400"/>
          </a:xfrm>
          <a:prstGeom prst="roundRect">
            <a:avLst>
              <a:gd fmla="val 2230" name="adj"/>
            </a:avLst>
          </a:prstGeom>
          <a:solidFill>
            <a:srgbClr val="F7EDED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26"/>
          <p:cNvSpPr/>
          <p:nvPr/>
        </p:nvSpPr>
        <p:spPr>
          <a:xfrm>
            <a:off x="571271" y="1285875"/>
            <a:ext cx="2552548" cy="2880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26"/>
          <p:cNvSpPr txBox="1"/>
          <p:nvPr/>
        </p:nvSpPr>
        <p:spPr>
          <a:xfrm>
            <a:off x="828446" y="1543050"/>
            <a:ext cx="203819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700"/>
              <a:buFont typeface="IBM Plex Mono"/>
              <a:buNone/>
            </a:pPr>
            <a:r>
              <a:rPr b="1" i="0" lang="en" sz="11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C1 — PRIMARY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26"/>
          <p:cNvSpPr txBox="1"/>
          <p:nvPr/>
        </p:nvSpPr>
        <p:spPr>
          <a:xfrm>
            <a:off x="828446" y="1794739"/>
            <a:ext cx="203819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Smarter Exploration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85" name="Google Shape;485;p26"/>
          <p:cNvCxnSpPr/>
          <p:nvPr/>
        </p:nvCxnSpPr>
        <p:spPr>
          <a:xfrm>
            <a:off x="828446" y="2014195"/>
            <a:ext cx="2038198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882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6" name="Google Shape;486;p26"/>
          <p:cNvSpPr txBox="1"/>
          <p:nvPr/>
        </p:nvSpPr>
        <p:spPr>
          <a:xfrm>
            <a:off x="828450" y="2099923"/>
            <a:ext cx="2038200" cy="13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300"/>
              <a:buFont typeface="Playfair Display"/>
              <a:buNone/>
            </a:pPr>
            <a:r>
              <a:rPr b="0" i="1" lang="en" sz="1300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“Can modeling vulnerabilities as a graph — with explicit prerequisites — help an agent explore more intelligently?”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26"/>
          <p:cNvSpPr/>
          <p:nvPr/>
        </p:nvSpPr>
        <p:spPr>
          <a:xfrm>
            <a:off x="3295275" y="1285875"/>
            <a:ext cx="2552400" cy="2309400"/>
          </a:xfrm>
          <a:prstGeom prst="roundRect">
            <a:avLst>
              <a:gd fmla="val 2230" name="adj"/>
            </a:avLst>
          </a:prstGeom>
          <a:solidFill>
            <a:srgbClr val="EDF5EE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p26"/>
          <p:cNvSpPr/>
          <p:nvPr/>
        </p:nvSpPr>
        <p:spPr>
          <a:xfrm>
            <a:off x="3295269" y="1285875"/>
            <a:ext cx="2552548" cy="28804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26"/>
          <p:cNvSpPr txBox="1"/>
          <p:nvPr/>
        </p:nvSpPr>
        <p:spPr>
          <a:xfrm>
            <a:off x="3552444" y="1543050"/>
            <a:ext cx="203819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700"/>
              <a:buFont typeface="IBM Plex Mono"/>
              <a:buNone/>
            </a:pPr>
            <a:r>
              <a:rPr b="1" i="0" lang="en" sz="1100" u="none" cap="none" strike="noStrike">
                <a:solidFill>
                  <a:srgbClr val="2A6B3C"/>
                </a:solidFill>
                <a:latin typeface="IBM Plex Mono"/>
                <a:ea typeface="IBM Plex Mono"/>
                <a:cs typeface="IBM Plex Mono"/>
                <a:sym typeface="IBM Plex Mono"/>
              </a:rPr>
              <a:t>C2 — SUPPORTING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26"/>
          <p:cNvSpPr txBox="1"/>
          <p:nvPr/>
        </p:nvSpPr>
        <p:spPr>
          <a:xfrm>
            <a:off x="3552444" y="1794739"/>
            <a:ext cx="203819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Learning Across Missions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91" name="Google Shape;491;p26"/>
          <p:cNvCxnSpPr/>
          <p:nvPr/>
        </p:nvCxnSpPr>
        <p:spPr>
          <a:xfrm>
            <a:off x="3552444" y="2014195"/>
            <a:ext cx="2038198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882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2" name="Google Shape;492;p26"/>
          <p:cNvSpPr txBox="1"/>
          <p:nvPr/>
        </p:nvSpPr>
        <p:spPr>
          <a:xfrm>
            <a:off x="3552450" y="2099923"/>
            <a:ext cx="2038200" cy="13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300"/>
              <a:buFont typeface="Playfair Display"/>
              <a:buNone/>
            </a:pPr>
            <a:r>
              <a:rPr b="0" i="1" lang="en" sz="1300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“Can an agent carry forward what it learned in past engagements to perform better on similar targets?”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26"/>
          <p:cNvSpPr/>
          <p:nvPr/>
        </p:nvSpPr>
        <p:spPr>
          <a:xfrm>
            <a:off x="6019275" y="1285875"/>
            <a:ext cx="2552400" cy="2309400"/>
          </a:xfrm>
          <a:prstGeom prst="roundRect">
            <a:avLst>
              <a:gd fmla="val 2230" name="adj"/>
            </a:avLst>
          </a:prstGeom>
          <a:solidFill>
            <a:srgbClr val="EDF2F7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26"/>
          <p:cNvSpPr/>
          <p:nvPr/>
        </p:nvSpPr>
        <p:spPr>
          <a:xfrm>
            <a:off x="6019267" y="1285875"/>
            <a:ext cx="2552548" cy="28804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26"/>
          <p:cNvSpPr txBox="1"/>
          <p:nvPr/>
        </p:nvSpPr>
        <p:spPr>
          <a:xfrm>
            <a:off x="6276442" y="1543050"/>
            <a:ext cx="203819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IBM Plex Mono"/>
              <a:buNone/>
            </a:pPr>
            <a:r>
              <a:rPr b="1" i="0" lang="en" sz="11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C3 — METHODOLOGICAL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26"/>
          <p:cNvSpPr txBox="1"/>
          <p:nvPr/>
        </p:nvSpPr>
        <p:spPr>
          <a:xfrm>
            <a:off x="6276442" y="1794739"/>
            <a:ext cx="203819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Consistent Evaluation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97" name="Google Shape;497;p26"/>
          <p:cNvCxnSpPr/>
          <p:nvPr/>
        </p:nvCxnSpPr>
        <p:spPr>
          <a:xfrm>
            <a:off x="6276442" y="2014195"/>
            <a:ext cx="2038198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882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8" name="Google Shape;498;p26"/>
          <p:cNvSpPr txBox="1"/>
          <p:nvPr/>
        </p:nvSpPr>
        <p:spPr>
          <a:xfrm>
            <a:off x="6276450" y="2099923"/>
            <a:ext cx="2038200" cy="13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300"/>
              <a:buFont typeface="Playfair Display"/>
              <a:buNone/>
            </a:pPr>
            <a:r>
              <a:rPr b="0" i="1" lang="en" sz="1300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“Can a single architecture be tested fairly across web, GraphQL, and multi-host surfaces using standardized oracles?”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26"/>
          <p:cNvSpPr/>
          <p:nvPr/>
        </p:nvSpPr>
        <p:spPr>
          <a:xfrm>
            <a:off x="1917865" y="4600362"/>
            <a:ext cx="754500" cy="192000"/>
          </a:xfrm>
          <a:prstGeom prst="roundRect">
            <a:avLst>
              <a:gd fmla="val 14286" name="adj"/>
            </a:avLst>
          </a:prstGeom>
          <a:solidFill>
            <a:srgbClr val="1A1A2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26"/>
          <p:cNvSpPr txBox="1"/>
          <p:nvPr/>
        </p:nvSpPr>
        <p:spPr>
          <a:xfrm>
            <a:off x="1917865" y="4600362"/>
            <a:ext cx="7545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DISCLAIMER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26"/>
          <p:cNvSpPr txBox="1"/>
          <p:nvPr/>
        </p:nvSpPr>
        <p:spPr>
          <a:xfrm>
            <a:off x="2245995" y="4609262"/>
            <a:ext cx="54864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800"/>
              <a:buFont typeface="Source Sans 3"/>
              <a:buNone/>
            </a:pPr>
            <a:r>
              <a:rPr b="1" i="0" lang="en" sz="1000" u="none" cap="none" strike="noStrike">
                <a:solidFill>
                  <a:srgbClr val="6B6B7A"/>
                </a:solidFill>
                <a:latin typeface="Source Sans 3"/>
                <a:ea typeface="Source Sans 3"/>
                <a:cs typeface="Source Sans 3"/>
                <a:sym typeface="Source Sans 3"/>
              </a:rPr>
              <a:t>These are research questions. Answers come from experiments — not this report.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02" name="Google Shape;502;p26"/>
          <p:cNvCxnSpPr/>
          <p:nvPr/>
        </p:nvCxnSpPr>
        <p:spPr>
          <a:xfrm>
            <a:off x="0" y="4886325"/>
            <a:ext cx="9143771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3" name="Google Shape;503;p26"/>
          <p:cNvSpPr txBox="1"/>
          <p:nvPr/>
        </p:nvSpPr>
        <p:spPr>
          <a:xfrm>
            <a:off x="7886700" y="4969307"/>
            <a:ext cx="6858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12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26"/>
          <p:cNvSpPr/>
          <p:nvPr/>
        </p:nvSpPr>
        <p:spPr>
          <a:xfrm>
            <a:off x="0" y="5122926"/>
            <a:ext cx="5028971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27"/>
          <p:cNvSpPr txBox="1"/>
          <p:nvPr/>
        </p:nvSpPr>
        <p:spPr>
          <a:xfrm>
            <a:off x="571271" y="260604"/>
            <a:ext cx="7429271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RedGrid — The Core Idea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27"/>
          <p:cNvSpPr/>
          <p:nvPr/>
        </p:nvSpPr>
        <p:spPr>
          <a:xfrm>
            <a:off x="571271" y="720090"/>
            <a:ext cx="4085996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12" name="Google Shape;512;p27"/>
          <p:cNvCxnSpPr/>
          <p:nvPr/>
        </p:nvCxnSpPr>
        <p:spPr>
          <a:xfrm>
            <a:off x="2643074" y="2400300"/>
            <a:ext cx="1036200" cy="0"/>
          </a:xfrm>
          <a:prstGeom prst="straightConnector1">
            <a:avLst/>
          </a:prstGeom>
          <a:noFill/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med" w="med" type="oval"/>
          </a:ln>
        </p:spPr>
      </p:cxnSp>
      <p:cxnSp>
        <p:nvCxnSpPr>
          <p:cNvPr id="513" name="Google Shape;513;p27"/>
          <p:cNvCxnSpPr/>
          <p:nvPr/>
        </p:nvCxnSpPr>
        <p:spPr>
          <a:xfrm>
            <a:off x="5465141" y="2400300"/>
            <a:ext cx="1035558" cy="0"/>
          </a:xfrm>
          <a:prstGeom prst="straightConnector1">
            <a:avLst/>
          </a:prstGeom>
          <a:noFill/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med" w="med" type="oval"/>
          </a:ln>
        </p:spPr>
      </p:cxnSp>
      <p:sp>
        <p:nvSpPr>
          <p:cNvPr id="514" name="Google Shape;514;p27"/>
          <p:cNvSpPr/>
          <p:nvPr/>
        </p:nvSpPr>
        <p:spPr>
          <a:xfrm>
            <a:off x="2800808" y="2290572"/>
            <a:ext cx="720000" cy="2196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3950">
            <a:solidFill>
              <a:srgbClr val="8B1A1A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p27"/>
          <p:cNvSpPr txBox="1"/>
          <p:nvPr/>
        </p:nvSpPr>
        <p:spPr>
          <a:xfrm>
            <a:off x="2800808" y="2290572"/>
            <a:ext cx="7200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GUIDED BY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27"/>
          <p:cNvSpPr/>
          <p:nvPr/>
        </p:nvSpPr>
        <p:spPr>
          <a:xfrm>
            <a:off x="5622874" y="2290572"/>
            <a:ext cx="720090" cy="219456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3950">
            <a:solidFill>
              <a:srgbClr val="2E4A7A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517;p27"/>
          <p:cNvSpPr txBox="1"/>
          <p:nvPr/>
        </p:nvSpPr>
        <p:spPr>
          <a:xfrm>
            <a:off x="5622874" y="2290572"/>
            <a:ext cx="72009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FEEDS INTO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27"/>
          <p:cNvSpPr/>
          <p:nvPr/>
        </p:nvSpPr>
        <p:spPr>
          <a:xfrm>
            <a:off x="857250" y="1507388"/>
            <a:ext cx="1785823" cy="1785823"/>
          </a:xfrm>
          <a:prstGeom prst="ellipse">
            <a:avLst/>
          </a:prstGeom>
          <a:solidFill>
            <a:srgbClr val="FFFFFF"/>
          </a:solidFill>
          <a:ln cap="flat" cmpd="sng" w="57150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0" rotWithShape="0" algn="bl" dir="5400000" dist="1016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519;p27"/>
          <p:cNvSpPr txBox="1"/>
          <p:nvPr/>
        </p:nvSpPr>
        <p:spPr>
          <a:xfrm>
            <a:off x="1028700" y="1795424"/>
            <a:ext cx="144292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EXPLORE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27"/>
          <p:cNvSpPr txBox="1"/>
          <p:nvPr/>
        </p:nvSpPr>
        <p:spPr>
          <a:xfrm>
            <a:off x="1028700" y="2021738"/>
            <a:ext cx="144292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Explore Broadly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27"/>
          <p:cNvSpPr txBox="1"/>
          <p:nvPr/>
        </p:nvSpPr>
        <p:spPr>
          <a:xfrm>
            <a:off x="1028700" y="2467508"/>
            <a:ext cx="1442924" cy="617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Search the full attack surface. Don't commit to one path early.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27"/>
          <p:cNvSpPr/>
          <p:nvPr/>
        </p:nvSpPr>
        <p:spPr>
          <a:xfrm>
            <a:off x="3679317" y="1507388"/>
            <a:ext cx="1785824" cy="1785823"/>
          </a:xfrm>
          <a:prstGeom prst="ellipse">
            <a:avLst/>
          </a:prstGeom>
          <a:solidFill>
            <a:srgbClr val="FFFFFF"/>
          </a:solidFill>
          <a:ln cap="flat" cmpd="sng" w="57150">
            <a:solidFill>
              <a:srgbClr val="2A6B3C"/>
            </a:solidFill>
            <a:prstDash val="solid"/>
            <a:round/>
            <a:headEnd len="sm" w="sm" type="none"/>
            <a:tailEnd len="sm" w="sm" type="none"/>
          </a:ln>
          <a:effectLst>
            <a:outerShdw blurRad="254000" rotWithShape="0" algn="bl" dir="5400000" dist="1016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3" name="Google Shape;523;p27"/>
          <p:cNvSpPr txBox="1"/>
          <p:nvPr/>
        </p:nvSpPr>
        <p:spPr>
          <a:xfrm>
            <a:off x="3850767" y="1795424"/>
            <a:ext cx="144292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2A6B3C"/>
                </a:solidFill>
                <a:latin typeface="IBM Plex Mono"/>
                <a:ea typeface="IBM Plex Mono"/>
                <a:cs typeface="IBM Plex Mono"/>
                <a:sym typeface="IBM Plex Mono"/>
              </a:rPr>
              <a:t>GUIDE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27"/>
          <p:cNvSpPr txBox="1"/>
          <p:nvPr/>
        </p:nvSpPr>
        <p:spPr>
          <a:xfrm>
            <a:off x="3850767" y="2021738"/>
            <a:ext cx="144292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Dependency Graph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27"/>
          <p:cNvSpPr txBox="1"/>
          <p:nvPr/>
        </p:nvSpPr>
        <p:spPr>
          <a:xfrm>
            <a:off x="3850767" y="2467508"/>
            <a:ext cx="1442924" cy="617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Model which vulnerabilities depend on which. Pick the smartest next step.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27"/>
          <p:cNvSpPr/>
          <p:nvPr/>
        </p:nvSpPr>
        <p:spPr>
          <a:xfrm>
            <a:off x="6500698" y="1507388"/>
            <a:ext cx="1785824" cy="1785823"/>
          </a:xfrm>
          <a:prstGeom prst="ellipse">
            <a:avLst/>
          </a:prstGeom>
          <a:solidFill>
            <a:srgbClr val="FFFFFF"/>
          </a:solidFill>
          <a:ln cap="flat" cmpd="sng" w="57150">
            <a:solidFill>
              <a:srgbClr val="2E4A7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0" rotWithShape="0" algn="bl" dir="5400000" dist="1016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7" name="Google Shape;527;p27"/>
          <p:cNvSpPr txBox="1"/>
          <p:nvPr/>
        </p:nvSpPr>
        <p:spPr>
          <a:xfrm>
            <a:off x="6672148" y="1795424"/>
            <a:ext cx="144292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LEARN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27"/>
          <p:cNvSpPr txBox="1"/>
          <p:nvPr/>
        </p:nvSpPr>
        <p:spPr>
          <a:xfrm>
            <a:off x="6672148" y="2021738"/>
            <a:ext cx="144292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Remember and Reuse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27"/>
          <p:cNvSpPr txBox="1"/>
          <p:nvPr/>
        </p:nvSpPr>
        <p:spPr>
          <a:xfrm>
            <a:off x="6672148" y="2467508"/>
            <a:ext cx="1442924" cy="617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Carry forward what worked across past missions.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27"/>
          <p:cNvSpPr txBox="1"/>
          <p:nvPr/>
        </p:nvSpPr>
        <p:spPr>
          <a:xfrm>
            <a:off x="571271" y="3463290"/>
            <a:ext cx="8001229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500"/>
              <a:buFont typeface="Playfair Display"/>
              <a:buNone/>
            </a:pPr>
            <a:r>
              <a:rPr b="0" i="1" lang="en" sz="1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RedGrid asks whether connecting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27"/>
          <p:cNvSpPr txBox="1"/>
          <p:nvPr/>
        </p:nvSpPr>
        <p:spPr>
          <a:xfrm>
            <a:off x="571271" y="4149090"/>
            <a:ext cx="8001229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500"/>
              <a:buFont typeface="Playfair Display"/>
              <a:buNone/>
            </a:pPr>
            <a:r>
              <a:rPr b="0" i="1" lang="en" sz="1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make autonomous penetration testing meaningfully better?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27"/>
          <p:cNvSpPr/>
          <p:nvPr/>
        </p:nvSpPr>
        <p:spPr>
          <a:xfrm>
            <a:off x="2433840" y="3837049"/>
            <a:ext cx="1062900" cy="2469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6500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3" name="Google Shape;533;p27"/>
          <p:cNvSpPr txBox="1"/>
          <p:nvPr/>
        </p:nvSpPr>
        <p:spPr>
          <a:xfrm>
            <a:off x="2433840" y="3837049"/>
            <a:ext cx="10629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EXPLORATION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27"/>
          <p:cNvSpPr txBox="1"/>
          <p:nvPr/>
        </p:nvSpPr>
        <p:spPr>
          <a:xfrm>
            <a:off x="3510546" y="3837049"/>
            <a:ext cx="2400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+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27"/>
          <p:cNvSpPr/>
          <p:nvPr/>
        </p:nvSpPr>
        <p:spPr>
          <a:xfrm>
            <a:off x="3764292" y="3837049"/>
            <a:ext cx="1748700" cy="2469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6500">
            <a:solidFill>
              <a:srgbClr val="2A6B3C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27"/>
          <p:cNvSpPr txBox="1"/>
          <p:nvPr/>
        </p:nvSpPr>
        <p:spPr>
          <a:xfrm>
            <a:off x="3764292" y="3837049"/>
            <a:ext cx="17487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2A6B3C"/>
                </a:solidFill>
                <a:latin typeface="IBM Plex Mono"/>
                <a:ea typeface="IBM Plex Mono"/>
                <a:cs typeface="IBM Plex Mono"/>
                <a:sym typeface="IBM Plex Mono"/>
              </a:rPr>
              <a:t>DEPENDENCY REASONING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27"/>
          <p:cNvSpPr txBox="1"/>
          <p:nvPr/>
        </p:nvSpPr>
        <p:spPr>
          <a:xfrm>
            <a:off x="5526798" y="3837049"/>
            <a:ext cx="2400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+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27"/>
          <p:cNvSpPr/>
          <p:nvPr/>
        </p:nvSpPr>
        <p:spPr>
          <a:xfrm>
            <a:off x="5780544" y="3837049"/>
            <a:ext cx="891600" cy="2469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6500">
            <a:solidFill>
              <a:srgbClr val="2E4A7A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9" name="Google Shape;539;p27"/>
          <p:cNvSpPr txBox="1"/>
          <p:nvPr/>
        </p:nvSpPr>
        <p:spPr>
          <a:xfrm>
            <a:off x="5780544" y="3837049"/>
            <a:ext cx="8916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MEMORY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27"/>
          <p:cNvSpPr/>
          <p:nvPr/>
        </p:nvSpPr>
        <p:spPr>
          <a:xfrm>
            <a:off x="0" y="4886325"/>
            <a:ext cx="9143771" cy="7543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1" name="Google Shape;541;p27"/>
          <p:cNvSpPr txBox="1"/>
          <p:nvPr/>
        </p:nvSpPr>
        <p:spPr>
          <a:xfrm>
            <a:off x="7200900" y="4930902"/>
            <a:ext cx="13716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13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27"/>
          <p:cNvSpPr/>
          <p:nvPr/>
        </p:nvSpPr>
        <p:spPr>
          <a:xfrm>
            <a:off x="0" y="5122241"/>
            <a:ext cx="5486400" cy="2126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547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28"/>
          <p:cNvSpPr txBox="1"/>
          <p:nvPr/>
        </p:nvSpPr>
        <p:spPr>
          <a:xfrm>
            <a:off x="571500" y="314325"/>
            <a:ext cx="7429500" cy="4143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300"/>
              <a:buFont typeface="Playfair Display"/>
              <a:buNone/>
            </a:pPr>
            <a:r>
              <a:rPr b="1" i="0" lang="en" sz="23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Architecture — A Rough Sketch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28"/>
          <p:cNvSpPr/>
          <p:nvPr/>
        </p:nvSpPr>
        <p:spPr>
          <a:xfrm>
            <a:off x="571500" y="771525"/>
            <a:ext cx="4086225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" name="Google Shape;550;p28"/>
          <p:cNvSpPr txBox="1"/>
          <p:nvPr/>
        </p:nvSpPr>
        <p:spPr>
          <a:xfrm>
            <a:off x="571500" y="928688"/>
            <a:ext cx="16002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IBM Plex Mono"/>
              <a:buNone/>
            </a:pPr>
            <a:r>
              <a:rPr b="1" i="0" lang="en" sz="12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WORLD MODEL</a:t>
            </a:r>
            <a:br>
              <a:rPr b="1" i="0" lang="en" sz="8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</a:b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Playfair Display"/>
              <a:buNone/>
            </a:pPr>
            <a:r>
              <a:rPr b="0" i="1" lang="en" sz="1400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Confirmed facts vs. attack hypotheses — kept strictly separate.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28"/>
          <p:cNvSpPr/>
          <p:nvPr/>
        </p:nvSpPr>
        <p:spPr>
          <a:xfrm>
            <a:off x="2314575" y="1271587"/>
            <a:ext cx="171450" cy="1600200"/>
          </a:xfrm>
          <a:prstGeom prst="rightBracket">
            <a:avLst>
              <a:gd fmla="val 8333" name="adj"/>
            </a:avLst>
          </a:prstGeom>
          <a:noFill/>
          <a:ln cap="flat" cmpd="sng" w="28575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" name="Google Shape;552;p28"/>
          <p:cNvSpPr/>
          <p:nvPr/>
        </p:nvSpPr>
        <p:spPr>
          <a:xfrm rot="5400000">
            <a:off x="2593231" y="1950356"/>
            <a:ext cx="99900" cy="142800"/>
          </a:xfrm>
          <a:prstGeom prst="triangle">
            <a:avLst>
              <a:gd fmla="val 50000" name="adj"/>
            </a:avLst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p28"/>
          <p:cNvSpPr/>
          <p:nvPr/>
        </p:nvSpPr>
        <p:spPr>
          <a:xfrm>
            <a:off x="3114675" y="1143000"/>
            <a:ext cx="14400" cy="464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4" name="Google Shape;554;p28"/>
          <p:cNvSpPr/>
          <p:nvPr/>
        </p:nvSpPr>
        <p:spPr>
          <a:xfrm>
            <a:off x="3114666" y="1907375"/>
            <a:ext cx="14400" cy="57150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" name="Google Shape;555;p28"/>
          <p:cNvSpPr/>
          <p:nvPr/>
        </p:nvSpPr>
        <p:spPr>
          <a:xfrm>
            <a:off x="3114675" y="2478874"/>
            <a:ext cx="14400" cy="521700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" name="Google Shape;556;p28"/>
          <p:cNvSpPr/>
          <p:nvPr/>
        </p:nvSpPr>
        <p:spPr>
          <a:xfrm>
            <a:off x="3000375" y="1092994"/>
            <a:ext cx="242888" cy="242888"/>
          </a:xfrm>
          <a:prstGeom prst="ellipse">
            <a:avLst/>
          </a:prstGeom>
          <a:solidFill>
            <a:srgbClr val="8B1A1A"/>
          </a:solidFill>
          <a:ln cap="flat" cmpd="sng" w="57150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" name="Google Shape;557;p28"/>
          <p:cNvSpPr txBox="1"/>
          <p:nvPr/>
        </p:nvSpPr>
        <p:spPr>
          <a:xfrm>
            <a:off x="3000375" y="1092994"/>
            <a:ext cx="242888" cy="242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28"/>
          <p:cNvSpPr txBox="1"/>
          <p:nvPr/>
        </p:nvSpPr>
        <p:spPr>
          <a:xfrm>
            <a:off x="3471863" y="928688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Mission Planner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28"/>
          <p:cNvSpPr txBox="1"/>
          <p:nvPr/>
        </p:nvSpPr>
        <p:spPr>
          <a:xfrm>
            <a:off x="5186363" y="928688"/>
            <a:ext cx="3386138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Takes in the target. Starts the scan. Stays in control.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28"/>
          <p:cNvSpPr/>
          <p:nvPr/>
        </p:nvSpPr>
        <p:spPr>
          <a:xfrm>
            <a:off x="3000375" y="1664494"/>
            <a:ext cx="242888" cy="242888"/>
          </a:xfrm>
          <a:prstGeom prst="ellipse">
            <a:avLst/>
          </a:prstGeom>
          <a:solidFill>
            <a:srgbClr val="2E4A7A"/>
          </a:solidFill>
          <a:ln cap="flat" cmpd="sng" w="57150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p28"/>
          <p:cNvSpPr txBox="1"/>
          <p:nvPr/>
        </p:nvSpPr>
        <p:spPr>
          <a:xfrm>
            <a:off x="3000375" y="1664494"/>
            <a:ext cx="242888" cy="242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28"/>
          <p:cNvSpPr txBox="1"/>
          <p:nvPr/>
        </p:nvSpPr>
        <p:spPr>
          <a:xfrm>
            <a:off x="3471863" y="1500188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Decision-Maker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28"/>
          <p:cNvSpPr txBox="1"/>
          <p:nvPr/>
        </p:nvSpPr>
        <p:spPr>
          <a:xfrm>
            <a:off x="5186363" y="1500188"/>
            <a:ext cx="3386138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Decides what to attack next — using the dependency graph.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28"/>
          <p:cNvSpPr/>
          <p:nvPr/>
        </p:nvSpPr>
        <p:spPr>
          <a:xfrm>
            <a:off x="3000375" y="2235994"/>
            <a:ext cx="242888" cy="242888"/>
          </a:xfrm>
          <a:prstGeom prst="ellipse">
            <a:avLst/>
          </a:prstGeom>
          <a:solidFill>
            <a:srgbClr val="A0631A"/>
          </a:solidFill>
          <a:ln cap="flat" cmpd="sng" w="57150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" name="Google Shape;565;p28"/>
          <p:cNvSpPr txBox="1"/>
          <p:nvPr/>
        </p:nvSpPr>
        <p:spPr>
          <a:xfrm>
            <a:off x="3000375" y="2235994"/>
            <a:ext cx="242888" cy="242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28"/>
          <p:cNvSpPr txBox="1"/>
          <p:nvPr/>
        </p:nvSpPr>
        <p:spPr>
          <a:xfrm>
            <a:off x="3471863" y="2071688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Specialist Agents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28"/>
          <p:cNvSpPr txBox="1"/>
          <p:nvPr/>
        </p:nvSpPr>
        <p:spPr>
          <a:xfrm>
            <a:off x="5186363" y="2071688"/>
            <a:ext cx="3386138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Web, GraphQL, Network — each focused on one attack type.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28"/>
          <p:cNvSpPr/>
          <p:nvPr/>
        </p:nvSpPr>
        <p:spPr>
          <a:xfrm>
            <a:off x="3000375" y="2807494"/>
            <a:ext cx="242888" cy="242888"/>
          </a:xfrm>
          <a:prstGeom prst="ellipse">
            <a:avLst/>
          </a:prstGeom>
          <a:solidFill>
            <a:srgbClr val="2A6B3C"/>
          </a:solidFill>
          <a:ln cap="flat" cmpd="sng" w="57150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p28"/>
          <p:cNvSpPr txBox="1"/>
          <p:nvPr/>
        </p:nvSpPr>
        <p:spPr>
          <a:xfrm>
            <a:off x="3000375" y="2807494"/>
            <a:ext cx="242888" cy="242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28"/>
          <p:cNvSpPr txBox="1"/>
          <p:nvPr/>
        </p:nvSpPr>
        <p:spPr>
          <a:xfrm>
            <a:off x="3471863" y="2643188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Execute and Validate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28"/>
          <p:cNvSpPr txBox="1"/>
          <p:nvPr/>
        </p:nvSpPr>
        <p:spPr>
          <a:xfrm>
            <a:off x="5186363" y="2643188"/>
            <a:ext cx="3386138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Runs the attack. Checks if it worked.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28"/>
          <p:cNvSpPr/>
          <p:nvPr/>
        </p:nvSpPr>
        <p:spPr>
          <a:xfrm rot="5400000">
            <a:off x="4486275" y="700088"/>
            <a:ext cx="171450" cy="5600700"/>
          </a:xfrm>
          <a:prstGeom prst="rightBracket">
            <a:avLst>
              <a:gd fmla="val 8333" name="adj"/>
            </a:avLst>
          </a:prstGeom>
          <a:noFill/>
          <a:ln cap="flat" cmpd="sng" w="28575">
            <a:solidFill>
              <a:srgbClr val="2E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p28"/>
          <p:cNvSpPr/>
          <p:nvPr/>
        </p:nvSpPr>
        <p:spPr>
          <a:xfrm rot="10800000">
            <a:off x="4472088" y="3314825"/>
            <a:ext cx="99900" cy="99900"/>
          </a:xfrm>
          <a:prstGeom prst="triangle">
            <a:avLst>
              <a:gd fmla="val 50000" name="adj"/>
            </a:avLst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4" name="Google Shape;574;p28"/>
          <p:cNvSpPr txBox="1"/>
          <p:nvPr/>
        </p:nvSpPr>
        <p:spPr>
          <a:xfrm>
            <a:off x="1771650" y="3643313"/>
            <a:ext cx="5600700" cy="6429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800"/>
              <a:buFont typeface="IBM Plex Mono"/>
              <a:buNone/>
            </a:pPr>
            <a:r>
              <a:rPr b="1" i="0" lang="en" sz="12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MEMORY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100"/>
              <a:buFont typeface="Playfair Display"/>
              <a:buNone/>
            </a:pPr>
            <a:r>
              <a:rPr b="0" i="1" lang="en" sz="1400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Remembers strategies and failures. Reuses what worked.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28"/>
          <p:cNvSpPr/>
          <p:nvPr/>
        </p:nvSpPr>
        <p:spPr>
          <a:xfrm>
            <a:off x="0" y="4886325"/>
            <a:ext cx="9144000" cy="7144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28"/>
          <p:cNvSpPr txBox="1"/>
          <p:nvPr/>
        </p:nvSpPr>
        <p:spPr>
          <a:xfrm>
            <a:off x="571500" y="4964906"/>
            <a:ext cx="142875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700"/>
              <a:buFont typeface="Playfair Display"/>
              <a:buNone/>
            </a:pPr>
            <a:r>
              <a:rPr b="1" i="0" lang="en" sz="700" u="none" cap="none" strike="noStrike">
                <a:solidFill>
                  <a:srgbClr val="8B1A1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RedGrid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28"/>
          <p:cNvSpPr txBox="1"/>
          <p:nvPr/>
        </p:nvSpPr>
        <p:spPr>
          <a:xfrm>
            <a:off x="7143750" y="4964906"/>
            <a:ext cx="142875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800"/>
              <a:buFont typeface="IBM Plex Mono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14 / 20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28"/>
          <p:cNvSpPr/>
          <p:nvPr/>
        </p:nvSpPr>
        <p:spPr>
          <a:xfrm>
            <a:off x="0" y="5122069"/>
            <a:ext cx="59436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583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29"/>
          <p:cNvSpPr txBox="1"/>
          <p:nvPr/>
        </p:nvSpPr>
        <p:spPr>
          <a:xfrm>
            <a:off x="571501" y="271463"/>
            <a:ext cx="7429524" cy="4143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400"/>
              <a:buFont typeface="Playfair Display"/>
              <a:buNone/>
            </a:pPr>
            <a:r>
              <a:rPr b="1" i="0" lang="en" sz="24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How RedGrid Will Work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29"/>
          <p:cNvSpPr/>
          <p:nvPr/>
        </p:nvSpPr>
        <p:spPr>
          <a:xfrm>
            <a:off x="571501" y="735809"/>
            <a:ext cx="4086238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6" name="Google Shape;586;p29"/>
          <p:cNvSpPr/>
          <p:nvPr/>
        </p:nvSpPr>
        <p:spPr>
          <a:xfrm>
            <a:off x="3429011" y="1428755"/>
            <a:ext cx="2286007" cy="1714505"/>
          </a:xfrm>
          <a:prstGeom prst="ellipse">
            <a:avLst/>
          </a:prstGeom>
          <a:noFill/>
          <a:ln cap="flat" cmpd="sng" w="15225">
            <a:solidFill>
              <a:srgbClr val="1A1A2E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7" name="Google Shape;587;p29"/>
          <p:cNvSpPr/>
          <p:nvPr/>
        </p:nvSpPr>
        <p:spPr>
          <a:xfrm>
            <a:off x="2428882" y="928691"/>
            <a:ext cx="2000257" cy="1000128"/>
          </a:xfrm>
          <a:prstGeom prst="roundRect">
            <a:avLst>
              <a:gd fmla="val 5486" name="adj"/>
            </a:avLst>
          </a:prstGeom>
          <a:solidFill>
            <a:srgbClr val="EADAD5"/>
          </a:solidFill>
          <a:ln cap="flat" cmpd="sng" w="19050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098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8" name="Google Shape;588;p29"/>
          <p:cNvSpPr/>
          <p:nvPr/>
        </p:nvSpPr>
        <p:spPr>
          <a:xfrm>
            <a:off x="2543183" y="1042991"/>
            <a:ext cx="200026" cy="200026"/>
          </a:xfrm>
          <a:prstGeom prst="ellipse">
            <a:avLst/>
          </a:prstGeom>
          <a:solidFill>
            <a:srgbClr val="FFFFFF"/>
          </a:solidFill>
          <a:ln cap="flat" cmpd="sng" w="15225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9" name="Google Shape;589;p29"/>
          <p:cNvSpPr txBox="1"/>
          <p:nvPr/>
        </p:nvSpPr>
        <p:spPr>
          <a:xfrm>
            <a:off x="2543183" y="1042991"/>
            <a:ext cx="200026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900"/>
              <a:buFont typeface="IBM Plex Mono"/>
              <a:buNone/>
            </a:pPr>
            <a:r>
              <a:rPr b="1" i="0" lang="en" sz="9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29"/>
          <p:cNvSpPr txBox="1"/>
          <p:nvPr/>
        </p:nvSpPr>
        <p:spPr>
          <a:xfrm>
            <a:off x="2814647" y="1042991"/>
            <a:ext cx="1428755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Source Sans 3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Recon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29"/>
          <p:cNvSpPr txBox="1"/>
          <p:nvPr/>
        </p:nvSpPr>
        <p:spPr>
          <a:xfrm>
            <a:off x="2571758" y="1328742"/>
            <a:ext cx="1714505" cy="500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Scan the target. Build a picture of what’s there.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29"/>
          <p:cNvSpPr/>
          <p:nvPr/>
        </p:nvSpPr>
        <p:spPr>
          <a:xfrm>
            <a:off x="4714890" y="928691"/>
            <a:ext cx="2000257" cy="1000128"/>
          </a:xfrm>
          <a:prstGeom prst="roundRect">
            <a:avLst>
              <a:gd fmla="val 5486" name="adj"/>
            </a:avLst>
          </a:prstGeom>
          <a:solidFill>
            <a:srgbClr val="DFE0E1"/>
          </a:solidFill>
          <a:ln cap="flat" cmpd="sng" w="19050">
            <a:solidFill>
              <a:srgbClr val="2E4A7A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098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3" name="Google Shape;593;p29"/>
          <p:cNvSpPr/>
          <p:nvPr/>
        </p:nvSpPr>
        <p:spPr>
          <a:xfrm>
            <a:off x="4829191" y="1042991"/>
            <a:ext cx="200026" cy="200026"/>
          </a:xfrm>
          <a:prstGeom prst="ellipse">
            <a:avLst/>
          </a:prstGeom>
          <a:solidFill>
            <a:srgbClr val="FFFFFF"/>
          </a:solidFill>
          <a:ln cap="flat" cmpd="sng" w="15225">
            <a:solidFill>
              <a:srgbClr val="2E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4" name="Google Shape;594;p29"/>
          <p:cNvSpPr txBox="1"/>
          <p:nvPr/>
        </p:nvSpPr>
        <p:spPr>
          <a:xfrm>
            <a:off x="4829191" y="1042991"/>
            <a:ext cx="200026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900"/>
              <a:buFont typeface="IBM Plex Mono"/>
              <a:buNone/>
            </a:pPr>
            <a:r>
              <a:rPr b="1" i="0" lang="en" sz="9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29"/>
          <p:cNvSpPr txBox="1"/>
          <p:nvPr/>
        </p:nvSpPr>
        <p:spPr>
          <a:xfrm>
            <a:off x="5100654" y="1042991"/>
            <a:ext cx="1428755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Source Sans 3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Plan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29"/>
          <p:cNvSpPr txBox="1"/>
          <p:nvPr/>
        </p:nvSpPr>
        <p:spPr>
          <a:xfrm>
            <a:off x="4857766" y="1328742"/>
            <a:ext cx="1714505" cy="500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Decide what to attack next — using the dependency graph.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29"/>
          <p:cNvSpPr/>
          <p:nvPr/>
        </p:nvSpPr>
        <p:spPr>
          <a:xfrm>
            <a:off x="4714890" y="2643196"/>
            <a:ext cx="2000257" cy="1000128"/>
          </a:xfrm>
          <a:prstGeom prst="roundRect">
            <a:avLst>
              <a:gd fmla="val 5486" name="adj"/>
            </a:avLst>
          </a:prstGeom>
          <a:solidFill>
            <a:srgbClr val="EDE3D5"/>
          </a:solidFill>
          <a:ln cap="flat" cmpd="sng" w="19050">
            <a:solidFill>
              <a:srgbClr val="A0631A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098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8" name="Google Shape;598;p29"/>
          <p:cNvSpPr/>
          <p:nvPr/>
        </p:nvSpPr>
        <p:spPr>
          <a:xfrm>
            <a:off x="4829191" y="2757497"/>
            <a:ext cx="200026" cy="200026"/>
          </a:xfrm>
          <a:prstGeom prst="ellipse">
            <a:avLst/>
          </a:prstGeom>
          <a:solidFill>
            <a:srgbClr val="FFFFFF"/>
          </a:solidFill>
          <a:ln cap="flat" cmpd="sng" w="15225">
            <a:solidFill>
              <a:srgbClr val="A063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9" name="Google Shape;599;p29"/>
          <p:cNvSpPr txBox="1"/>
          <p:nvPr/>
        </p:nvSpPr>
        <p:spPr>
          <a:xfrm>
            <a:off x="4829191" y="2757497"/>
            <a:ext cx="200026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900"/>
              <a:buFont typeface="IBM Plex Mono"/>
              <a:buNone/>
            </a:pPr>
            <a:r>
              <a:rPr b="1" i="0" lang="en" sz="9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29"/>
          <p:cNvSpPr txBox="1"/>
          <p:nvPr/>
        </p:nvSpPr>
        <p:spPr>
          <a:xfrm>
            <a:off x="5100654" y="2757497"/>
            <a:ext cx="1428755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Source Sans 3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Attack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29"/>
          <p:cNvSpPr txBox="1"/>
          <p:nvPr/>
        </p:nvSpPr>
        <p:spPr>
          <a:xfrm>
            <a:off x="4857766" y="3043247"/>
            <a:ext cx="1714505" cy="500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Send in a specialist agent. Run the attempt.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29"/>
          <p:cNvSpPr/>
          <p:nvPr/>
        </p:nvSpPr>
        <p:spPr>
          <a:xfrm>
            <a:off x="2428882" y="2643196"/>
            <a:ext cx="2000257" cy="1000128"/>
          </a:xfrm>
          <a:prstGeom prst="roundRect">
            <a:avLst>
              <a:gd fmla="val 5486" name="adj"/>
            </a:avLst>
          </a:prstGeom>
          <a:solidFill>
            <a:srgbClr val="DEE4DA"/>
          </a:solidFill>
          <a:ln cap="flat" cmpd="sng" w="19050">
            <a:solidFill>
              <a:srgbClr val="2A6B3C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098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3" name="Google Shape;603;p29"/>
          <p:cNvSpPr/>
          <p:nvPr/>
        </p:nvSpPr>
        <p:spPr>
          <a:xfrm>
            <a:off x="2543183" y="2757497"/>
            <a:ext cx="200026" cy="200026"/>
          </a:xfrm>
          <a:prstGeom prst="ellipse">
            <a:avLst/>
          </a:prstGeom>
          <a:solidFill>
            <a:srgbClr val="FFFFFF"/>
          </a:solidFill>
          <a:ln cap="flat" cmpd="sng" w="15225">
            <a:solidFill>
              <a:srgbClr val="2A6B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29"/>
          <p:cNvSpPr txBox="1"/>
          <p:nvPr/>
        </p:nvSpPr>
        <p:spPr>
          <a:xfrm>
            <a:off x="2543183" y="2757497"/>
            <a:ext cx="200026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900"/>
              <a:buFont typeface="IBM Plex Mono"/>
              <a:buNone/>
            </a:pPr>
            <a:r>
              <a:rPr b="1" i="0" lang="en" sz="900" u="none" cap="none" strike="noStrike">
                <a:solidFill>
                  <a:srgbClr val="2A6B3C"/>
                </a:solidFill>
                <a:latin typeface="IBM Plex Mono"/>
                <a:ea typeface="IBM Plex Mono"/>
                <a:cs typeface="IBM Plex Mono"/>
                <a:sym typeface="IBM Plex Mono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29"/>
          <p:cNvSpPr txBox="1"/>
          <p:nvPr/>
        </p:nvSpPr>
        <p:spPr>
          <a:xfrm>
            <a:off x="2814647" y="2757497"/>
            <a:ext cx="1428755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Source Sans 3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Learn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29"/>
          <p:cNvSpPr txBox="1"/>
          <p:nvPr/>
        </p:nvSpPr>
        <p:spPr>
          <a:xfrm>
            <a:off x="2571758" y="3043247"/>
            <a:ext cx="1714505" cy="500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Did it work? Update the graph. Store the lesson. Repeat.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" name="Google Shape;607;p29"/>
          <p:cNvSpPr txBox="1"/>
          <p:nvPr/>
        </p:nvSpPr>
        <p:spPr>
          <a:xfrm>
            <a:off x="3571886" y="2071694"/>
            <a:ext cx="2000257" cy="4286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300"/>
              <a:buFont typeface="Playfair Display"/>
              <a:buNone/>
            </a:pPr>
            <a:r>
              <a:rPr b="1" i="1" lang="en" sz="13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VDG drives the loop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29"/>
          <p:cNvSpPr/>
          <p:nvPr/>
        </p:nvSpPr>
        <p:spPr>
          <a:xfrm rot="5400000">
            <a:off x="4500577" y="1357317"/>
            <a:ext cx="142876" cy="142876"/>
          </a:xfrm>
          <a:prstGeom prst="triangle">
            <a:avLst>
              <a:gd fmla="val 50000" name="adj"/>
            </a:avLst>
          </a:prstGeom>
          <a:solidFill>
            <a:srgbClr val="1A1A2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9" name="Google Shape;609;p29"/>
          <p:cNvSpPr/>
          <p:nvPr/>
        </p:nvSpPr>
        <p:spPr>
          <a:xfrm rot="10800000">
            <a:off x="5643580" y="2214569"/>
            <a:ext cx="142876" cy="142876"/>
          </a:xfrm>
          <a:prstGeom prst="triangle">
            <a:avLst>
              <a:gd fmla="val 50000" name="adj"/>
            </a:avLst>
          </a:prstGeom>
          <a:solidFill>
            <a:srgbClr val="1A1A2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0" name="Google Shape;610;p29"/>
          <p:cNvSpPr/>
          <p:nvPr/>
        </p:nvSpPr>
        <p:spPr>
          <a:xfrm rot="-5400000">
            <a:off x="4500577" y="3071822"/>
            <a:ext cx="142876" cy="142876"/>
          </a:xfrm>
          <a:prstGeom prst="triangle">
            <a:avLst>
              <a:gd fmla="val 50000" name="adj"/>
            </a:avLst>
          </a:prstGeom>
          <a:solidFill>
            <a:srgbClr val="1A1A2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" name="Google Shape;611;p29"/>
          <p:cNvSpPr/>
          <p:nvPr/>
        </p:nvSpPr>
        <p:spPr>
          <a:xfrm>
            <a:off x="3357573" y="2214569"/>
            <a:ext cx="142876" cy="142876"/>
          </a:xfrm>
          <a:prstGeom prst="triangle">
            <a:avLst>
              <a:gd fmla="val 50000" name="adj"/>
            </a:avLst>
          </a:prstGeom>
          <a:solidFill>
            <a:srgbClr val="1A1A2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2" name="Google Shape;612;p29"/>
          <p:cNvSpPr txBox="1"/>
          <p:nvPr/>
        </p:nvSpPr>
        <p:spPr>
          <a:xfrm>
            <a:off x="571502" y="3929075"/>
            <a:ext cx="428627" cy="2857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D3CF"/>
              </a:buClr>
              <a:buSzPts val="2000"/>
              <a:buFont typeface="IBM Plex Mono"/>
              <a:buNone/>
            </a:pPr>
            <a:r>
              <a:rPr b="1" i="0" lang="en" sz="2000" u="none" cap="none" strike="noStrike">
                <a:solidFill>
                  <a:schemeClr val="accent3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b="1" i="0" sz="2000" u="none" cap="none" strike="noStrike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29"/>
          <p:cNvSpPr txBox="1"/>
          <p:nvPr/>
        </p:nvSpPr>
        <p:spPr>
          <a:xfrm>
            <a:off x="1143004" y="3929075"/>
            <a:ext cx="321469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Playfair Display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Clean Slate per Attempt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29"/>
          <p:cNvSpPr txBox="1"/>
          <p:nvPr/>
        </p:nvSpPr>
        <p:spPr>
          <a:xfrm>
            <a:off x="1143004" y="4157676"/>
            <a:ext cx="3214698" cy="42862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800"/>
              <a:buFont typeface="Source Sans 3"/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Each attack attempt runs with fresh context — no leftover noise from previous steps.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29"/>
          <p:cNvSpPr txBox="1"/>
          <p:nvPr/>
        </p:nvSpPr>
        <p:spPr>
          <a:xfrm>
            <a:off x="4786327" y="3929075"/>
            <a:ext cx="428626" cy="2857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D3CF"/>
              </a:buClr>
              <a:buSzPts val="2000"/>
              <a:buFont typeface="IBM Plex Mono"/>
              <a:buNone/>
            </a:pPr>
            <a:r>
              <a:rPr b="1" i="0" lang="en" sz="2000" u="none" cap="none" strike="noStrike">
                <a:solidFill>
                  <a:schemeClr val="accent3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b="0" i="0" sz="2000" u="none" cap="none" strike="noStrike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29"/>
          <p:cNvSpPr txBox="1"/>
          <p:nvPr/>
        </p:nvSpPr>
        <p:spPr>
          <a:xfrm>
            <a:off x="5357830" y="3929075"/>
            <a:ext cx="321469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Playfair Display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Facts vs. Guesses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29"/>
          <p:cNvSpPr txBox="1"/>
          <p:nvPr/>
        </p:nvSpPr>
        <p:spPr>
          <a:xfrm>
            <a:off x="5357830" y="4157676"/>
            <a:ext cx="3214698" cy="42862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800"/>
              <a:buFont typeface="Source Sans 3"/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What the agent confirmed is kept strictly separate from what it infers.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18" name="Google Shape;618;p29"/>
          <p:cNvCxnSpPr/>
          <p:nvPr/>
        </p:nvCxnSpPr>
        <p:spPr>
          <a:xfrm>
            <a:off x="0" y="4886341"/>
            <a:ext cx="9144029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19" name="Google Shape;619;p29"/>
          <p:cNvSpPr txBox="1"/>
          <p:nvPr/>
        </p:nvSpPr>
        <p:spPr>
          <a:xfrm>
            <a:off x="7858151" y="5000641"/>
            <a:ext cx="714377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15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29"/>
          <p:cNvSpPr/>
          <p:nvPr/>
        </p:nvSpPr>
        <p:spPr>
          <a:xfrm>
            <a:off x="0" y="5122085"/>
            <a:ext cx="640082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30"/>
          <p:cNvSpPr txBox="1"/>
          <p:nvPr/>
        </p:nvSpPr>
        <p:spPr>
          <a:xfrm>
            <a:off x="571500" y="314325"/>
            <a:ext cx="7429500" cy="385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300"/>
              <a:buFont typeface="Playfair Display"/>
              <a:buNone/>
            </a:pPr>
            <a:r>
              <a:rPr b="1" i="0" lang="en" sz="23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Evaluation — Three Attack Surfaces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" name="Google Shape;627;p30"/>
          <p:cNvSpPr/>
          <p:nvPr/>
        </p:nvSpPr>
        <p:spPr>
          <a:xfrm>
            <a:off x="571500" y="728663"/>
            <a:ext cx="4086225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8" name="Google Shape;628;p30"/>
          <p:cNvSpPr txBox="1"/>
          <p:nvPr/>
        </p:nvSpPr>
        <p:spPr>
          <a:xfrm>
            <a:off x="571500" y="1543050"/>
            <a:ext cx="2378869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900"/>
              <a:buFont typeface="IBM Plex Mono"/>
              <a:buNone/>
            </a:pPr>
            <a:r>
              <a:rPr b="1" i="0" lang="en" sz="11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01.  WEB APPLICATIONS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9" name="Google Shape;629;p30"/>
          <p:cNvSpPr txBox="1"/>
          <p:nvPr/>
        </p:nvSpPr>
        <p:spPr>
          <a:xfrm>
            <a:off x="571500" y="1771650"/>
            <a:ext cx="2378869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Source Sans 3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CVE-Bench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" name="Google Shape;630;p30"/>
          <p:cNvSpPr/>
          <p:nvPr/>
        </p:nvSpPr>
        <p:spPr>
          <a:xfrm>
            <a:off x="571500" y="2014538"/>
            <a:ext cx="1643063" cy="171450"/>
          </a:xfrm>
          <a:prstGeom prst="rect">
            <a:avLst/>
          </a:prstGeom>
          <a:solidFill>
            <a:srgbClr val="8B1A1A">
              <a:alpha val="7843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1" name="Google Shape;631;p30"/>
          <p:cNvSpPr txBox="1"/>
          <p:nvPr/>
        </p:nvSpPr>
        <p:spPr>
          <a:xfrm>
            <a:off x="628650" y="2014538"/>
            <a:ext cx="15716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700"/>
              <a:buFont typeface="Calibri"/>
              <a:buNone/>
            </a:pPr>
            <a:r>
              <a:rPr b="1" i="0" lang="en" sz="8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40 real critical CVEs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" name="Google Shape;632;p30"/>
          <p:cNvSpPr/>
          <p:nvPr/>
        </p:nvSpPr>
        <p:spPr>
          <a:xfrm>
            <a:off x="571500" y="2300288"/>
            <a:ext cx="17860" cy="85725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3" name="Google Shape;633;p30"/>
          <p:cNvSpPr txBox="1"/>
          <p:nvPr/>
        </p:nvSpPr>
        <p:spPr>
          <a:xfrm>
            <a:off x="700088" y="2257425"/>
            <a:ext cx="2250281" cy="928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100"/>
              <a:buFont typeface="Playfair Display"/>
              <a:buNone/>
            </a:pPr>
            <a:r>
              <a:rPr b="0" i="1" lang="en" sz="1400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“Can the agent find and exploit web vulnerabilities without a hint?”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" name="Google Shape;634;p30"/>
          <p:cNvSpPr txBox="1"/>
          <p:nvPr/>
        </p:nvSpPr>
        <p:spPr>
          <a:xfrm>
            <a:off x="3378994" y="1543050"/>
            <a:ext cx="2378869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900"/>
              <a:buFont typeface="IBM Plex Mono"/>
              <a:buNone/>
            </a:pPr>
            <a:r>
              <a:rPr b="1" i="0" lang="en" sz="11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02.  GRAPHQL APIs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p30"/>
          <p:cNvSpPr txBox="1"/>
          <p:nvPr/>
        </p:nvSpPr>
        <p:spPr>
          <a:xfrm>
            <a:off x="3378994" y="1771650"/>
            <a:ext cx="2378869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Source Sans 3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PrediQL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p30"/>
          <p:cNvSpPr/>
          <p:nvPr/>
        </p:nvSpPr>
        <p:spPr>
          <a:xfrm>
            <a:off x="3378994" y="2014538"/>
            <a:ext cx="1643063" cy="171450"/>
          </a:xfrm>
          <a:prstGeom prst="rect">
            <a:avLst/>
          </a:prstGeom>
          <a:solidFill>
            <a:srgbClr val="2E4A7A">
              <a:alpha val="7843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7" name="Google Shape;637;p30"/>
          <p:cNvSpPr txBox="1"/>
          <p:nvPr/>
        </p:nvSpPr>
        <p:spPr>
          <a:xfrm>
            <a:off x="3436144" y="2014538"/>
            <a:ext cx="15716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Calibri"/>
              <a:buNone/>
            </a:pPr>
            <a:r>
              <a:rPr b="1" i="0" lang="en" sz="8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6 real GraphQL APIs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" name="Google Shape;638;p30"/>
          <p:cNvSpPr/>
          <p:nvPr/>
        </p:nvSpPr>
        <p:spPr>
          <a:xfrm>
            <a:off x="3378994" y="2300288"/>
            <a:ext cx="17860" cy="85725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p30"/>
          <p:cNvSpPr txBox="1"/>
          <p:nvPr/>
        </p:nvSpPr>
        <p:spPr>
          <a:xfrm>
            <a:off x="3507581" y="2257425"/>
            <a:ext cx="2250281" cy="928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100"/>
              <a:buFont typeface="Playfair Display"/>
              <a:buNone/>
            </a:pPr>
            <a:r>
              <a:rPr b="0" i="1" lang="en" sz="1400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“Can the agent abuse API schemas and find injection points?”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30"/>
          <p:cNvSpPr txBox="1"/>
          <p:nvPr/>
        </p:nvSpPr>
        <p:spPr>
          <a:xfrm>
            <a:off x="6193631" y="1543050"/>
            <a:ext cx="2378869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900"/>
              <a:buFont typeface="IBM Plex Mono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03.  MULTI-HOST NETWORKS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1" name="Google Shape;641;p30"/>
          <p:cNvSpPr txBox="1"/>
          <p:nvPr/>
        </p:nvSpPr>
        <p:spPr>
          <a:xfrm>
            <a:off x="6193631" y="1771650"/>
            <a:ext cx="2378869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Source Sans 3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MHBench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" name="Google Shape;642;p30"/>
          <p:cNvSpPr/>
          <p:nvPr/>
        </p:nvSpPr>
        <p:spPr>
          <a:xfrm>
            <a:off x="6193631" y="2014538"/>
            <a:ext cx="1643063" cy="171450"/>
          </a:xfrm>
          <a:prstGeom prst="rect">
            <a:avLst/>
          </a:prstGeom>
          <a:solidFill>
            <a:srgbClr val="A0631A">
              <a:alpha val="7843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3" name="Google Shape;643;p30"/>
          <p:cNvSpPr txBox="1"/>
          <p:nvPr/>
        </p:nvSpPr>
        <p:spPr>
          <a:xfrm>
            <a:off x="6250775" y="2014550"/>
            <a:ext cx="17502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700"/>
              <a:buFont typeface="Calibri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40 multi-host environments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" name="Google Shape;644;p30"/>
          <p:cNvSpPr/>
          <p:nvPr/>
        </p:nvSpPr>
        <p:spPr>
          <a:xfrm>
            <a:off x="6193631" y="2300288"/>
            <a:ext cx="17860" cy="857250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5" name="Google Shape;645;p30"/>
          <p:cNvSpPr txBox="1"/>
          <p:nvPr/>
        </p:nvSpPr>
        <p:spPr>
          <a:xfrm>
            <a:off x="6322219" y="2257425"/>
            <a:ext cx="2250281" cy="928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100"/>
              <a:buFont typeface="Playfair Display"/>
              <a:buNone/>
            </a:pPr>
            <a:r>
              <a:rPr b="0" i="1" lang="en" sz="1400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“Can the agent move laterally across hosts and escalate privileges?”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" name="Google Shape;646;p30"/>
          <p:cNvSpPr txBox="1"/>
          <p:nvPr/>
        </p:nvSpPr>
        <p:spPr>
          <a:xfrm>
            <a:off x="1000125" y="4000500"/>
            <a:ext cx="71437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IBM Plex Mono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We only test on attack surfaces that already have a published, oracle-backed benchmark.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IBM Plex Mono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No custom benchmarks.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47" name="Google Shape;647;p30"/>
          <p:cNvCxnSpPr/>
          <p:nvPr/>
        </p:nvCxnSpPr>
        <p:spPr>
          <a:xfrm>
            <a:off x="0" y="4886325"/>
            <a:ext cx="9144000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48" name="Google Shape;648;p30"/>
          <p:cNvSpPr txBox="1"/>
          <p:nvPr/>
        </p:nvSpPr>
        <p:spPr>
          <a:xfrm>
            <a:off x="7858125" y="5000625"/>
            <a:ext cx="71437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800"/>
              <a:buFont typeface="IBM Plex Mono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16 / 20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" name="Google Shape;649;p30"/>
          <p:cNvSpPr/>
          <p:nvPr/>
        </p:nvSpPr>
        <p:spPr>
          <a:xfrm>
            <a:off x="0" y="5122069"/>
            <a:ext cx="68580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654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p31"/>
          <p:cNvSpPr txBox="1"/>
          <p:nvPr/>
        </p:nvSpPr>
        <p:spPr>
          <a:xfrm>
            <a:off x="571500" y="314325"/>
            <a:ext cx="7429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Project Timeline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" name="Google Shape;656;p31"/>
          <p:cNvSpPr/>
          <p:nvPr/>
        </p:nvSpPr>
        <p:spPr>
          <a:xfrm>
            <a:off x="571500" y="771525"/>
            <a:ext cx="4086225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7" name="Google Shape;657;p31"/>
          <p:cNvSpPr/>
          <p:nvPr/>
        </p:nvSpPr>
        <p:spPr>
          <a:xfrm>
            <a:off x="571500" y="907256"/>
            <a:ext cx="3571875" cy="200025"/>
          </a:xfrm>
          <a:prstGeom prst="roundRect">
            <a:avLst>
              <a:gd fmla="val 13714" name="adj"/>
            </a:avLst>
          </a:prstGeom>
          <a:solidFill>
            <a:srgbClr val="F0EEE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8" name="Google Shape;658;p31"/>
          <p:cNvSpPr txBox="1"/>
          <p:nvPr/>
        </p:nvSpPr>
        <p:spPr>
          <a:xfrm>
            <a:off x="685800" y="907256"/>
            <a:ext cx="3343275" cy="20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6-MONTH PROJECT   </a:t>
            </a:r>
            <a:r>
              <a:rPr b="1" i="0" lang="en" sz="10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·</a:t>
            </a:r>
            <a:r>
              <a:rPr b="1" i="0" lang="en" sz="8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SEPTEMBER 2026 — FEBRUARY 2027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9" name="Google Shape;659;p31"/>
          <p:cNvSpPr/>
          <p:nvPr/>
        </p:nvSpPr>
        <p:spPr>
          <a:xfrm>
            <a:off x="1857375" y="2392322"/>
            <a:ext cx="1500300" cy="213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0" name="Google Shape;660;p31"/>
          <p:cNvSpPr/>
          <p:nvPr/>
        </p:nvSpPr>
        <p:spPr>
          <a:xfrm>
            <a:off x="3357563" y="2392322"/>
            <a:ext cx="2428800" cy="2130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1" name="Google Shape;661;p31"/>
          <p:cNvSpPr/>
          <p:nvPr/>
        </p:nvSpPr>
        <p:spPr>
          <a:xfrm>
            <a:off x="5786438" y="2392322"/>
            <a:ext cx="1500300" cy="21300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2" name="Google Shape;662;p31"/>
          <p:cNvSpPr/>
          <p:nvPr/>
        </p:nvSpPr>
        <p:spPr>
          <a:xfrm>
            <a:off x="2135975" y="1902975"/>
            <a:ext cx="14400" cy="4002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3" name="Google Shape;663;p31"/>
          <p:cNvSpPr txBox="1"/>
          <p:nvPr/>
        </p:nvSpPr>
        <p:spPr>
          <a:xfrm>
            <a:off x="1000125" y="1381481"/>
            <a:ext cx="2286000" cy="1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900"/>
              <a:buFont typeface="IBM Plex Mono"/>
              <a:buNone/>
            </a:pPr>
            <a:r>
              <a:rPr b="1" i="0" lang="en" sz="9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SEP 05, 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4" name="Google Shape;664;p31"/>
          <p:cNvSpPr txBox="1"/>
          <p:nvPr/>
        </p:nvSpPr>
        <p:spPr>
          <a:xfrm>
            <a:off x="1000125" y="1574363"/>
            <a:ext cx="22860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800"/>
              <a:buFont typeface="Playfair Display"/>
              <a:buNone/>
            </a:pPr>
            <a:r>
              <a:rPr b="1" i="0" lang="en" sz="18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Inception </a:t>
            </a:r>
            <a:r>
              <a:rPr b="1" lang="en" sz="1800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Stage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" name="Google Shape;665;p31"/>
          <p:cNvSpPr/>
          <p:nvPr/>
        </p:nvSpPr>
        <p:spPr>
          <a:xfrm>
            <a:off x="2043113" y="2303025"/>
            <a:ext cx="200100" cy="200100"/>
          </a:xfrm>
          <a:prstGeom prst="ellipse">
            <a:avLst/>
          </a:prstGeom>
          <a:solidFill>
            <a:srgbClr val="8B1A1A"/>
          </a:solidFill>
          <a:ln cap="flat" cmpd="sng" w="47625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6" name="Google Shape;666;p31"/>
          <p:cNvSpPr/>
          <p:nvPr/>
        </p:nvSpPr>
        <p:spPr>
          <a:xfrm>
            <a:off x="2135981" y="2503050"/>
            <a:ext cx="14400" cy="3429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7" name="Google Shape;667;p31"/>
          <p:cNvSpPr txBox="1"/>
          <p:nvPr/>
        </p:nvSpPr>
        <p:spPr>
          <a:xfrm>
            <a:off x="1000125" y="2845950"/>
            <a:ext cx="2286000" cy="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6B6B7A"/>
                </a:solidFill>
                <a:latin typeface="IBM Plex Mono"/>
                <a:ea typeface="IBM Plex Mono"/>
                <a:cs typeface="IBM Plex Mono"/>
                <a:sym typeface="IBM Plex Mono"/>
              </a:rPr>
              <a:t>10:00 – 10:15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" name="Google Shape;668;p31"/>
          <p:cNvSpPr/>
          <p:nvPr/>
        </p:nvSpPr>
        <p:spPr>
          <a:xfrm>
            <a:off x="1257200" y="3092775"/>
            <a:ext cx="1771800" cy="357300"/>
          </a:xfrm>
          <a:prstGeom prst="roundRect">
            <a:avLst>
              <a:gd fmla="val 5760" name="adj"/>
            </a:avLst>
          </a:prstGeom>
          <a:solidFill>
            <a:srgbClr val="F5E6E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9" name="Google Shape;669;p31"/>
          <p:cNvSpPr txBox="1"/>
          <p:nvPr/>
        </p:nvSpPr>
        <p:spPr>
          <a:xfrm>
            <a:off x="1371500" y="3092775"/>
            <a:ext cx="1543200" cy="35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Source Sans 3"/>
              <a:buNone/>
            </a:pPr>
            <a:r>
              <a:rPr b="1" i="0" lang="en" sz="1100" u="none" cap="none" strike="noStrike">
                <a:solidFill>
                  <a:srgbClr val="8B1A1A"/>
                </a:solidFill>
                <a:latin typeface="Source Sans 3"/>
                <a:ea typeface="Source Sans 3"/>
                <a:cs typeface="Source Sans 3"/>
                <a:sym typeface="Source Sans 3"/>
              </a:rPr>
              <a:t>Phase: Literature and Architecture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" name="Google Shape;670;p31"/>
          <p:cNvSpPr txBox="1"/>
          <p:nvPr/>
        </p:nvSpPr>
        <p:spPr>
          <a:xfrm>
            <a:off x="1371500" y="3564263"/>
            <a:ext cx="15432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39700" lvl="0" marL="139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Literature review compiled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39700" lvl="0" marL="1397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System architecture designed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39700" lvl="0" marL="1397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Evaluation strategy locked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" name="Google Shape;671;p31"/>
          <p:cNvSpPr/>
          <p:nvPr/>
        </p:nvSpPr>
        <p:spPr>
          <a:xfrm>
            <a:off x="4564850" y="1902975"/>
            <a:ext cx="14400" cy="40020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2" name="Google Shape;672;p31"/>
          <p:cNvSpPr txBox="1"/>
          <p:nvPr/>
        </p:nvSpPr>
        <p:spPr>
          <a:xfrm>
            <a:off x="3429000" y="1381481"/>
            <a:ext cx="2286000" cy="1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900"/>
              <a:buFont typeface="IBM Plex Mono"/>
              <a:buNone/>
            </a:pPr>
            <a:r>
              <a:rPr b="1" i="0" lang="en" sz="9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NOV 21, 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" name="Google Shape;673;p31"/>
          <p:cNvSpPr txBox="1"/>
          <p:nvPr/>
        </p:nvSpPr>
        <p:spPr>
          <a:xfrm>
            <a:off x="3429000" y="1574363"/>
            <a:ext cx="22860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800"/>
              <a:buFont typeface="Playfair Display"/>
              <a:buNone/>
            </a:pPr>
            <a:r>
              <a:rPr b="1" i="0" lang="en" sz="18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Mid Defense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4" name="Google Shape;674;p31"/>
          <p:cNvSpPr/>
          <p:nvPr/>
        </p:nvSpPr>
        <p:spPr>
          <a:xfrm>
            <a:off x="4471988" y="2303025"/>
            <a:ext cx="200100" cy="200100"/>
          </a:xfrm>
          <a:prstGeom prst="ellipse">
            <a:avLst/>
          </a:prstGeom>
          <a:solidFill>
            <a:srgbClr val="2E4A7A"/>
          </a:solidFill>
          <a:ln cap="flat" cmpd="sng" w="47625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31"/>
          <p:cNvSpPr/>
          <p:nvPr/>
        </p:nvSpPr>
        <p:spPr>
          <a:xfrm>
            <a:off x="4564856" y="2503050"/>
            <a:ext cx="14400" cy="34290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31"/>
          <p:cNvSpPr txBox="1"/>
          <p:nvPr/>
        </p:nvSpPr>
        <p:spPr>
          <a:xfrm>
            <a:off x="3429000" y="2845950"/>
            <a:ext cx="2286000" cy="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6B6B7A"/>
                </a:solidFill>
                <a:latin typeface="IBM Plex Mono"/>
                <a:ea typeface="IBM Plex Mono"/>
                <a:cs typeface="IBM Plex Mono"/>
                <a:sym typeface="IBM Plex Mono"/>
              </a:rPr>
              <a:t>09:00 – 15:00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" name="Google Shape;677;p31"/>
          <p:cNvSpPr/>
          <p:nvPr/>
        </p:nvSpPr>
        <p:spPr>
          <a:xfrm>
            <a:off x="3686075" y="3092775"/>
            <a:ext cx="1771800" cy="357300"/>
          </a:xfrm>
          <a:prstGeom prst="roundRect">
            <a:avLst>
              <a:gd fmla="val 5760" name="adj"/>
            </a:avLst>
          </a:prstGeom>
          <a:solidFill>
            <a:srgbClr val="E6EAF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p31"/>
          <p:cNvSpPr txBox="1"/>
          <p:nvPr/>
        </p:nvSpPr>
        <p:spPr>
          <a:xfrm>
            <a:off x="3800375" y="3092775"/>
            <a:ext cx="1543200" cy="35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800"/>
              <a:buFont typeface="Source Sans 3"/>
              <a:buNone/>
            </a:pPr>
            <a:r>
              <a:rPr b="1" i="0" lang="en" sz="1100" u="none" cap="none" strike="noStrike">
                <a:solidFill>
                  <a:srgbClr val="2E4A7A"/>
                </a:solidFill>
                <a:latin typeface="Source Sans 3"/>
                <a:ea typeface="Source Sans 3"/>
                <a:cs typeface="Source Sans 3"/>
                <a:sym typeface="Source Sans 3"/>
              </a:rPr>
              <a:t>Phase: Core Framework Implementation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" name="Google Shape;679;p31"/>
          <p:cNvSpPr txBox="1"/>
          <p:nvPr/>
        </p:nvSpPr>
        <p:spPr>
          <a:xfrm>
            <a:off x="3800375" y="3564263"/>
            <a:ext cx="15432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39700" lvl="0" marL="139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VDG mechanism integration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39700" lvl="0" marL="1397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Autonomous agentic loop execution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39700" lvl="0" marL="1397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Initial target environment testing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" name="Google Shape;680;p31"/>
          <p:cNvSpPr/>
          <p:nvPr/>
        </p:nvSpPr>
        <p:spPr>
          <a:xfrm>
            <a:off x="6993725" y="1902975"/>
            <a:ext cx="14400" cy="400200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p31"/>
          <p:cNvSpPr txBox="1"/>
          <p:nvPr/>
        </p:nvSpPr>
        <p:spPr>
          <a:xfrm>
            <a:off x="5857875" y="1381481"/>
            <a:ext cx="2286000" cy="1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900"/>
              <a:buFont typeface="IBM Plex Mono"/>
              <a:buNone/>
            </a:pPr>
            <a:r>
              <a:rPr b="1" i="0" lang="en" sz="9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FEB 20, 2027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" name="Google Shape;682;p31"/>
          <p:cNvSpPr txBox="1"/>
          <p:nvPr/>
        </p:nvSpPr>
        <p:spPr>
          <a:xfrm>
            <a:off x="5857875" y="1574363"/>
            <a:ext cx="22860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800"/>
              <a:buFont typeface="Playfair Display"/>
              <a:buNone/>
            </a:pPr>
            <a:r>
              <a:rPr b="1" i="0" lang="en" sz="18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Final Defense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" name="Google Shape;683;p31"/>
          <p:cNvSpPr/>
          <p:nvPr/>
        </p:nvSpPr>
        <p:spPr>
          <a:xfrm>
            <a:off x="6900863" y="2303025"/>
            <a:ext cx="200100" cy="200100"/>
          </a:xfrm>
          <a:prstGeom prst="ellipse">
            <a:avLst/>
          </a:prstGeom>
          <a:solidFill>
            <a:srgbClr val="A0631A"/>
          </a:solidFill>
          <a:ln cap="flat" cmpd="sng" w="47625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p31"/>
          <p:cNvSpPr/>
          <p:nvPr/>
        </p:nvSpPr>
        <p:spPr>
          <a:xfrm>
            <a:off x="6993731" y="2503050"/>
            <a:ext cx="14400" cy="342900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p31"/>
          <p:cNvSpPr txBox="1"/>
          <p:nvPr/>
        </p:nvSpPr>
        <p:spPr>
          <a:xfrm>
            <a:off x="5857875" y="2845950"/>
            <a:ext cx="2286000" cy="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6B6B7A"/>
                </a:solidFill>
                <a:latin typeface="IBM Plex Mono"/>
                <a:ea typeface="IBM Plex Mono"/>
                <a:cs typeface="IBM Plex Mono"/>
                <a:sym typeface="IBM Plex Mono"/>
              </a:rPr>
              <a:t>09:00 – 15:00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" name="Google Shape;686;p31"/>
          <p:cNvSpPr/>
          <p:nvPr/>
        </p:nvSpPr>
        <p:spPr>
          <a:xfrm>
            <a:off x="6114950" y="3092775"/>
            <a:ext cx="1771800" cy="357300"/>
          </a:xfrm>
          <a:prstGeom prst="roundRect">
            <a:avLst>
              <a:gd fmla="val 5760" name="adj"/>
            </a:avLst>
          </a:prstGeom>
          <a:solidFill>
            <a:srgbClr val="F5EAE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p31"/>
          <p:cNvSpPr txBox="1"/>
          <p:nvPr/>
        </p:nvSpPr>
        <p:spPr>
          <a:xfrm>
            <a:off x="6229250" y="3092775"/>
            <a:ext cx="1543200" cy="35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800"/>
              <a:buFont typeface="Source Sans 3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Source Sans 3"/>
                <a:ea typeface="Source Sans 3"/>
                <a:cs typeface="Source Sans 3"/>
                <a:sym typeface="Source Sans 3"/>
              </a:rPr>
              <a:t>Phase: Full Evaluation and Writeup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8" name="Google Shape;688;p31"/>
          <p:cNvSpPr txBox="1"/>
          <p:nvPr/>
        </p:nvSpPr>
        <p:spPr>
          <a:xfrm>
            <a:off x="6229250" y="3564263"/>
            <a:ext cx="15432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39700" lvl="0" marL="139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Empirical benchmark testing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39700" lvl="0" marL="1397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Comparative performance analysis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39700" lvl="0" marL="1397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Final project submission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" name="Google Shape;689;p31"/>
          <p:cNvSpPr/>
          <p:nvPr/>
        </p:nvSpPr>
        <p:spPr>
          <a:xfrm>
            <a:off x="0" y="4886325"/>
            <a:ext cx="9144000" cy="7144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31"/>
          <p:cNvSpPr txBox="1"/>
          <p:nvPr/>
        </p:nvSpPr>
        <p:spPr>
          <a:xfrm>
            <a:off x="7858125" y="4964906"/>
            <a:ext cx="71437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17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1" name="Google Shape;691;p31"/>
          <p:cNvSpPr/>
          <p:nvPr/>
        </p:nvSpPr>
        <p:spPr>
          <a:xfrm>
            <a:off x="0" y="5122069"/>
            <a:ext cx="73152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696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p32"/>
          <p:cNvSpPr txBox="1"/>
          <p:nvPr/>
        </p:nvSpPr>
        <p:spPr>
          <a:xfrm>
            <a:off x="571486" y="314317"/>
            <a:ext cx="7429314" cy="40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Challenges We Are Aware Of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" name="Google Shape;698;p32"/>
          <p:cNvSpPr/>
          <p:nvPr/>
        </p:nvSpPr>
        <p:spPr>
          <a:xfrm>
            <a:off x="571486" y="771506"/>
            <a:ext cx="4086123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Google Shape;699;p32"/>
          <p:cNvSpPr txBox="1"/>
          <p:nvPr/>
        </p:nvSpPr>
        <p:spPr>
          <a:xfrm>
            <a:off x="571486" y="857228"/>
            <a:ext cx="7429314" cy="14287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4A4A5E"/>
                </a:solidFill>
                <a:latin typeface="IBM Plex Mono"/>
                <a:ea typeface="IBM Plex Mono"/>
                <a:cs typeface="IBM Plex Mono"/>
                <a:sym typeface="IBM Plex Mono"/>
              </a:rPr>
              <a:t>ANTICIPATED BOTTLENECKS AND PROACTIVE MITIGATION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" name="Google Shape;700;p32"/>
          <p:cNvSpPr/>
          <p:nvPr/>
        </p:nvSpPr>
        <p:spPr>
          <a:xfrm>
            <a:off x="571486" y="1071535"/>
            <a:ext cx="1914477" cy="3714657"/>
          </a:xfrm>
          <a:prstGeom prst="roundRect">
            <a:avLst>
              <a:gd fmla="val 2985" name="adj"/>
            </a:avLst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32"/>
          <p:cNvSpPr/>
          <p:nvPr/>
        </p:nvSpPr>
        <p:spPr>
          <a:xfrm>
            <a:off x="800080" y="1300130"/>
            <a:ext cx="842941" cy="171446"/>
          </a:xfrm>
          <a:prstGeom prst="roundRect">
            <a:avLst>
              <a:gd fmla="val 16667" name="adj"/>
            </a:avLst>
          </a:prstGeom>
          <a:solidFill>
            <a:srgbClr val="FFFFFF">
              <a:alpha val="14902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2" name="Google Shape;702;p32"/>
          <p:cNvSpPr txBox="1"/>
          <p:nvPr/>
        </p:nvSpPr>
        <p:spPr>
          <a:xfrm>
            <a:off x="800080" y="1300130"/>
            <a:ext cx="842941" cy="17144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F7F4EF"/>
                </a:solidFill>
                <a:latin typeface="IBM Plex Mono"/>
                <a:ea typeface="IBM Plex Mono"/>
                <a:cs typeface="IBM Plex Mono"/>
                <a:sym typeface="IBM Plex Mono"/>
              </a:rPr>
              <a:t>CRITICAL RISK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3" name="Google Shape;703;p32"/>
          <p:cNvSpPr txBox="1"/>
          <p:nvPr/>
        </p:nvSpPr>
        <p:spPr>
          <a:xfrm>
            <a:off x="800080" y="1585873"/>
            <a:ext cx="1457288" cy="5143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1500"/>
              <a:buFont typeface="Playfair Display"/>
              <a:buNone/>
            </a:pPr>
            <a:r>
              <a:rPr b="1" i="0" lang="en" sz="1500" u="none" cap="none" strike="noStrike">
                <a:solidFill>
                  <a:srgbClr val="F7F4E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Inferring Dependencies Is Hard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4" name="Google Shape;704;p32"/>
          <p:cNvSpPr txBox="1"/>
          <p:nvPr/>
        </p:nvSpPr>
        <p:spPr>
          <a:xfrm>
            <a:off x="914378" y="3786093"/>
            <a:ext cx="1342991" cy="77150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800"/>
              <a:buFont typeface="Source Sans 3"/>
              <a:buNone/>
            </a:pPr>
            <a:r>
              <a:rPr b="0" i="0" lang="en" sz="800" u="none" cap="none" strike="noStrike">
                <a:solidFill>
                  <a:srgbClr val="F7F4EF"/>
                </a:solidFill>
                <a:latin typeface="Source Sans 3"/>
                <a:ea typeface="Source Sans 3"/>
                <a:cs typeface="Source Sans 3"/>
                <a:sym typeface="Source Sans 3"/>
              </a:rPr>
              <a:t>Building the prerequisite graph using an LLM instead of human annotation will be noisy. We must measure this gap.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" name="Google Shape;705;p32"/>
          <p:cNvSpPr/>
          <p:nvPr/>
        </p:nvSpPr>
        <p:spPr>
          <a:xfrm>
            <a:off x="2600260" y="1628735"/>
            <a:ext cx="1914477" cy="3157459"/>
          </a:xfrm>
          <a:prstGeom prst="roundRect">
            <a:avLst>
              <a:gd fmla="val 2985" name="adj"/>
            </a:avLst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6" name="Google Shape;706;p32"/>
          <p:cNvSpPr/>
          <p:nvPr/>
        </p:nvSpPr>
        <p:spPr>
          <a:xfrm>
            <a:off x="2828855" y="1857329"/>
            <a:ext cx="842942" cy="171446"/>
          </a:xfrm>
          <a:prstGeom prst="roundRect">
            <a:avLst>
              <a:gd fmla="val 16667" name="adj"/>
            </a:avLst>
          </a:prstGeom>
          <a:solidFill>
            <a:srgbClr val="FFFFFF">
              <a:alpha val="14902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32"/>
          <p:cNvSpPr txBox="1"/>
          <p:nvPr/>
        </p:nvSpPr>
        <p:spPr>
          <a:xfrm>
            <a:off x="2828855" y="1857329"/>
            <a:ext cx="842942" cy="17144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F7F4EF"/>
                </a:solidFill>
                <a:latin typeface="IBM Plex Mono"/>
                <a:ea typeface="IBM Plex Mono"/>
                <a:cs typeface="IBM Plex Mono"/>
                <a:sym typeface="IBM Plex Mono"/>
              </a:rPr>
              <a:t>HIGH RISK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8" name="Google Shape;708;p32"/>
          <p:cNvSpPr txBox="1"/>
          <p:nvPr/>
        </p:nvSpPr>
        <p:spPr>
          <a:xfrm>
            <a:off x="2828855" y="2143072"/>
            <a:ext cx="1457288" cy="5143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1500"/>
              <a:buFont typeface="Playfair Display"/>
              <a:buNone/>
            </a:pPr>
            <a:r>
              <a:rPr b="1" i="0" lang="en" sz="1500" u="none" cap="none" strike="noStrike">
                <a:solidFill>
                  <a:srgbClr val="F7F4E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Sandbox vs. Real World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" name="Google Shape;709;p32"/>
          <p:cNvSpPr txBox="1"/>
          <p:nvPr/>
        </p:nvSpPr>
        <p:spPr>
          <a:xfrm>
            <a:off x="2943152" y="3786093"/>
            <a:ext cx="1342991" cy="77150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800"/>
              <a:buFont typeface="Source Sans 3"/>
              <a:buNone/>
            </a:pPr>
            <a:r>
              <a:rPr b="0" i="0" lang="en" sz="800" u="none" cap="none" strike="noStrike">
                <a:solidFill>
                  <a:srgbClr val="F7F4EF"/>
                </a:solidFill>
                <a:latin typeface="Source Sans 3"/>
                <a:ea typeface="Source Sans 3"/>
                <a:cs typeface="Source Sans 3"/>
                <a:sym typeface="Source Sans 3"/>
              </a:rPr>
              <a:t>What works perfectly on a controlled benchmark may fail on a real-world target. We will test both environments.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" name="Google Shape;710;p32"/>
          <p:cNvSpPr/>
          <p:nvPr/>
        </p:nvSpPr>
        <p:spPr>
          <a:xfrm>
            <a:off x="4629035" y="2185933"/>
            <a:ext cx="1914477" cy="2600260"/>
          </a:xfrm>
          <a:prstGeom prst="roundRect">
            <a:avLst>
              <a:gd fmla="val 2985" name="adj"/>
            </a:avLst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1" name="Google Shape;711;p32"/>
          <p:cNvSpPr/>
          <p:nvPr/>
        </p:nvSpPr>
        <p:spPr>
          <a:xfrm>
            <a:off x="4857628" y="2414528"/>
            <a:ext cx="842942" cy="171446"/>
          </a:xfrm>
          <a:prstGeom prst="roundRect">
            <a:avLst>
              <a:gd fmla="val 16667" name="adj"/>
            </a:avLst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2" name="Google Shape;712;p32"/>
          <p:cNvSpPr txBox="1"/>
          <p:nvPr/>
        </p:nvSpPr>
        <p:spPr>
          <a:xfrm>
            <a:off x="4857628" y="2414528"/>
            <a:ext cx="842942" cy="17144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F7F4EF"/>
                </a:solidFill>
                <a:latin typeface="IBM Plex Mono"/>
                <a:ea typeface="IBM Plex Mono"/>
                <a:cs typeface="IBM Plex Mono"/>
                <a:sym typeface="IBM Plex Mono"/>
              </a:rPr>
              <a:t>MEDIUM RISK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" name="Google Shape;713;p32"/>
          <p:cNvSpPr txBox="1"/>
          <p:nvPr/>
        </p:nvSpPr>
        <p:spPr>
          <a:xfrm>
            <a:off x="4857629" y="2700270"/>
            <a:ext cx="1457288" cy="5143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1500"/>
              <a:buFont typeface="Playfair Display"/>
              <a:buNone/>
            </a:pPr>
            <a:r>
              <a:rPr b="1" i="0" lang="en" sz="1500" u="none" cap="none" strike="noStrike">
                <a:solidFill>
                  <a:srgbClr val="F7F4E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Memory Could Backfire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" name="Google Shape;714;p32"/>
          <p:cNvSpPr txBox="1"/>
          <p:nvPr/>
        </p:nvSpPr>
        <p:spPr>
          <a:xfrm>
            <a:off x="4971926" y="3786093"/>
            <a:ext cx="1342991" cy="77150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800"/>
              <a:buFont typeface="Source Sans 3"/>
              <a:buNone/>
            </a:pPr>
            <a:r>
              <a:rPr b="0" i="0" lang="en" sz="800" u="none" cap="none" strike="noStrike">
                <a:solidFill>
                  <a:srgbClr val="F7F4EF"/>
                </a:solidFill>
                <a:latin typeface="Source Sans 3"/>
                <a:ea typeface="Source Sans 3"/>
                <a:cs typeface="Source Sans 3"/>
                <a:sym typeface="Source Sans 3"/>
              </a:rPr>
              <a:t>A strategy that succeeds against software version 1 might backfire against version 2. A safety mechanism is key.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5" name="Google Shape;715;p32"/>
          <p:cNvSpPr/>
          <p:nvPr/>
        </p:nvSpPr>
        <p:spPr>
          <a:xfrm>
            <a:off x="6657808" y="2743132"/>
            <a:ext cx="1914477" cy="2043062"/>
          </a:xfrm>
          <a:prstGeom prst="roundRect">
            <a:avLst>
              <a:gd fmla="val 2985" name="adj"/>
            </a:avLst>
          </a:prstGeom>
          <a:solidFill>
            <a:srgbClr val="1A1A2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6" name="Google Shape;716;p32"/>
          <p:cNvSpPr/>
          <p:nvPr/>
        </p:nvSpPr>
        <p:spPr>
          <a:xfrm>
            <a:off x="6886402" y="2971726"/>
            <a:ext cx="642922" cy="171446"/>
          </a:xfrm>
          <a:prstGeom prst="roundRect">
            <a:avLst>
              <a:gd fmla="val 16667" name="adj"/>
            </a:avLst>
          </a:prstGeom>
          <a:solidFill>
            <a:srgbClr val="FFFFFF">
              <a:alpha val="14902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7" name="Google Shape;717;p32"/>
          <p:cNvSpPr txBox="1"/>
          <p:nvPr/>
        </p:nvSpPr>
        <p:spPr>
          <a:xfrm>
            <a:off x="6886402" y="2971726"/>
            <a:ext cx="642922" cy="17144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500"/>
              <a:buFont typeface="IBM Plex Mono"/>
              <a:buNone/>
            </a:pPr>
            <a:r>
              <a:rPr b="1" i="0" lang="en" sz="500" u="none" cap="none" strike="noStrike">
                <a:solidFill>
                  <a:srgbClr val="F7F4EF"/>
                </a:solidFill>
                <a:latin typeface="IBM Plex Mono"/>
                <a:ea typeface="IBM Plex Mono"/>
                <a:cs typeface="IBM Plex Mono"/>
                <a:sym typeface="IBM Plex Mono"/>
              </a:rPr>
              <a:t>LOW RISK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" name="Google Shape;718;p32"/>
          <p:cNvSpPr txBox="1"/>
          <p:nvPr/>
        </p:nvSpPr>
        <p:spPr>
          <a:xfrm>
            <a:off x="6886402" y="3257468"/>
            <a:ext cx="1457288" cy="5143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1500"/>
              <a:buFont typeface="Playfair Display"/>
              <a:buNone/>
            </a:pPr>
            <a:r>
              <a:rPr b="1" i="0" lang="en" sz="1500" u="none" cap="none" strike="noStrike">
                <a:solidFill>
                  <a:srgbClr val="F7F4E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Tuning Is Tricky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9" name="Google Shape;719;p32"/>
          <p:cNvSpPr txBox="1"/>
          <p:nvPr/>
        </p:nvSpPr>
        <p:spPr>
          <a:xfrm>
            <a:off x="7000700" y="3786093"/>
            <a:ext cx="1342991" cy="77150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EBE3"/>
              </a:buClr>
              <a:buSzPts val="800"/>
              <a:buFont typeface="Source Sans 3"/>
              <a:buNone/>
            </a:pPr>
            <a:r>
              <a:rPr b="0" i="0" lang="en" sz="800" u="none" cap="none" strike="noStrike">
                <a:solidFill>
                  <a:srgbClr val="EFEBE3"/>
                </a:solidFill>
                <a:latin typeface="Source Sans 3"/>
                <a:ea typeface="Source Sans 3"/>
                <a:cs typeface="Source Sans 3"/>
                <a:sym typeface="Source Sans 3"/>
              </a:rPr>
              <a:t>The system has parameters to adjust. Final results must be robust, and not depend on one perfect setup.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20" name="Google Shape;720;p32"/>
          <p:cNvCxnSpPr/>
          <p:nvPr/>
        </p:nvCxnSpPr>
        <p:spPr>
          <a:xfrm>
            <a:off x="0" y="4886203"/>
            <a:ext cx="9143771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21" name="Google Shape;721;p32"/>
          <p:cNvSpPr txBox="1"/>
          <p:nvPr/>
        </p:nvSpPr>
        <p:spPr>
          <a:xfrm>
            <a:off x="7715057" y="5000500"/>
            <a:ext cx="857228" cy="14287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800"/>
              <a:buFont typeface="IBM Plex Mono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18 / 20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" name="Google Shape;722;p32"/>
          <p:cNvSpPr/>
          <p:nvPr/>
        </p:nvSpPr>
        <p:spPr>
          <a:xfrm>
            <a:off x="0" y="5121941"/>
            <a:ext cx="7772206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p33"/>
          <p:cNvSpPr/>
          <p:nvPr/>
        </p:nvSpPr>
        <p:spPr>
          <a:xfrm>
            <a:off x="0" y="0"/>
            <a:ext cx="3143400" cy="4879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9" name="Google Shape;729;p33"/>
          <p:cNvSpPr txBox="1"/>
          <p:nvPr/>
        </p:nvSpPr>
        <p:spPr>
          <a:xfrm>
            <a:off x="571500" y="357188"/>
            <a:ext cx="22860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2500"/>
              <a:buFont typeface="Cambria"/>
              <a:buNone/>
            </a:pPr>
            <a:r>
              <a:rPr b="1" i="0" lang="en" sz="2500" u="none" cap="none" strike="noStrike">
                <a:solidFill>
                  <a:srgbClr val="F7F4EF"/>
                </a:solidFill>
                <a:latin typeface="Cambria"/>
                <a:ea typeface="Cambria"/>
                <a:cs typeface="Cambria"/>
                <a:sym typeface="Cambria"/>
              </a:rPr>
              <a:t>Where We Are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33"/>
          <p:cNvSpPr/>
          <p:nvPr/>
        </p:nvSpPr>
        <p:spPr>
          <a:xfrm>
            <a:off x="571500" y="864394"/>
            <a:ext cx="428625" cy="21431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1" name="Google Shape;731;p33"/>
          <p:cNvSpPr txBox="1"/>
          <p:nvPr/>
        </p:nvSpPr>
        <p:spPr>
          <a:xfrm>
            <a:off x="571500" y="1314450"/>
            <a:ext cx="228600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82"/>
              </a:buClr>
              <a:buSzPts val="800"/>
              <a:buFont typeface="Courier New"/>
              <a:buNone/>
            </a:pPr>
            <a:r>
              <a:rPr b="1" i="0" lang="en" sz="1100" u="none" cap="none" strike="noStrike">
                <a:solidFill>
                  <a:srgbClr val="767682"/>
                </a:solidFill>
                <a:latin typeface="Courier New"/>
                <a:ea typeface="Courier New"/>
                <a:cs typeface="Courier New"/>
                <a:sym typeface="Courier New"/>
              </a:rPr>
              <a:t>FOUNDATION SECURED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" name="Google Shape;732;p33"/>
          <p:cNvSpPr/>
          <p:nvPr/>
        </p:nvSpPr>
        <p:spPr>
          <a:xfrm>
            <a:off x="571500" y="1664494"/>
            <a:ext cx="57150" cy="57150"/>
          </a:xfrm>
          <a:prstGeom prst="ellipse">
            <a:avLst/>
          </a:prstGeom>
          <a:solidFill>
            <a:srgbClr val="388E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3" name="Google Shape;733;p33"/>
          <p:cNvSpPr txBox="1"/>
          <p:nvPr/>
        </p:nvSpPr>
        <p:spPr>
          <a:xfrm>
            <a:off x="685800" y="1593056"/>
            <a:ext cx="2171700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DDDE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DDDDE0"/>
                </a:solidFill>
                <a:latin typeface="Calibri"/>
                <a:ea typeface="Calibri"/>
                <a:cs typeface="Calibri"/>
                <a:sym typeface="Calibri"/>
              </a:rPr>
              <a:t>Synthesized 11 key VAPT papers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" name="Google Shape;734;p33"/>
          <p:cNvSpPr/>
          <p:nvPr/>
        </p:nvSpPr>
        <p:spPr>
          <a:xfrm>
            <a:off x="571500" y="1978819"/>
            <a:ext cx="57150" cy="57150"/>
          </a:xfrm>
          <a:prstGeom prst="ellipse">
            <a:avLst/>
          </a:prstGeom>
          <a:solidFill>
            <a:srgbClr val="388E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5" name="Google Shape;735;p33"/>
          <p:cNvSpPr txBox="1"/>
          <p:nvPr/>
        </p:nvSpPr>
        <p:spPr>
          <a:xfrm>
            <a:off x="685800" y="1907381"/>
            <a:ext cx="2171700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DDDE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DDDDE0"/>
                </a:solidFill>
                <a:latin typeface="Calibri"/>
                <a:ea typeface="Calibri"/>
                <a:cs typeface="Calibri"/>
                <a:sym typeface="Calibri"/>
              </a:rPr>
              <a:t>Identified 2 quantified failure modes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p33"/>
          <p:cNvSpPr/>
          <p:nvPr/>
        </p:nvSpPr>
        <p:spPr>
          <a:xfrm>
            <a:off x="571500" y="2293144"/>
            <a:ext cx="57150" cy="57150"/>
          </a:xfrm>
          <a:prstGeom prst="ellipse">
            <a:avLst/>
          </a:prstGeom>
          <a:solidFill>
            <a:srgbClr val="388E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7" name="Google Shape;737;p33"/>
          <p:cNvSpPr txBox="1"/>
          <p:nvPr/>
        </p:nvSpPr>
        <p:spPr>
          <a:xfrm>
            <a:off x="685800" y="2221706"/>
            <a:ext cx="2171700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DDDE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DDDDE0"/>
                </a:solidFill>
                <a:latin typeface="Calibri"/>
                <a:ea typeface="Calibri"/>
                <a:cs typeface="Calibri"/>
                <a:sym typeface="Calibri"/>
              </a:rPr>
              <a:t>Formalized the research gap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" name="Google Shape;738;p33"/>
          <p:cNvSpPr/>
          <p:nvPr/>
        </p:nvSpPr>
        <p:spPr>
          <a:xfrm>
            <a:off x="571500" y="2607469"/>
            <a:ext cx="57150" cy="57150"/>
          </a:xfrm>
          <a:prstGeom prst="ellipse">
            <a:avLst/>
          </a:prstGeom>
          <a:solidFill>
            <a:srgbClr val="388E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9" name="Google Shape;739;p33"/>
          <p:cNvSpPr txBox="1"/>
          <p:nvPr/>
        </p:nvSpPr>
        <p:spPr>
          <a:xfrm>
            <a:off x="685800" y="2536031"/>
            <a:ext cx="2171700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DDDE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DDDDE0"/>
                </a:solidFill>
                <a:latin typeface="Calibri"/>
                <a:ea typeface="Calibri"/>
                <a:cs typeface="Calibri"/>
                <a:sym typeface="Calibri"/>
              </a:rPr>
              <a:t>Proposed 3 research directions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33"/>
          <p:cNvSpPr/>
          <p:nvPr/>
        </p:nvSpPr>
        <p:spPr>
          <a:xfrm>
            <a:off x="571500" y="2921794"/>
            <a:ext cx="57150" cy="57150"/>
          </a:xfrm>
          <a:prstGeom prst="ellipse">
            <a:avLst/>
          </a:prstGeom>
          <a:solidFill>
            <a:srgbClr val="388E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1" name="Google Shape;741;p33"/>
          <p:cNvSpPr txBox="1"/>
          <p:nvPr/>
        </p:nvSpPr>
        <p:spPr>
          <a:xfrm>
            <a:off x="685800" y="2850356"/>
            <a:ext cx="2171700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DDDE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DDDDE0"/>
                </a:solidFill>
                <a:latin typeface="Calibri"/>
                <a:ea typeface="Calibri"/>
                <a:cs typeface="Calibri"/>
                <a:sym typeface="Calibri"/>
              </a:rPr>
              <a:t>Sketched the architecture approach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33"/>
          <p:cNvSpPr/>
          <p:nvPr/>
        </p:nvSpPr>
        <p:spPr>
          <a:xfrm>
            <a:off x="571500" y="3236119"/>
            <a:ext cx="57150" cy="57150"/>
          </a:xfrm>
          <a:prstGeom prst="ellipse">
            <a:avLst/>
          </a:prstGeom>
          <a:solidFill>
            <a:srgbClr val="388E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3" name="Google Shape;743;p33"/>
          <p:cNvSpPr txBox="1"/>
          <p:nvPr/>
        </p:nvSpPr>
        <p:spPr>
          <a:xfrm>
            <a:off x="685800" y="3164681"/>
            <a:ext cx="2171700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DDDE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DDDDE0"/>
                </a:solidFill>
                <a:latin typeface="Calibri"/>
                <a:ea typeface="Calibri"/>
                <a:cs typeface="Calibri"/>
                <a:sym typeface="Calibri"/>
              </a:rPr>
              <a:t>Submitted inception report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4" name="Google Shape;744;p33"/>
          <p:cNvSpPr/>
          <p:nvPr/>
        </p:nvSpPr>
        <p:spPr>
          <a:xfrm>
            <a:off x="571500" y="3868375"/>
            <a:ext cx="14400" cy="678600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5" name="Google Shape;745;p33"/>
          <p:cNvSpPr txBox="1"/>
          <p:nvPr/>
        </p:nvSpPr>
        <p:spPr>
          <a:xfrm>
            <a:off x="685800" y="3868375"/>
            <a:ext cx="2171700" cy="6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1200"/>
              <a:buFont typeface="Cambria"/>
              <a:buNone/>
            </a:pPr>
            <a:r>
              <a:rPr b="1" i="1" lang="en" sz="1200" u="none" cap="none" strike="noStrike">
                <a:solidFill>
                  <a:srgbClr val="A0631A"/>
                </a:solidFill>
                <a:latin typeface="Cambria"/>
                <a:ea typeface="Cambria"/>
                <a:cs typeface="Cambria"/>
                <a:sym typeface="Cambria"/>
              </a:rPr>
              <a:t>The architectural blueprint is ready. Awaiting greenlight for implementation.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33"/>
          <p:cNvSpPr txBox="1"/>
          <p:nvPr/>
        </p:nvSpPr>
        <p:spPr>
          <a:xfrm>
            <a:off x="3571875" y="428625"/>
            <a:ext cx="5000625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800"/>
              <a:buFont typeface="Courier New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COMING NEXT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47" name="Google Shape;747;p33"/>
          <p:cNvCxnSpPr/>
          <p:nvPr/>
        </p:nvCxnSpPr>
        <p:spPr>
          <a:xfrm>
            <a:off x="3571875" y="671513"/>
            <a:ext cx="5000625" cy="0"/>
          </a:xfrm>
          <a:prstGeom prst="straightConnector1">
            <a:avLst/>
          </a:prstGeom>
          <a:noFill/>
          <a:ln cap="flat" cmpd="sng" w="9525">
            <a:solidFill>
              <a:srgbClr val="E1DED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48" name="Google Shape;748;p33"/>
          <p:cNvSpPr txBox="1"/>
          <p:nvPr/>
        </p:nvSpPr>
        <p:spPr>
          <a:xfrm>
            <a:off x="3571875" y="671513"/>
            <a:ext cx="285750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600"/>
              <a:buFont typeface="Cambria"/>
              <a:buNone/>
            </a:pPr>
            <a:r>
              <a:rPr b="1" i="0" lang="en" sz="16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01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" name="Google Shape;749;p33"/>
          <p:cNvSpPr txBox="1"/>
          <p:nvPr/>
        </p:nvSpPr>
        <p:spPr>
          <a:xfrm>
            <a:off x="4029075" y="671513"/>
            <a:ext cx="4543425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Build the prototype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50" name="Google Shape;750;p33"/>
          <p:cNvCxnSpPr/>
          <p:nvPr/>
        </p:nvCxnSpPr>
        <p:spPr>
          <a:xfrm>
            <a:off x="3571875" y="1193006"/>
            <a:ext cx="5000625" cy="0"/>
          </a:xfrm>
          <a:prstGeom prst="straightConnector1">
            <a:avLst/>
          </a:prstGeom>
          <a:noFill/>
          <a:ln cap="flat" cmpd="sng" w="9525">
            <a:solidFill>
              <a:srgbClr val="E1DED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51" name="Google Shape;751;p33"/>
          <p:cNvSpPr txBox="1"/>
          <p:nvPr/>
        </p:nvSpPr>
        <p:spPr>
          <a:xfrm>
            <a:off x="3571875" y="1193006"/>
            <a:ext cx="285750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600"/>
              <a:buFont typeface="Cambria"/>
              <a:buNone/>
            </a:pPr>
            <a:r>
              <a:rPr b="1" i="0" lang="en" sz="16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02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2" name="Google Shape;752;p33"/>
          <p:cNvSpPr txBox="1"/>
          <p:nvPr/>
        </p:nvSpPr>
        <p:spPr>
          <a:xfrm>
            <a:off x="4029075" y="1193006"/>
            <a:ext cx="4543425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Early experiments to test the ideas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53" name="Google Shape;753;p33"/>
          <p:cNvCxnSpPr/>
          <p:nvPr/>
        </p:nvCxnSpPr>
        <p:spPr>
          <a:xfrm>
            <a:off x="3571875" y="1714500"/>
            <a:ext cx="5000625" cy="0"/>
          </a:xfrm>
          <a:prstGeom prst="straightConnector1">
            <a:avLst/>
          </a:prstGeom>
          <a:noFill/>
          <a:ln cap="flat" cmpd="sng" w="9525">
            <a:solidFill>
              <a:srgbClr val="E1DED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54" name="Google Shape;754;p33"/>
          <p:cNvSpPr txBox="1"/>
          <p:nvPr/>
        </p:nvSpPr>
        <p:spPr>
          <a:xfrm>
            <a:off x="3571875" y="1714500"/>
            <a:ext cx="285750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600"/>
              <a:buFont typeface="Cambria"/>
              <a:buNone/>
            </a:pPr>
            <a:r>
              <a:rPr b="1" i="0" lang="en" sz="16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03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" name="Google Shape;755;p33"/>
          <p:cNvSpPr txBox="1"/>
          <p:nvPr/>
        </p:nvSpPr>
        <p:spPr>
          <a:xfrm>
            <a:off x="4029075" y="1714500"/>
            <a:ext cx="4543425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Full benchmark evaluation (web, GraphQL, multi-host)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56" name="Google Shape;756;p33"/>
          <p:cNvCxnSpPr/>
          <p:nvPr/>
        </p:nvCxnSpPr>
        <p:spPr>
          <a:xfrm>
            <a:off x="3571875" y="2235994"/>
            <a:ext cx="5000625" cy="0"/>
          </a:xfrm>
          <a:prstGeom prst="straightConnector1">
            <a:avLst/>
          </a:prstGeom>
          <a:noFill/>
          <a:ln cap="flat" cmpd="sng" w="9525">
            <a:solidFill>
              <a:srgbClr val="E1DED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57" name="Google Shape;757;p33"/>
          <p:cNvSpPr txBox="1"/>
          <p:nvPr/>
        </p:nvSpPr>
        <p:spPr>
          <a:xfrm>
            <a:off x="3571875" y="2235994"/>
            <a:ext cx="285750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600"/>
              <a:buFont typeface="Cambria"/>
              <a:buNone/>
            </a:pPr>
            <a:r>
              <a:rPr b="1" i="0" lang="en" sz="16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04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8" name="Google Shape;758;p33"/>
          <p:cNvSpPr txBox="1"/>
          <p:nvPr/>
        </p:nvSpPr>
        <p:spPr>
          <a:xfrm>
            <a:off x="4029075" y="2235994"/>
            <a:ext cx="4543425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Refine based on what we find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59" name="Google Shape;759;p33"/>
          <p:cNvCxnSpPr/>
          <p:nvPr/>
        </p:nvCxnSpPr>
        <p:spPr>
          <a:xfrm>
            <a:off x="3571875" y="2757488"/>
            <a:ext cx="5000625" cy="0"/>
          </a:xfrm>
          <a:prstGeom prst="straightConnector1">
            <a:avLst/>
          </a:prstGeom>
          <a:noFill/>
          <a:ln cap="flat" cmpd="sng" w="9525">
            <a:solidFill>
              <a:srgbClr val="E1DED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60" name="Google Shape;760;p33"/>
          <p:cNvSpPr txBox="1"/>
          <p:nvPr/>
        </p:nvSpPr>
        <p:spPr>
          <a:xfrm>
            <a:off x="3571875" y="2757488"/>
            <a:ext cx="285750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600"/>
              <a:buFont typeface="Cambria"/>
              <a:buNone/>
            </a:pPr>
            <a:r>
              <a:rPr b="1" i="0" lang="en" sz="16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05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" name="Google Shape;761;p33"/>
          <p:cNvSpPr txBox="1"/>
          <p:nvPr/>
        </p:nvSpPr>
        <p:spPr>
          <a:xfrm>
            <a:off x="4029075" y="2757488"/>
            <a:ext cx="4543425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Write the thesis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2" name="Google Shape;762;p33"/>
          <p:cNvCxnSpPr/>
          <p:nvPr/>
        </p:nvCxnSpPr>
        <p:spPr>
          <a:xfrm>
            <a:off x="3571875" y="3278981"/>
            <a:ext cx="5000625" cy="0"/>
          </a:xfrm>
          <a:prstGeom prst="straightConnector1">
            <a:avLst/>
          </a:prstGeom>
          <a:noFill/>
          <a:ln cap="flat" cmpd="sng" w="9525">
            <a:solidFill>
              <a:srgbClr val="E1DED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63" name="Google Shape;763;p33"/>
          <p:cNvSpPr/>
          <p:nvPr/>
        </p:nvSpPr>
        <p:spPr>
          <a:xfrm>
            <a:off x="3571875" y="3681900"/>
            <a:ext cx="5000700" cy="1025700"/>
          </a:xfrm>
          <a:prstGeom prst="rect">
            <a:avLst/>
          </a:prstGeom>
          <a:solidFill>
            <a:srgbClr val="EFEBE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4" name="Google Shape;764;p33"/>
          <p:cNvSpPr/>
          <p:nvPr/>
        </p:nvSpPr>
        <p:spPr>
          <a:xfrm>
            <a:off x="3571875" y="3681900"/>
            <a:ext cx="28500" cy="10257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Google Shape;765;p33"/>
          <p:cNvSpPr txBox="1"/>
          <p:nvPr/>
        </p:nvSpPr>
        <p:spPr>
          <a:xfrm>
            <a:off x="3800438" y="3769301"/>
            <a:ext cx="4543500" cy="9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600"/>
              <a:buFont typeface="Courier New"/>
              <a:buNone/>
            </a:pPr>
            <a:r>
              <a:rPr b="1" i="0" lang="en" sz="1100" u="none" cap="none" strike="noStrike">
                <a:solidFill>
                  <a:srgbClr val="8B1A1A"/>
                </a:solidFill>
                <a:latin typeface="Courier New"/>
                <a:ea typeface="Courier New"/>
                <a:cs typeface="Courier New"/>
                <a:sym typeface="Courier New"/>
              </a:rPr>
              <a:t>DISCUSSION POINT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6" name="Google Shape;766;p33"/>
          <p:cNvSpPr txBox="1"/>
          <p:nvPr/>
        </p:nvSpPr>
        <p:spPr>
          <a:xfrm>
            <a:off x="3800450" y="3959250"/>
            <a:ext cx="4543500" cy="63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mbria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Given the ambitious scope of VDG + dependency-aware exploration, should we pursue the full architecture, or constrain the scope to a specific subsystem before implementation?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7" name="Google Shape;767;p33"/>
          <p:cNvCxnSpPr/>
          <p:nvPr/>
        </p:nvCxnSpPr>
        <p:spPr>
          <a:xfrm>
            <a:off x="0" y="4886325"/>
            <a:ext cx="9144000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68" name="Google Shape;768;p33"/>
          <p:cNvSpPr txBox="1"/>
          <p:nvPr/>
        </p:nvSpPr>
        <p:spPr>
          <a:xfrm>
            <a:off x="7500938" y="4957763"/>
            <a:ext cx="1071563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800"/>
              <a:buFont typeface="Courier New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19 / 20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" name="Google Shape;769;p33"/>
          <p:cNvSpPr/>
          <p:nvPr/>
        </p:nvSpPr>
        <p:spPr>
          <a:xfrm>
            <a:off x="0" y="5122069"/>
            <a:ext cx="86868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2E"/>
        </a:solidFill>
      </p:bgPr>
    </p:bg>
    <p:spTree>
      <p:nvGrpSpPr>
        <p:cNvPr id="774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p34"/>
          <p:cNvSpPr txBox="1"/>
          <p:nvPr/>
        </p:nvSpPr>
        <p:spPr>
          <a:xfrm>
            <a:off x="0" y="342890"/>
            <a:ext cx="9143700" cy="2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53935"/>
              </a:buClr>
              <a:buSzPts val="1200"/>
              <a:buFont typeface="Playfair Display"/>
              <a:buNone/>
            </a:pPr>
            <a:r>
              <a:rPr b="1" i="0" lang="en" sz="2000" u="none" cap="none" strike="noStrike">
                <a:solidFill>
                  <a:srgbClr val="E53935"/>
                </a:solidFill>
                <a:latin typeface="IBM Plex Mono"/>
                <a:ea typeface="IBM Plex Mono"/>
                <a:cs typeface="IBM Plex Mono"/>
                <a:sym typeface="IBM Plex Mono"/>
              </a:rPr>
              <a:t>RedGrid</a:t>
            </a:r>
            <a:endParaRPr i="0" sz="2000" u="none" cap="none" strike="noStrike">
              <a:solidFill>
                <a:schemeClr val="dk1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  <p:sp>
        <p:nvSpPr>
          <p:cNvPr id="776" name="Google Shape;776;p34"/>
          <p:cNvSpPr txBox="1"/>
          <p:nvPr/>
        </p:nvSpPr>
        <p:spPr>
          <a:xfrm>
            <a:off x="0" y="671496"/>
            <a:ext cx="9143771" cy="80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6000"/>
              <a:buFont typeface="Arial"/>
              <a:buNone/>
            </a:pPr>
            <a:r>
              <a:rPr b="1" i="0" lang="en" sz="6000" u="none" cap="none" strike="noStrike">
                <a:solidFill>
                  <a:srgbClr val="F7F4EF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6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7" name="Google Shape;777;p34"/>
          <p:cNvSpPr txBox="1"/>
          <p:nvPr/>
        </p:nvSpPr>
        <p:spPr>
          <a:xfrm>
            <a:off x="0" y="1471576"/>
            <a:ext cx="9143771" cy="14287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800"/>
              <a:buFont typeface="Courier New"/>
              <a:buNone/>
            </a:pPr>
            <a:r>
              <a:rPr b="1" i="0" lang="en" sz="10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FLOOR OPEN FOR QUESTIONS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78" name="Google Shape;778;p34"/>
          <p:cNvCxnSpPr/>
          <p:nvPr/>
        </p:nvCxnSpPr>
        <p:spPr>
          <a:xfrm>
            <a:off x="571486" y="1757318"/>
            <a:ext cx="8000800" cy="0"/>
          </a:xfrm>
          <a:prstGeom prst="straightConnector1">
            <a:avLst/>
          </a:prstGeom>
          <a:noFill/>
          <a:ln cap="flat" cmpd="sng" w="9525">
            <a:solidFill>
              <a:srgbClr val="FFFFFF">
                <a:alpha val="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79" name="Google Shape;779;p34"/>
          <p:cNvSpPr/>
          <p:nvPr/>
        </p:nvSpPr>
        <p:spPr>
          <a:xfrm>
            <a:off x="571486" y="1900190"/>
            <a:ext cx="1871616" cy="771506"/>
          </a:xfrm>
          <a:prstGeom prst="roundRect">
            <a:avLst>
              <a:gd fmla="val 5333" name="adj"/>
            </a:avLst>
          </a:prstGeom>
          <a:solidFill>
            <a:srgbClr val="FFFFFF">
              <a:alpha val="3922"/>
            </a:srgbClr>
          </a:solidFill>
          <a:ln cap="flat" cmpd="sng" w="9525">
            <a:solidFill>
              <a:srgbClr val="FFFFFF">
                <a:alpha val="7843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0" name="Google Shape;780;p34"/>
          <p:cNvSpPr/>
          <p:nvPr/>
        </p:nvSpPr>
        <p:spPr>
          <a:xfrm>
            <a:off x="653782" y="2014487"/>
            <a:ext cx="228594" cy="228594"/>
          </a:xfrm>
          <a:prstGeom prst="roundRect">
            <a:avLst>
              <a:gd fmla="val 13500" name="adj"/>
            </a:avLst>
          </a:prstGeom>
          <a:solidFill>
            <a:srgbClr val="FFFFFF">
              <a:alpha val="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/icons/doc_w.png" id="781" name="Google Shape;781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3787" y="2064492"/>
            <a:ext cx="128584" cy="128585"/>
          </a:xfrm>
          <a:prstGeom prst="rect">
            <a:avLst/>
          </a:prstGeom>
          <a:noFill/>
          <a:ln>
            <a:noFill/>
          </a:ln>
        </p:spPr>
      </p:pic>
      <p:sp>
        <p:nvSpPr>
          <p:cNvPr id="782" name="Google Shape;782;p34"/>
          <p:cNvSpPr txBox="1"/>
          <p:nvPr/>
        </p:nvSpPr>
        <p:spPr>
          <a:xfrm>
            <a:off x="653782" y="2014487"/>
            <a:ext cx="1707024" cy="27145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2000"/>
              <a:buFont typeface="Playfair Display"/>
              <a:buNone/>
            </a:pPr>
            <a:r>
              <a:rPr b="1" i="0" lang="en" sz="2000" u="none" cap="none" strike="noStrike">
                <a:solidFill>
                  <a:srgbClr val="F7F4E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11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" name="Google Shape;783;p34"/>
          <p:cNvSpPr txBox="1"/>
          <p:nvPr/>
        </p:nvSpPr>
        <p:spPr>
          <a:xfrm>
            <a:off x="653782" y="2400240"/>
            <a:ext cx="1707024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C8C99"/>
              </a:buClr>
              <a:buSzPts val="600"/>
              <a:buFont typeface="Arial"/>
              <a:buNone/>
            </a:pPr>
            <a:r>
              <a:rPr b="1" i="0" lang="en" sz="700" u="none" cap="none" strike="noStrike">
                <a:solidFill>
                  <a:srgbClr val="8C8C99"/>
                </a:solidFill>
                <a:latin typeface="Arial"/>
                <a:ea typeface="Arial"/>
                <a:cs typeface="Arial"/>
                <a:sym typeface="Arial"/>
              </a:rPr>
              <a:t>PAPERS SURVEYED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4" name="Google Shape;784;p34"/>
          <p:cNvSpPr/>
          <p:nvPr/>
        </p:nvSpPr>
        <p:spPr>
          <a:xfrm>
            <a:off x="2614547" y="1900190"/>
            <a:ext cx="1871616" cy="771506"/>
          </a:xfrm>
          <a:prstGeom prst="roundRect">
            <a:avLst>
              <a:gd fmla="val 5333" name="adj"/>
            </a:avLst>
          </a:prstGeom>
          <a:solidFill>
            <a:srgbClr val="FFFFFF">
              <a:alpha val="3922"/>
            </a:srgbClr>
          </a:solidFill>
          <a:ln cap="flat" cmpd="sng" w="9525">
            <a:solidFill>
              <a:srgbClr val="FFFFFF">
                <a:alpha val="7843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5" name="Google Shape;785;p34"/>
          <p:cNvSpPr/>
          <p:nvPr/>
        </p:nvSpPr>
        <p:spPr>
          <a:xfrm>
            <a:off x="2696843" y="2014487"/>
            <a:ext cx="228594" cy="228594"/>
          </a:xfrm>
          <a:prstGeom prst="roundRect">
            <a:avLst>
              <a:gd fmla="val 13500" name="adj"/>
            </a:avLst>
          </a:prstGeom>
          <a:solidFill>
            <a:srgbClr val="FFFFFF">
              <a:alpha val="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/icons/diverge_w.png" id="786" name="Google Shape;786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746848" y="2064492"/>
            <a:ext cx="128585" cy="128585"/>
          </a:xfrm>
          <a:prstGeom prst="rect">
            <a:avLst/>
          </a:prstGeom>
          <a:noFill/>
          <a:ln>
            <a:noFill/>
          </a:ln>
        </p:spPr>
      </p:pic>
      <p:sp>
        <p:nvSpPr>
          <p:cNvPr id="787" name="Google Shape;787;p34"/>
          <p:cNvSpPr txBox="1"/>
          <p:nvPr/>
        </p:nvSpPr>
        <p:spPr>
          <a:xfrm>
            <a:off x="2696843" y="2014487"/>
            <a:ext cx="1707024" cy="27145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2000"/>
              <a:buFont typeface="Playfair Display"/>
              <a:buNone/>
            </a:pPr>
            <a:r>
              <a:rPr b="1" i="0" lang="en" sz="2000" u="none" cap="none" strike="noStrike">
                <a:solidFill>
                  <a:srgbClr val="F7F4E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8" name="Google Shape;788;p34"/>
          <p:cNvSpPr txBox="1"/>
          <p:nvPr/>
        </p:nvSpPr>
        <p:spPr>
          <a:xfrm>
            <a:off x="2696843" y="2400240"/>
            <a:ext cx="1707024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C8C99"/>
              </a:buClr>
              <a:buSzPts val="600"/>
              <a:buFont typeface="Arial"/>
              <a:buNone/>
            </a:pPr>
            <a:r>
              <a:rPr b="1" i="0" lang="en" sz="700" u="none" cap="none" strike="noStrike">
                <a:solidFill>
                  <a:srgbClr val="8C8C99"/>
                </a:solidFill>
                <a:latin typeface="Arial"/>
                <a:ea typeface="Arial"/>
                <a:cs typeface="Arial"/>
                <a:sym typeface="Arial"/>
              </a:rPr>
              <a:t>CONTRIBUTION DIRECTIONS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" name="Google Shape;789;p34"/>
          <p:cNvSpPr/>
          <p:nvPr/>
        </p:nvSpPr>
        <p:spPr>
          <a:xfrm>
            <a:off x="4657609" y="1900190"/>
            <a:ext cx="1871616" cy="771506"/>
          </a:xfrm>
          <a:prstGeom prst="roundRect">
            <a:avLst>
              <a:gd fmla="val 5333" name="adj"/>
            </a:avLst>
          </a:prstGeom>
          <a:solidFill>
            <a:srgbClr val="FFFFFF">
              <a:alpha val="3922"/>
            </a:srgbClr>
          </a:solidFill>
          <a:ln cap="flat" cmpd="sng" w="9525">
            <a:solidFill>
              <a:srgbClr val="FFFFFF">
                <a:alpha val="7843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0" name="Google Shape;790;p34"/>
          <p:cNvSpPr/>
          <p:nvPr/>
        </p:nvSpPr>
        <p:spPr>
          <a:xfrm>
            <a:off x="4739905" y="2014487"/>
            <a:ext cx="228594" cy="228594"/>
          </a:xfrm>
          <a:prstGeom prst="roundRect">
            <a:avLst>
              <a:gd fmla="val 13500" name="adj"/>
            </a:avLst>
          </a:prstGeom>
          <a:solidFill>
            <a:srgbClr val="FFFFFF">
              <a:alpha val="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/icons/target_w.png" id="791" name="Google Shape;791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789910" y="2064492"/>
            <a:ext cx="128585" cy="128585"/>
          </a:xfrm>
          <a:prstGeom prst="rect">
            <a:avLst/>
          </a:prstGeom>
          <a:noFill/>
          <a:ln>
            <a:noFill/>
          </a:ln>
        </p:spPr>
      </p:pic>
      <p:sp>
        <p:nvSpPr>
          <p:cNvPr id="792" name="Google Shape;792;p34"/>
          <p:cNvSpPr txBox="1"/>
          <p:nvPr/>
        </p:nvSpPr>
        <p:spPr>
          <a:xfrm>
            <a:off x="4739905" y="2014487"/>
            <a:ext cx="1707024" cy="27145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2000"/>
              <a:buFont typeface="Playfair Display"/>
              <a:buNone/>
            </a:pPr>
            <a:r>
              <a:rPr b="1" i="0" lang="en" sz="2000" u="none" cap="none" strike="noStrike">
                <a:solidFill>
                  <a:srgbClr val="F7F4E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" name="Google Shape;793;p34"/>
          <p:cNvSpPr txBox="1"/>
          <p:nvPr/>
        </p:nvSpPr>
        <p:spPr>
          <a:xfrm>
            <a:off x="4739905" y="2400240"/>
            <a:ext cx="1707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C8C99"/>
              </a:buClr>
              <a:buSzPts val="600"/>
              <a:buFont typeface="Arial"/>
              <a:buNone/>
            </a:pPr>
            <a:r>
              <a:rPr b="1" i="0" lang="en" sz="700" u="none" cap="none" strike="noStrike">
                <a:solidFill>
                  <a:srgbClr val="8C8C99"/>
                </a:solidFill>
                <a:latin typeface="Arial"/>
                <a:ea typeface="Arial"/>
                <a:cs typeface="Arial"/>
                <a:sym typeface="Arial"/>
              </a:rPr>
              <a:t>ATTACK SURFACES FOR EVALUATION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4" name="Google Shape;794;p34"/>
          <p:cNvSpPr/>
          <p:nvPr/>
        </p:nvSpPr>
        <p:spPr>
          <a:xfrm>
            <a:off x="6700670" y="1900190"/>
            <a:ext cx="1871616" cy="771506"/>
          </a:xfrm>
          <a:prstGeom prst="roundRect">
            <a:avLst>
              <a:gd fmla="val 5333" name="adj"/>
            </a:avLst>
          </a:prstGeom>
          <a:solidFill>
            <a:srgbClr val="FFFFFF">
              <a:alpha val="3922"/>
            </a:srgbClr>
          </a:solidFill>
          <a:ln cap="flat" cmpd="sng" w="9525">
            <a:solidFill>
              <a:srgbClr val="FFFFFF">
                <a:alpha val="7843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5" name="Google Shape;795;p34"/>
          <p:cNvSpPr/>
          <p:nvPr/>
        </p:nvSpPr>
        <p:spPr>
          <a:xfrm>
            <a:off x="6782966" y="2014487"/>
            <a:ext cx="228594" cy="228594"/>
          </a:xfrm>
          <a:prstGeom prst="roundRect">
            <a:avLst>
              <a:gd fmla="val 13500" name="adj"/>
            </a:avLst>
          </a:prstGeom>
          <a:solidFill>
            <a:srgbClr val="FFFFFF">
              <a:alpha val="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/icons/warn_w.png" id="796" name="Google Shape;796;p3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832971" y="2064492"/>
            <a:ext cx="128585" cy="128585"/>
          </a:xfrm>
          <a:prstGeom prst="rect">
            <a:avLst/>
          </a:prstGeom>
          <a:noFill/>
          <a:ln>
            <a:noFill/>
          </a:ln>
        </p:spPr>
      </p:pic>
      <p:sp>
        <p:nvSpPr>
          <p:cNvPr id="797" name="Google Shape;797;p34"/>
          <p:cNvSpPr txBox="1"/>
          <p:nvPr/>
        </p:nvSpPr>
        <p:spPr>
          <a:xfrm>
            <a:off x="6782966" y="2014487"/>
            <a:ext cx="1707024" cy="27145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2000"/>
              <a:buFont typeface="Playfair Display"/>
              <a:buNone/>
            </a:pPr>
            <a:r>
              <a:rPr b="1" i="0" lang="en" sz="2000" u="none" cap="none" strike="noStrike">
                <a:solidFill>
                  <a:srgbClr val="F7F4E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40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8" name="Google Shape;798;p34"/>
          <p:cNvSpPr txBox="1"/>
          <p:nvPr/>
        </p:nvSpPr>
        <p:spPr>
          <a:xfrm>
            <a:off x="6782966" y="2400240"/>
            <a:ext cx="1707024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C8C99"/>
              </a:buClr>
              <a:buSzPts val="600"/>
              <a:buFont typeface="Arial"/>
              <a:buNone/>
            </a:pPr>
            <a:r>
              <a:rPr b="1" i="0" lang="en" sz="700" u="none" cap="none" strike="noStrike">
                <a:solidFill>
                  <a:srgbClr val="8C8C99"/>
                </a:solidFill>
                <a:latin typeface="Arial"/>
                <a:ea typeface="Arial"/>
                <a:cs typeface="Arial"/>
                <a:sym typeface="Arial"/>
              </a:rPr>
              <a:t>CVES IN PRIMARY BENCHMARK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9" name="Google Shape;799;p34"/>
          <p:cNvSpPr/>
          <p:nvPr/>
        </p:nvSpPr>
        <p:spPr>
          <a:xfrm>
            <a:off x="571486" y="2928864"/>
            <a:ext cx="2552636" cy="642922"/>
          </a:xfrm>
          <a:prstGeom prst="roundRect">
            <a:avLst>
              <a:gd fmla="val 4267" name="adj"/>
            </a:avLst>
          </a:prstGeom>
          <a:solidFill>
            <a:srgbClr val="A0631A">
              <a:alpha val="7843"/>
            </a:srgbClr>
          </a:solidFill>
          <a:ln cap="flat" cmpd="sng" w="12700">
            <a:solidFill>
              <a:srgbClr val="A0631A">
                <a:alpha val="14902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00" name="Google Shape;800;p34"/>
          <p:cNvCxnSpPr/>
          <p:nvPr/>
        </p:nvCxnSpPr>
        <p:spPr>
          <a:xfrm>
            <a:off x="571486" y="2928864"/>
            <a:ext cx="0" cy="642922"/>
          </a:xfrm>
          <a:prstGeom prst="straightConnector1">
            <a:avLst/>
          </a:prstGeom>
          <a:noFill/>
          <a:ln cap="flat" cmpd="sng" w="28575">
            <a:solidFill>
              <a:srgbClr val="A0631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1" name="Google Shape;801;p34"/>
          <p:cNvSpPr/>
          <p:nvPr/>
        </p:nvSpPr>
        <p:spPr>
          <a:xfrm>
            <a:off x="681214" y="2997444"/>
            <a:ext cx="285742" cy="285742"/>
          </a:xfrm>
          <a:prstGeom prst="ellipse">
            <a:avLst/>
          </a:prstGeom>
          <a:solidFill>
            <a:srgbClr val="A0631A">
              <a:alpha val="14902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/icons/share_o.png" id="802" name="Google Shape;802;p3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45506" y="3061736"/>
            <a:ext cx="157159" cy="157159"/>
          </a:xfrm>
          <a:prstGeom prst="rect">
            <a:avLst/>
          </a:prstGeom>
          <a:noFill/>
          <a:ln>
            <a:noFill/>
          </a:ln>
        </p:spPr>
      </p:pic>
      <p:sp>
        <p:nvSpPr>
          <p:cNvPr id="803" name="Google Shape;803;p34"/>
          <p:cNvSpPr txBox="1"/>
          <p:nvPr/>
        </p:nvSpPr>
        <p:spPr>
          <a:xfrm>
            <a:off x="1062968" y="2983728"/>
            <a:ext cx="1965141" cy="1714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1100"/>
              <a:buFont typeface="Courier New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VDG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4" name="Google Shape;804;p34"/>
          <p:cNvSpPr txBox="1"/>
          <p:nvPr/>
        </p:nvSpPr>
        <p:spPr>
          <a:xfrm>
            <a:off x="1062968" y="3200320"/>
            <a:ext cx="1965141" cy="3571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D9DE"/>
              </a:buClr>
              <a:buSzPts val="800"/>
              <a:buFont typeface="Arial"/>
              <a:buNone/>
            </a:pPr>
            <a:r>
              <a:rPr b="0" i="0" lang="en" sz="900" u="none" cap="none" strike="noStrike">
                <a:solidFill>
                  <a:srgbClr val="D9D9DE"/>
                </a:solidFill>
                <a:latin typeface="Arial"/>
                <a:ea typeface="Arial"/>
                <a:cs typeface="Arial"/>
                <a:sym typeface="Arial"/>
              </a:rPr>
              <a:t>Vulnerability Dependency Graph: The graph we plan to build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5" name="Google Shape;805;p34"/>
          <p:cNvSpPr/>
          <p:nvPr/>
        </p:nvSpPr>
        <p:spPr>
          <a:xfrm>
            <a:off x="3295568" y="2928864"/>
            <a:ext cx="2552636" cy="642922"/>
          </a:xfrm>
          <a:prstGeom prst="roundRect">
            <a:avLst>
              <a:gd fmla="val 4267" name="adj"/>
            </a:avLst>
          </a:prstGeom>
          <a:solidFill>
            <a:srgbClr val="A0631A">
              <a:alpha val="7843"/>
            </a:srgbClr>
          </a:solidFill>
          <a:ln cap="flat" cmpd="sng" w="12700">
            <a:solidFill>
              <a:srgbClr val="A0631A">
                <a:alpha val="14902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06" name="Google Shape;806;p34"/>
          <p:cNvCxnSpPr/>
          <p:nvPr/>
        </p:nvCxnSpPr>
        <p:spPr>
          <a:xfrm>
            <a:off x="3295568" y="2928864"/>
            <a:ext cx="0" cy="642922"/>
          </a:xfrm>
          <a:prstGeom prst="straightConnector1">
            <a:avLst/>
          </a:prstGeom>
          <a:noFill/>
          <a:ln cap="flat" cmpd="sng" w="28575">
            <a:solidFill>
              <a:srgbClr val="A0631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7" name="Google Shape;807;p34"/>
          <p:cNvSpPr/>
          <p:nvPr/>
        </p:nvSpPr>
        <p:spPr>
          <a:xfrm>
            <a:off x="3405296" y="2997444"/>
            <a:ext cx="285743" cy="285742"/>
          </a:xfrm>
          <a:prstGeom prst="ellipse">
            <a:avLst/>
          </a:prstGeom>
          <a:solidFill>
            <a:srgbClr val="A0631A">
              <a:alpha val="14902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/icons/gear_o.png" id="808" name="Google Shape;808;p3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469588" y="3061736"/>
            <a:ext cx="157159" cy="157159"/>
          </a:xfrm>
          <a:prstGeom prst="rect">
            <a:avLst/>
          </a:prstGeom>
          <a:noFill/>
          <a:ln>
            <a:noFill/>
          </a:ln>
        </p:spPr>
      </p:pic>
      <p:sp>
        <p:nvSpPr>
          <p:cNvPr id="809" name="Google Shape;809;p34"/>
          <p:cNvSpPr txBox="1"/>
          <p:nvPr/>
        </p:nvSpPr>
        <p:spPr>
          <a:xfrm>
            <a:off x="3787051" y="2983728"/>
            <a:ext cx="1965141" cy="1714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1100"/>
              <a:buFont typeface="Courier New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UCB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" name="Google Shape;810;p34"/>
          <p:cNvSpPr txBox="1"/>
          <p:nvPr/>
        </p:nvSpPr>
        <p:spPr>
          <a:xfrm>
            <a:off x="3787051" y="3200320"/>
            <a:ext cx="1965141" cy="3571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D9DE"/>
              </a:buClr>
              <a:buSzPts val="800"/>
              <a:buFont typeface="Arial"/>
              <a:buNone/>
            </a:pPr>
            <a:r>
              <a:rPr b="0" i="0" lang="en" sz="900" u="none" cap="none" strike="noStrike">
                <a:solidFill>
                  <a:srgbClr val="D9D9DE"/>
                </a:solidFill>
                <a:latin typeface="Arial"/>
                <a:ea typeface="Arial"/>
                <a:cs typeface="Arial"/>
                <a:sym typeface="Arial"/>
              </a:rPr>
              <a:t>Upper Confidence Bound: How the agent decides what to try next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1" name="Google Shape;811;p34"/>
          <p:cNvSpPr/>
          <p:nvPr/>
        </p:nvSpPr>
        <p:spPr>
          <a:xfrm>
            <a:off x="6019649" y="2928864"/>
            <a:ext cx="2552636" cy="642922"/>
          </a:xfrm>
          <a:prstGeom prst="roundRect">
            <a:avLst>
              <a:gd fmla="val 4267" name="adj"/>
            </a:avLst>
          </a:prstGeom>
          <a:solidFill>
            <a:srgbClr val="A0631A">
              <a:alpha val="7843"/>
            </a:srgbClr>
          </a:solidFill>
          <a:ln cap="flat" cmpd="sng" w="12700">
            <a:solidFill>
              <a:srgbClr val="A0631A">
                <a:alpha val="14902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12" name="Google Shape;812;p34"/>
          <p:cNvCxnSpPr/>
          <p:nvPr/>
        </p:nvCxnSpPr>
        <p:spPr>
          <a:xfrm>
            <a:off x="6019649" y="2928864"/>
            <a:ext cx="0" cy="642922"/>
          </a:xfrm>
          <a:prstGeom prst="straightConnector1">
            <a:avLst/>
          </a:prstGeom>
          <a:noFill/>
          <a:ln cap="flat" cmpd="sng" w="28575">
            <a:solidFill>
              <a:srgbClr val="A0631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13" name="Google Shape;813;p34"/>
          <p:cNvSpPr/>
          <p:nvPr/>
        </p:nvSpPr>
        <p:spPr>
          <a:xfrm>
            <a:off x="6129377" y="2997444"/>
            <a:ext cx="285743" cy="285742"/>
          </a:xfrm>
          <a:prstGeom prst="ellipse">
            <a:avLst/>
          </a:prstGeom>
          <a:solidFill>
            <a:srgbClr val="A0631A">
              <a:alpha val="14902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/icons/crosshair_o.png" id="814" name="Google Shape;814;p3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193669" y="3061736"/>
            <a:ext cx="157159" cy="157159"/>
          </a:xfrm>
          <a:prstGeom prst="rect">
            <a:avLst/>
          </a:prstGeom>
          <a:noFill/>
          <a:ln>
            <a:noFill/>
          </a:ln>
        </p:spPr>
      </p:pic>
      <p:sp>
        <p:nvSpPr>
          <p:cNvPr id="815" name="Google Shape;815;p34"/>
          <p:cNvSpPr txBox="1"/>
          <p:nvPr/>
        </p:nvSpPr>
        <p:spPr>
          <a:xfrm>
            <a:off x="6511133" y="2983728"/>
            <a:ext cx="1965141" cy="1714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1100"/>
              <a:buFont typeface="Courier New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ADM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" name="Google Shape;816;p34"/>
          <p:cNvSpPr txBox="1"/>
          <p:nvPr/>
        </p:nvSpPr>
        <p:spPr>
          <a:xfrm>
            <a:off x="6511133" y="3200320"/>
            <a:ext cx="1965141" cy="3571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D9DE"/>
              </a:buClr>
              <a:buSzPts val="800"/>
              <a:buFont typeface="Arial"/>
              <a:buNone/>
            </a:pPr>
            <a:r>
              <a:rPr b="0" i="0" lang="en" sz="900" u="none" cap="none" strike="noStrike">
                <a:solidFill>
                  <a:srgbClr val="D9D9DE"/>
                </a:solidFill>
                <a:latin typeface="Arial"/>
                <a:ea typeface="Arial"/>
                <a:cs typeface="Arial"/>
                <a:sym typeface="Arial"/>
              </a:rPr>
              <a:t>Attack Decision-Making: The core challenge we address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17" name="Google Shape;817;p34"/>
          <p:cNvCxnSpPr/>
          <p:nvPr/>
        </p:nvCxnSpPr>
        <p:spPr>
          <a:xfrm>
            <a:off x="571486" y="4000400"/>
            <a:ext cx="3600" cy="623100"/>
          </a:xfrm>
          <a:prstGeom prst="straightConnector1">
            <a:avLst/>
          </a:prstGeom>
          <a:noFill/>
          <a:ln cap="flat" cmpd="sng" w="28575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18" name="Google Shape;818;p34"/>
          <p:cNvSpPr txBox="1"/>
          <p:nvPr/>
        </p:nvSpPr>
        <p:spPr>
          <a:xfrm>
            <a:off x="681214" y="3986684"/>
            <a:ext cx="4114800" cy="18573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1100"/>
              <a:buFont typeface="Playfair Display"/>
              <a:buNone/>
            </a:pPr>
            <a:r>
              <a:rPr b="1" i="0" lang="en" sz="1100" u="none" cap="none" strike="noStrike">
                <a:solidFill>
                  <a:srgbClr val="F7F4E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Nishan Paul and Md Rakibur Rahman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9" name="Google Shape;819;p34"/>
          <p:cNvSpPr txBox="1"/>
          <p:nvPr/>
        </p:nvSpPr>
        <p:spPr>
          <a:xfrm>
            <a:off x="681214" y="4200420"/>
            <a:ext cx="4114800" cy="11429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C8C99"/>
              </a:buClr>
              <a:buSzPts val="600"/>
              <a:buFont typeface="Courier New"/>
              <a:buNone/>
            </a:pPr>
            <a:r>
              <a:rPr b="1" i="0" lang="en" sz="1100" u="none" cap="none" strike="noStrike">
                <a:solidFill>
                  <a:srgbClr val="8C8C99"/>
                </a:solidFill>
                <a:latin typeface="Courier New"/>
                <a:ea typeface="Courier New"/>
                <a:cs typeface="Courier New"/>
                <a:sym typeface="Courier New"/>
              </a:rPr>
              <a:t>UNIVERSITY OF DHAKA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0" name="Google Shape;820;p34"/>
          <p:cNvSpPr txBox="1"/>
          <p:nvPr/>
        </p:nvSpPr>
        <p:spPr>
          <a:xfrm>
            <a:off x="681214" y="4329005"/>
            <a:ext cx="5486400" cy="11429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C8C99"/>
              </a:buClr>
              <a:buSzPts val="600"/>
              <a:buFont typeface="Courier New"/>
              <a:buNone/>
            </a:pPr>
            <a:r>
              <a:rPr b="1" i="0" lang="en" sz="1100" u="none" cap="none" strike="noStrike">
                <a:solidFill>
                  <a:srgbClr val="8C8C99"/>
                </a:solidFill>
                <a:latin typeface="Courier New"/>
                <a:ea typeface="Courier New"/>
                <a:cs typeface="Courier New"/>
                <a:sym typeface="Courier New"/>
              </a:rPr>
              <a:t>PROFESSIONAL MASTERS IN INFORMATION AND CYBER SECURITY (PMICS)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1" name="Google Shape;821;p34"/>
          <p:cNvSpPr txBox="1"/>
          <p:nvPr/>
        </p:nvSpPr>
        <p:spPr>
          <a:xfrm>
            <a:off x="681214" y="4457588"/>
            <a:ext cx="5486400" cy="11429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C8C99"/>
              </a:buClr>
              <a:buSzPts val="600"/>
              <a:buFont typeface="Courier New"/>
              <a:buNone/>
            </a:pPr>
            <a:r>
              <a:rPr b="1" i="0" lang="en" sz="1100" u="none" cap="none" strike="noStrike">
                <a:solidFill>
                  <a:srgbClr val="8C8C99"/>
                </a:solidFill>
                <a:latin typeface="Courier New"/>
                <a:ea typeface="Courier New"/>
                <a:cs typeface="Courier New"/>
                <a:sym typeface="Courier New"/>
              </a:rPr>
              <a:t>CSE 810: PROJECT ON CYBER SECURITY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