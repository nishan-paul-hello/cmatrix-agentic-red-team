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5143500" cx="9144000"/>
  <p:notesSz cx="6858000" cy="9144000"/>
  <p:embeddedFontLst>
    <p:embeddedFont>
      <p:font typeface="Playfair Display"/>
      <p:regular r:id="rId28"/>
      <p:bold r:id="rId29"/>
      <p:italic r:id="rId30"/>
      <p:boldItalic r:id="rId31"/>
    </p:embeddedFont>
    <p:embeddedFont>
      <p:font typeface="Source Sans 3"/>
      <p:regular r:id="rId32"/>
      <p:bold r:id="rId33"/>
      <p:italic r:id="rId34"/>
      <p:boldItalic r:id="rId35"/>
    </p:embeddedFont>
    <p:embeddedFont>
      <p:font typeface="IBM Plex Mon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1637843-7EEC-42DC-84F5-4FF2FDD21AC6}">
  <a:tblStyle styleId="{81637843-7EEC-42DC-84F5-4FF2FDD21A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font" Target="fonts/PlayfairDisplay-regular.fnt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layfairDisplay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layfairDisplay-boldItalic.fntdata"/><Relationship Id="rId30" Type="http://schemas.openxmlformats.org/officeDocument/2006/relationships/font" Target="fonts/PlayfairDisplay-italic.fntdata"/><Relationship Id="rId11" Type="http://schemas.openxmlformats.org/officeDocument/2006/relationships/slide" Target="slides/slide5.xml"/><Relationship Id="rId33" Type="http://schemas.openxmlformats.org/officeDocument/2006/relationships/font" Target="fonts/SourceSans3-bold.fntdata"/><Relationship Id="rId10" Type="http://schemas.openxmlformats.org/officeDocument/2006/relationships/slide" Target="slides/slide4.xml"/><Relationship Id="rId32" Type="http://schemas.openxmlformats.org/officeDocument/2006/relationships/font" Target="fonts/SourceSans3-regular.fntdata"/><Relationship Id="rId13" Type="http://schemas.openxmlformats.org/officeDocument/2006/relationships/slide" Target="slides/slide7.xml"/><Relationship Id="rId35" Type="http://schemas.openxmlformats.org/officeDocument/2006/relationships/font" Target="fonts/SourceSans3-boldItalic.fntdata"/><Relationship Id="rId12" Type="http://schemas.openxmlformats.org/officeDocument/2006/relationships/slide" Target="slides/slide6.xml"/><Relationship Id="rId34" Type="http://schemas.openxmlformats.org/officeDocument/2006/relationships/font" Target="fonts/SourceSans3-italic.fntdata"/><Relationship Id="rId15" Type="http://schemas.openxmlformats.org/officeDocument/2006/relationships/slide" Target="slides/slide9.xml"/><Relationship Id="rId37" Type="http://schemas.openxmlformats.org/officeDocument/2006/relationships/font" Target="fonts/IBMPlexMono-bold.fntdata"/><Relationship Id="rId14" Type="http://schemas.openxmlformats.org/officeDocument/2006/relationships/slide" Target="slides/slide8.xml"/><Relationship Id="rId36" Type="http://schemas.openxmlformats.org/officeDocument/2006/relationships/font" Target="fonts/IBMPlexMono-regular.fntdata"/><Relationship Id="rId17" Type="http://schemas.openxmlformats.org/officeDocument/2006/relationships/slide" Target="slides/slide11.xml"/><Relationship Id="rId39" Type="http://schemas.openxmlformats.org/officeDocument/2006/relationships/font" Target="fonts/IBMPlexMono-boldItalic.fntdata"/><Relationship Id="rId16" Type="http://schemas.openxmlformats.org/officeDocument/2006/relationships/slide" Target="slides/slide10.xml"/><Relationship Id="rId38" Type="http://schemas.openxmlformats.org/officeDocument/2006/relationships/font" Target="fonts/IBMPlexMono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" name="Google Shape;51;p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5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9" name="Google Shape;159;p5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9" name="Google Shape;199;p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7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7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5" name="Google Shape;245;p7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p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3" name="Google Shape;293;p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8" name="Google Shape;328;p1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" name="Google Shape;391;p1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2" name="Google Shape;392;p1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1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8" name="Google Shape;428;p1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9" name="Google Shape;429;p1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1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0" name="Google Shape;460;p1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61" name="Google Shape;461;p1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14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p14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9" name="Google Shape;499;p14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1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4" name="Google Shape;534;p1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5" name="Google Shape;535;p1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6" name="Google Shape;576;p1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7" name="Google Shape;577;p1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1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5" name="Google Shape;605;p1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6" name="Google Shape;606;p1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1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8" name="Google Shape;678;p1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9" name="Google Shape;679;p1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fa0f521900_19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5" name="Google Shape;725;g3fa0f521900_19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g3fa0f521900_19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fa0f521900_3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4" name="Google Shape;794;g3fa0f521900_3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g3fa0f521900_3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ogo-university.png" id="13" name="Google Shape;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0" y="285750"/>
            <a:ext cx="289627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/>
        </p:nvSpPr>
        <p:spPr>
          <a:xfrm>
            <a:off x="57150" y="571500"/>
            <a:ext cx="90868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900"/>
              <a:buFont typeface="Calibri"/>
              <a:buNone/>
            </a:pPr>
            <a:r>
              <a:rPr b="1" i="0" lang="en" sz="12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PROFESSIONAL MASTERS IN INFORMATION AND CYBER SECURITY (PMICS)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 txBox="1"/>
          <p:nvPr/>
        </p:nvSpPr>
        <p:spPr>
          <a:xfrm>
            <a:off x="57075" y="778638"/>
            <a:ext cx="90870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ourier New"/>
              <a:buNone/>
            </a:pPr>
            <a:r>
              <a:rPr b="1" i="0" lang="en" sz="1200" u="none" cap="none" strike="noStrike">
                <a:solidFill>
                  <a:srgbClr val="2E4A7A"/>
                </a:solidFill>
                <a:latin typeface="Courier New"/>
                <a:ea typeface="Courier New"/>
                <a:cs typeface="Courier New"/>
                <a:sym typeface="Courier New"/>
              </a:rPr>
              <a:t>CSE 810: PROJECT ON CYBER SECURITY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/>
        </p:nvSpPr>
        <p:spPr>
          <a:xfrm>
            <a:off x="3464669" y="921563"/>
            <a:ext cx="22146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700"/>
              <a:buFont typeface="Calibri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Calibri"/>
                <a:ea typeface="Calibri"/>
                <a:cs typeface="Calibri"/>
                <a:sym typeface="Calibri"/>
              </a:rPr>
              <a:t>INCEPTION STAGE  ·  SEPTEMBER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 txBox="1"/>
          <p:nvPr/>
        </p:nvSpPr>
        <p:spPr>
          <a:xfrm>
            <a:off x="57150" y="1314450"/>
            <a:ext cx="908685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4500"/>
              <a:buFont typeface="Cambria"/>
              <a:buNone/>
            </a:pPr>
            <a:r>
              <a:rPr b="1" i="0" lang="en" sz="45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RedGrid</a:t>
            </a:r>
            <a:endParaRPr i="0" sz="45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cxnSp>
        <p:nvCxnSpPr>
          <p:cNvPr id="18" name="Google Shape;18;p3"/>
          <p:cNvCxnSpPr/>
          <p:nvPr/>
        </p:nvCxnSpPr>
        <p:spPr>
          <a:xfrm>
            <a:off x="3286125" y="2014538"/>
            <a:ext cx="2571750" cy="0"/>
          </a:xfrm>
          <a:prstGeom prst="straightConnector1">
            <a:avLst/>
          </a:prstGeom>
          <a:noFill/>
          <a:ln cap="flat" cmpd="sng" w="190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 txBox="1"/>
          <p:nvPr/>
        </p:nvSpPr>
        <p:spPr>
          <a:xfrm>
            <a:off x="285750" y="2114550"/>
            <a:ext cx="8572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Dependency-Constrained UCB Exploration for Autonomous Penetration Testing</a:t>
            </a:r>
            <a:endParaRPr b="1" i="0" sz="14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7150" y="2728913"/>
            <a:ext cx="90868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alibri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b="0" i="0" sz="900" u="none" cap="none" strike="noStrike">
              <a:solidFill>
                <a:srgbClr val="2E4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" name="Google Shape;21;p3"/>
          <p:cNvGraphicFramePr/>
          <p:nvPr/>
        </p:nvGraphicFramePr>
        <p:xfrm>
          <a:off x="3000375" y="29289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{81637843-7EEC-42DC-84F5-4FF2FDD21AC6}</a:tableStyleId>
              </a:tblPr>
              <a:tblGrid>
                <a:gridCol w="1571625"/>
                <a:gridCol w="785800"/>
                <a:gridCol w="785800"/>
              </a:tblGrid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chemeClr val="dk1"/>
                          </a:solidFill>
                        </a:rPr>
                        <a:t>Name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chemeClr val="dk1"/>
                          </a:solidFill>
                        </a:rPr>
                        <a:t>Class Roll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chemeClr val="dk1"/>
                          </a:solidFill>
                        </a:rPr>
                        <a:t>Reg No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Nishan Paul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chemeClr val="dk1"/>
                          </a:solidFill>
                        </a:rPr>
                        <a:t>50028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chemeClr val="dk1"/>
                          </a:solidFill>
                        </a:rPr>
                        <a:t>H-55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Md Rakibur Rahman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chemeClr val="dk1"/>
                          </a:solidFill>
                        </a:rPr>
                        <a:t>50040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chemeClr val="dk1"/>
                          </a:solidFill>
                        </a:rPr>
                        <a:t>H-49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2" name="Google Shape;22;p3"/>
          <p:cNvSpPr/>
          <p:nvPr/>
        </p:nvSpPr>
        <p:spPr>
          <a:xfrm>
            <a:off x="3000496" y="3836200"/>
            <a:ext cx="3111300" cy="1143000"/>
          </a:xfrm>
          <a:prstGeom prst="rect">
            <a:avLst/>
          </a:prstGeom>
          <a:solidFill>
            <a:srgbClr val="EFEBE3"/>
          </a:solidFill>
          <a:ln>
            <a:noFill/>
          </a:ln>
          <a:effectLst>
            <a:outerShdw blurRad="76200" rotWithShape="0" algn="bl" dir="5400000" dist="381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3000496" y="3979075"/>
            <a:ext cx="3111300" cy="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SUPERVISOR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3000496" y="4164812"/>
            <a:ext cx="31113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Cambria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Dr. Md. Abdur Razzaque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3000496" y="4393412"/>
            <a:ext cx="31113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alibri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Professor and Chair</a:t>
            </a:r>
            <a:endParaRPr i="0" sz="900" u="none" cap="none" strike="noStrike">
              <a:solidFill>
                <a:srgbClr val="1A1A2E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3000496" y="4550575"/>
            <a:ext cx="31113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Department of Computer Science and Engineering</a:t>
            </a:r>
            <a:endParaRPr b="1" i="0" sz="900" u="none" cap="none" strike="noStrike">
              <a:solidFill>
                <a:srgbClr val="1A1A2E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" name="Google Shape;27;p3"/>
          <p:cNvSpPr txBox="1"/>
          <p:nvPr/>
        </p:nvSpPr>
        <p:spPr>
          <a:xfrm>
            <a:off x="3000375" y="4707750"/>
            <a:ext cx="3111600" cy="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U</a:t>
            </a:r>
            <a:r>
              <a:rPr b="1" lang="en" sz="900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niversity</a:t>
            </a: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1" lang="en" sz="900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of</a:t>
            </a: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 D</a:t>
            </a:r>
            <a:r>
              <a:rPr b="1" lang="en" sz="900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haka</a:t>
            </a:r>
            <a:endParaRPr i="0" sz="900" u="none" cap="none" strike="noStrike">
              <a:solidFill>
                <a:srgbClr val="1A1A2E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/>
          <p:nvPr/>
        </p:nvSpPr>
        <p:spPr>
          <a:xfrm>
            <a:off x="571500" y="428625"/>
            <a:ext cx="8001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Why This Matters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571500" y="878681"/>
            <a:ext cx="440055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571500" y="1089422"/>
            <a:ext cx="464058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11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PROJECT MOTIVATION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571500" y="1375172"/>
            <a:ext cx="4640580" cy="957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0" i="1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“Attackers move fast. Defenders move slow. Automated testers don’t move at all.”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 txBox="1"/>
          <p:nvPr/>
        </p:nvSpPr>
        <p:spPr>
          <a:xfrm>
            <a:off x="571500" y="2503885"/>
            <a:ext cx="46405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Security vulnerabilities are found daily in web apps, APIs, and networks. Human pen testers are scarce and expensive. Automated scanners use fixed rule-sets — they cannot reason, adapt, or chain exploits.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571500" y="3589735"/>
            <a:ext cx="4640580" cy="1007269"/>
          </a:xfrm>
          <a:prstGeom prst="rect">
            <a:avLst/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571500" y="3589735"/>
            <a:ext cx="28575" cy="1007269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 txBox="1"/>
          <p:nvPr/>
        </p:nvSpPr>
        <p:spPr>
          <a:xfrm>
            <a:off x="771525" y="3732610"/>
            <a:ext cx="42405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1000"/>
              <a:buFont typeface="Source Sans 3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question: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771525" y="3904060"/>
            <a:ext cx="4240530" cy="607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Can an LLM agent carry out penetration testing autonomously — without step-by-step human direction?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raph.png" id="42" name="Google Shape;4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97830" y="1439466"/>
            <a:ext cx="307467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4"/>
          <p:cNvSpPr/>
          <p:nvPr/>
        </p:nvSpPr>
        <p:spPr>
          <a:xfrm>
            <a:off x="5497830" y="1439466"/>
            <a:ext cx="3074670" cy="2571750"/>
          </a:xfrm>
          <a:prstGeom prst="roundRect">
            <a:avLst>
              <a:gd fmla="val 1111" name="adj"/>
            </a:avLst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 txBox="1"/>
          <p:nvPr/>
        </p:nvSpPr>
        <p:spPr>
          <a:xfrm>
            <a:off x="5497830" y="4125516"/>
            <a:ext cx="3074670" cy="121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0" y="5122069"/>
            <a:ext cx="457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"/>
          <p:cNvSpPr txBox="1"/>
          <p:nvPr/>
        </p:nvSpPr>
        <p:spPr>
          <a:xfrm>
            <a:off x="571271" y="226314"/>
            <a:ext cx="44577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Playfair Display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Literature We Surveyed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71271" y="589788"/>
            <a:ext cx="2331720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71478" y="700065"/>
            <a:ext cx="200048" cy="200047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571478" y="700065"/>
            <a:ext cx="200048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 txBox="1"/>
          <p:nvPr/>
        </p:nvSpPr>
        <p:spPr>
          <a:xfrm>
            <a:off x="85951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Source Sans 3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AGENT SYSTEMS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421767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10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8 PAPERS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" name="Google Shape;59;p5"/>
          <p:cNvCxnSpPr/>
          <p:nvPr/>
        </p:nvCxnSpPr>
        <p:spPr>
          <a:xfrm>
            <a:off x="571477" y="988101"/>
            <a:ext cx="467489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5"/>
          <p:cNvCxnSpPr/>
          <p:nvPr/>
        </p:nvCxnSpPr>
        <p:spPr>
          <a:xfrm>
            <a:off x="5532142" y="700065"/>
            <a:ext cx="0" cy="4071938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" name="Google Shape;61;p5"/>
          <p:cNvSpPr txBox="1"/>
          <p:nvPr/>
        </p:nvSpPr>
        <p:spPr>
          <a:xfrm>
            <a:off x="571478" y="1042965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799849" y="104296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AutoHack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 txBox="1"/>
          <p:nvPr/>
        </p:nvSpPr>
        <p:spPr>
          <a:xfrm>
            <a:off x="799849" y="1276030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2157047" y="1042965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successfully exploits real web vulnerabilities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571478" y="1509095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799849" y="1509095"/>
            <a:ext cx="1357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lang="en" sz="1100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OneDay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 txBox="1"/>
          <p:nvPr/>
        </p:nvSpPr>
        <p:spPr>
          <a:xfrm>
            <a:off x="799849" y="174215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 txBox="1"/>
          <p:nvPr/>
        </p:nvSpPr>
        <p:spPr>
          <a:xfrm>
            <a:off x="2157047" y="1509095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exploits one-day CVEs at 87% success with description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9" name="Google Shape;69;p5"/>
          <p:cNvCxnSpPr/>
          <p:nvPr/>
        </p:nvCxnSpPr>
        <p:spPr>
          <a:xfrm>
            <a:off x="571477" y="1509095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" name="Google Shape;70;p5"/>
          <p:cNvSpPr txBox="1"/>
          <p:nvPr/>
        </p:nvSpPr>
        <p:spPr>
          <a:xfrm>
            <a:off x="571478" y="1975224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 txBox="1"/>
          <p:nvPr/>
        </p:nvSpPr>
        <p:spPr>
          <a:xfrm>
            <a:off x="799849" y="197522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 txBox="1"/>
          <p:nvPr/>
        </p:nvSpPr>
        <p:spPr>
          <a:xfrm>
            <a:off x="799849" y="220828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2157047" y="1975224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Hierarchical multi-agent system for zero-day CVEs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" name="Google Shape;74;p5"/>
          <p:cNvCxnSpPr/>
          <p:nvPr/>
        </p:nvCxnSpPr>
        <p:spPr>
          <a:xfrm>
            <a:off x="571477" y="197522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" name="Google Shape;75;p5"/>
          <p:cNvSpPr txBox="1"/>
          <p:nvPr/>
        </p:nvSpPr>
        <p:spPr>
          <a:xfrm>
            <a:off x="571478" y="2441353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799849" y="244135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799849" y="267441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2157047" y="2441353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Context loss is the dominant failure in long sessions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" name="Google Shape;79;p5"/>
          <p:cNvCxnSpPr/>
          <p:nvPr/>
        </p:nvCxnSpPr>
        <p:spPr>
          <a:xfrm>
            <a:off x="571477" y="244135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5"/>
          <p:cNvSpPr txBox="1"/>
          <p:nvPr/>
        </p:nvSpPr>
        <p:spPr>
          <a:xfrm>
            <a:off x="571478" y="2907484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799849" y="290748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799849" y="314054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Kong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2157047" y="2907484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Role-specialised multi-agent dispatch 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" name="Google Shape;84;p5"/>
          <p:cNvCxnSpPr/>
          <p:nvPr/>
        </p:nvCxnSpPr>
        <p:spPr>
          <a:xfrm>
            <a:off x="571477" y="290748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" name="Google Shape;85;p5"/>
          <p:cNvSpPr txBox="1"/>
          <p:nvPr/>
        </p:nvSpPr>
        <p:spPr>
          <a:xfrm>
            <a:off x="571478" y="337361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99849" y="337361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 txBox="1"/>
          <p:nvPr/>
        </p:nvSpPr>
        <p:spPr>
          <a:xfrm>
            <a:off x="799849" y="360667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 txBox="1"/>
          <p:nvPr/>
        </p:nvSpPr>
        <p:spPr>
          <a:xfrm>
            <a:off x="2157047" y="337361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Classical planning integrated with LLM agent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9" name="Google Shape;89;p5"/>
          <p:cNvCxnSpPr/>
          <p:nvPr/>
        </p:nvCxnSpPr>
        <p:spPr>
          <a:xfrm>
            <a:off x="571477" y="337361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" name="Google Shape;90;p5"/>
          <p:cNvSpPr txBox="1"/>
          <p:nvPr/>
        </p:nvSpPr>
        <p:spPr>
          <a:xfrm>
            <a:off x="571478" y="383974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799849" y="383974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799849" y="407280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Singer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 txBox="1"/>
          <p:nvPr/>
        </p:nvSpPr>
        <p:spPr>
          <a:xfrm>
            <a:off x="2157047" y="383974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Multi-host orchestration across Active Directory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4" name="Google Shape;94;p5"/>
          <p:cNvCxnSpPr/>
          <p:nvPr/>
        </p:nvCxnSpPr>
        <p:spPr>
          <a:xfrm>
            <a:off x="571477" y="383974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5"/>
          <p:cNvSpPr txBox="1"/>
          <p:nvPr/>
        </p:nvSpPr>
        <p:spPr>
          <a:xfrm>
            <a:off x="571478" y="4305872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799849" y="4305872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PrediQL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 txBox="1"/>
          <p:nvPr/>
        </p:nvSpPr>
        <p:spPr>
          <a:xfrm>
            <a:off x="799849" y="4538937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Liu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2157047" y="4305872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Schema-aware LLM fuzzer for GraphQL APIs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5"/>
          <p:cNvCxnSpPr/>
          <p:nvPr/>
        </p:nvCxnSpPr>
        <p:spPr>
          <a:xfrm>
            <a:off x="571477" y="4305872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5"/>
          <p:cNvSpPr/>
          <p:nvPr/>
        </p:nvSpPr>
        <p:spPr>
          <a:xfrm>
            <a:off x="5817848" y="700065"/>
            <a:ext cx="200047" cy="200047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5817848" y="700065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10588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Source Sans 3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 txBox="1"/>
          <p:nvPr/>
        </p:nvSpPr>
        <p:spPr>
          <a:xfrm>
            <a:off x="754380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10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2 PAPERS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5"/>
          <p:cNvCxnSpPr/>
          <p:nvPr/>
        </p:nvCxnSpPr>
        <p:spPr>
          <a:xfrm>
            <a:off x="5817848" y="988101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p5"/>
          <p:cNvSpPr txBox="1"/>
          <p:nvPr/>
        </p:nvSpPr>
        <p:spPr>
          <a:xfrm>
            <a:off x="5817848" y="104296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CVE-Bench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 txBox="1"/>
          <p:nvPr/>
        </p:nvSpPr>
        <p:spPr>
          <a:xfrm>
            <a:off x="5817848" y="126585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 txBox="1"/>
          <p:nvPr/>
        </p:nvSpPr>
        <p:spPr>
          <a:xfrm>
            <a:off x="7175045" y="104296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40 critical web CVEs with oracle-backed evaluation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 txBox="1"/>
          <p:nvPr/>
        </p:nvSpPr>
        <p:spPr>
          <a:xfrm>
            <a:off x="5817848" y="148873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PentestEval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5817848" y="171162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Yang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 txBox="1"/>
          <p:nvPr/>
        </p:nvSpPr>
        <p:spPr>
          <a:xfrm>
            <a:off x="7175045" y="148873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Stage-level breakdown of pipeline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5"/>
          <p:cNvCxnSpPr/>
          <p:nvPr/>
        </p:nvCxnSpPr>
        <p:spPr>
          <a:xfrm>
            <a:off x="5817848" y="1488735"/>
            <a:ext cx="275465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5"/>
          <p:cNvSpPr/>
          <p:nvPr/>
        </p:nvSpPr>
        <p:spPr>
          <a:xfrm>
            <a:off x="5817848" y="2048828"/>
            <a:ext cx="200047" cy="200047"/>
          </a:xfrm>
          <a:prstGeom prst="ellipse">
            <a:avLst/>
          </a:prstGeom>
          <a:solidFill>
            <a:srgbClr val="4A7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 txBox="1"/>
          <p:nvPr/>
        </p:nvSpPr>
        <p:spPr>
          <a:xfrm>
            <a:off x="5817848" y="2048828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 txBox="1"/>
          <p:nvPr/>
        </p:nvSpPr>
        <p:spPr>
          <a:xfrm>
            <a:off x="6105883" y="2048828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700"/>
              <a:buFont typeface="Source Sans 3"/>
              <a:buNone/>
            </a:pPr>
            <a:r>
              <a:rPr b="1" i="0" lang="en" sz="1000" u="none" cap="none" strike="noStrike">
                <a:solidFill>
                  <a:srgbClr val="4A7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SURVEYS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 txBox="1"/>
          <p:nvPr/>
        </p:nvSpPr>
        <p:spPr>
          <a:xfrm>
            <a:off x="7543800" y="2048828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10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1 PAPER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5"/>
          <p:cNvCxnSpPr/>
          <p:nvPr/>
        </p:nvCxnSpPr>
        <p:spPr>
          <a:xfrm>
            <a:off x="5817848" y="2336864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5"/>
          <p:cNvSpPr txBox="1"/>
          <p:nvPr/>
        </p:nvSpPr>
        <p:spPr>
          <a:xfrm>
            <a:off x="5817848" y="2391728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4A7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Wang 2025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 txBox="1"/>
          <p:nvPr/>
        </p:nvSpPr>
        <p:spPr>
          <a:xfrm>
            <a:off x="5817848" y="2614613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 txBox="1"/>
          <p:nvPr/>
        </p:nvSpPr>
        <p:spPr>
          <a:xfrm>
            <a:off x="7175045" y="2391728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General survey of LLM-based agent architectures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5817923" y="3606663"/>
            <a:ext cx="2754600" cy="1062900"/>
          </a:xfrm>
          <a:prstGeom prst="roundRect">
            <a:avLst>
              <a:gd fmla="val 3871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5817923" y="3606663"/>
            <a:ext cx="2754600" cy="30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5"/>
          <p:cNvSpPr txBox="1"/>
          <p:nvPr/>
        </p:nvSpPr>
        <p:spPr>
          <a:xfrm>
            <a:off x="5989373" y="3709532"/>
            <a:ext cx="24117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KEY TAKEAWAY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5989375" y="3884438"/>
            <a:ext cx="24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Playfair Display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8 Agent Systems · 2 Benchmarks · 1 Survey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989373" y="4100439"/>
            <a:ext cx="2411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 serve as the primary source for failure-mode analysis and motivate the research gap.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0" y="5122241"/>
            <a:ext cx="914378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5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What the Literature Agrees 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571500" y="742950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1371600" y="928688"/>
            <a:ext cx="6400800" cy="871538"/>
          </a:xfrm>
          <a:prstGeom prst="roundRect">
            <a:avLst>
              <a:gd fmla="val 2459" name="adj"/>
            </a:avLst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371600" y="928688"/>
            <a:ext cx="21431" cy="87153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1543050" y="1071563"/>
            <a:ext cx="605790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700"/>
              <a:buFont typeface="Playfair Display"/>
              <a:buNone/>
            </a:pPr>
            <a:r>
              <a:rPr b="0" i="1" lang="en" sz="17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"Architecture, not model scale, is the dominant variable."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 txBox="1"/>
          <p:nvPr/>
        </p:nvSpPr>
        <p:spPr>
          <a:xfrm>
            <a:off x="1751647" y="1443038"/>
            <a:ext cx="1094536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ACROSS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2917622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 txBox="1"/>
          <p:nvPr/>
        </p:nvSpPr>
        <p:spPr>
          <a:xfrm>
            <a:off x="2917622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3622739" y="1428750"/>
            <a:ext cx="822960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3622739" y="1428750"/>
            <a:ext cx="822960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451713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6"/>
          <p:cNvSpPr txBox="1"/>
          <p:nvPr/>
        </p:nvSpPr>
        <p:spPr>
          <a:xfrm>
            <a:off x="451713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5348440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6"/>
          <p:cNvSpPr txBox="1"/>
          <p:nvPr/>
        </p:nvSpPr>
        <p:spPr>
          <a:xfrm>
            <a:off x="5348440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6053557" y="1428750"/>
            <a:ext cx="507492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6"/>
          <p:cNvSpPr txBox="1"/>
          <p:nvPr/>
        </p:nvSpPr>
        <p:spPr>
          <a:xfrm>
            <a:off x="6053557" y="1428750"/>
            <a:ext cx="507492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663248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663248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1" name="Google Shape;151;p6"/>
          <p:cNvGraphicFramePr/>
          <p:nvPr/>
        </p:nvGraphicFramePr>
        <p:xfrm>
          <a:off x="571500" y="20145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{81637843-7EEC-42DC-84F5-4FF2FDD21AC6}</a:tableStyleId>
              </a:tblPr>
              <a:tblGrid>
                <a:gridCol w="4000500"/>
                <a:gridCol w="40005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5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Unstructured ReAct + GPT-4</a:t>
                      </a:r>
                      <a:endParaRPr sz="1300" u="none" cap="none" strike="noStrik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1A4A28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Structured Pipeline + GPT-4o-mini</a:t>
                      </a:r>
                      <a:endParaRPr sz="1300" u="none" cap="none" strike="noStrik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Depth-first tunnel vision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DD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Broad, structured exploration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DD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Context loss in long sessions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Scoped per-invocation context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No failure recovery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DD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Retry / adapt / escalate loops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DD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Implicit planning only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Explicit dependency modeling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E"/>
                    </a:solidFill>
                  </a:tcPr>
                </a:tc>
              </a:tr>
            </a:tbl>
          </a:graphicData>
        </a:graphic>
      </p:graphicFrame>
      <p:sp>
        <p:nvSpPr>
          <p:cNvPr id="152" name="Google Shape;152;p6"/>
          <p:cNvSpPr txBox="1"/>
          <p:nvPr/>
        </p:nvSpPr>
        <p:spPr>
          <a:xfrm>
            <a:off x="571500" y="4443413"/>
            <a:ext cx="8001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100"/>
              <a:buFont typeface="Source Sans 3"/>
              <a:buNone/>
            </a:pPr>
            <a:r>
              <a:rPr i="0" lang="en" sz="11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Synthesised from 6 independent papers   |   September 2026 Review</a:t>
            </a:r>
            <a:endParaRPr i="0" sz="11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0" y="5122069"/>
            <a:ext cx="1371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6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"/>
          <p:cNvSpPr txBox="1"/>
          <p:nvPr/>
        </p:nvSpPr>
        <p:spPr>
          <a:xfrm>
            <a:off x="571286" y="314096"/>
            <a:ext cx="742946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Cambria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1 — Insufficient Exploration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571286" y="700202"/>
            <a:ext cx="4086105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571286" y="1527277"/>
            <a:ext cx="3857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alibri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CVE-BENCH  ·  40 CRITICAL WEB CVEs  ·  CVSS 9.0+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 txBox="1"/>
          <p:nvPr/>
        </p:nvSpPr>
        <p:spPr>
          <a:xfrm>
            <a:off x="571286" y="1793024"/>
            <a:ext cx="3857728" cy="425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Even the best agent exploits only 13% (one-day) or 10% (zero-day).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571286" y="2333092"/>
            <a:ext cx="21300" cy="82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592550" y="2333100"/>
            <a:ext cx="3763500" cy="822900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707075" y="2333100"/>
            <a:ext cx="36489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dominant failure is not reasoning quality — it is breadth of search. Agents commit early to a narrow attack path and never revisit.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 txBox="1"/>
          <p:nvPr/>
        </p:nvSpPr>
        <p:spPr>
          <a:xfrm>
            <a:off x="571268" y="32709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Range: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37.5% – 80% exploration failure rates across all agents tested.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 txBox="1"/>
          <p:nvPr/>
        </p:nvSpPr>
        <p:spPr>
          <a:xfrm>
            <a:off x="571268" y="37297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Root cause: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Not a smarter-model problem — it's a search problem.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 txBox="1"/>
          <p:nvPr/>
        </p:nvSpPr>
        <p:spPr>
          <a:xfrm>
            <a:off x="4840505" y="1359667"/>
            <a:ext cx="373222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Exploration Failure Rate by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1" name="Google Shape;171;p7"/>
          <p:cNvCxnSpPr/>
          <p:nvPr/>
        </p:nvCxnSpPr>
        <p:spPr>
          <a:xfrm>
            <a:off x="4634760" y="1736857"/>
            <a:ext cx="0" cy="2285771"/>
          </a:xfrm>
          <a:prstGeom prst="straightConnector1">
            <a:avLst/>
          </a:prstGeom>
          <a:noFill/>
          <a:ln cap="flat" cmpd="sng" w="139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2" name="Google Shape;172;p7"/>
          <p:cNvCxnSpPr/>
          <p:nvPr/>
        </p:nvCxnSpPr>
        <p:spPr>
          <a:xfrm>
            <a:off x="7206681" y="1736857"/>
            <a:ext cx="0" cy="2285771"/>
          </a:xfrm>
          <a:prstGeom prst="straightConnector1">
            <a:avLst/>
          </a:prstGeom>
          <a:noFill/>
          <a:ln cap="flat" cmpd="sng" w="12700">
            <a:solidFill>
              <a:srgbClr val="A0631A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3" name="Google Shape;173;p7"/>
          <p:cNvSpPr txBox="1"/>
          <p:nvPr/>
        </p:nvSpPr>
        <p:spPr>
          <a:xfrm>
            <a:off x="7234114" y="1585981"/>
            <a:ext cx="8915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0" i="0" lang="en" sz="8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50% threshold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 txBox="1"/>
          <p:nvPr/>
        </p:nvSpPr>
        <p:spPr>
          <a:xfrm>
            <a:off x="4840505" y="173685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5840634" y="1786921"/>
            <a:ext cx="2185675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7"/>
          <p:cNvSpPr txBox="1"/>
          <p:nvPr/>
        </p:nvSpPr>
        <p:spPr>
          <a:xfrm>
            <a:off x="8094892" y="173685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80.0%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 txBox="1"/>
          <p:nvPr/>
        </p:nvSpPr>
        <p:spPr>
          <a:xfrm>
            <a:off x="4840505" y="2142645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5840634" y="2192708"/>
            <a:ext cx="1980768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7"/>
          <p:cNvSpPr txBox="1"/>
          <p:nvPr/>
        </p:nvSpPr>
        <p:spPr>
          <a:xfrm>
            <a:off x="7889985" y="2142645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72.5%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 txBox="1"/>
          <p:nvPr/>
        </p:nvSpPr>
        <p:spPr>
          <a:xfrm>
            <a:off x="4840505" y="2548432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5840634" y="2598497"/>
            <a:ext cx="184416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7"/>
          <p:cNvSpPr txBox="1"/>
          <p:nvPr/>
        </p:nvSpPr>
        <p:spPr>
          <a:xfrm>
            <a:off x="7753380" y="2548432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67.5%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 txBox="1"/>
          <p:nvPr/>
        </p:nvSpPr>
        <p:spPr>
          <a:xfrm>
            <a:off x="4840505" y="2954221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5840634" y="3004284"/>
            <a:ext cx="1502652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7"/>
          <p:cNvSpPr txBox="1"/>
          <p:nvPr/>
        </p:nvSpPr>
        <p:spPr>
          <a:xfrm>
            <a:off x="7411868" y="2954221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55.0%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 txBox="1"/>
          <p:nvPr/>
        </p:nvSpPr>
        <p:spPr>
          <a:xfrm>
            <a:off x="4840505" y="3360008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5840634" y="3410072"/>
            <a:ext cx="122944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7"/>
          <p:cNvSpPr txBox="1"/>
          <p:nvPr/>
        </p:nvSpPr>
        <p:spPr>
          <a:xfrm>
            <a:off x="7138659" y="3360008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45.0%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 txBox="1"/>
          <p:nvPr/>
        </p:nvSpPr>
        <p:spPr>
          <a:xfrm>
            <a:off x="4840505" y="376579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5840634" y="3815860"/>
            <a:ext cx="1024536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7"/>
          <p:cNvSpPr txBox="1"/>
          <p:nvPr/>
        </p:nvSpPr>
        <p:spPr>
          <a:xfrm>
            <a:off x="6933751" y="376579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37.5%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 txBox="1"/>
          <p:nvPr/>
        </p:nvSpPr>
        <p:spPr>
          <a:xfrm>
            <a:off x="4840505" y="4136951"/>
            <a:ext cx="373222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Calibri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Source: CVE-Bench (Zhu et al., 2025), Table 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0" y="5122069"/>
            <a:ext cx="182907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7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"/>
          <p:cNvSpPr txBox="1"/>
          <p:nvPr/>
        </p:nvSpPr>
        <p:spPr>
          <a:xfrm>
            <a:off x="571271" y="314096"/>
            <a:ext cx="7429271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Cambria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2 — The Dependency-Reasoning Gap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571271" y="67894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4572229" y="886054"/>
            <a:ext cx="10287" cy="382882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8"/>
          <p:cNvSpPr txBox="1"/>
          <p:nvPr/>
        </p:nvSpPr>
        <p:spPr>
          <a:xfrm>
            <a:off x="571271" y="886054"/>
            <a:ext cx="3714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PENTESTEVAL GT INJECTION ABLATION — TASK SCORE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85927" y="1383259"/>
            <a:ext cx="8230" cy="228577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8"/>
          <p:cNvSpPr txBox="1"/>
          <p:nvPr/>
        </p:nvSpPr>
        <p:spPr>
          <a:xfrm>
            <a:off x="342900" y="13215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0.80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 txBox="1"/>
          <p:nvPr/>
        </p:nvSpPr>
        <p:spPr>
          <a:xfrm>
            <a:off x="342900" y="18928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0.60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342900" y="2464079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0.40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 txBox="1"/>
          <p:nvPr/>
        </p:nvSpPr>
        <p:spPr>
          <a:xfrm>
            <a:off x="342900" y="30360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 txBox="1"/>
          <p:nvPr/>
        </p:nvSpPr>
        <p:spPr>
          <a:xfrm>
            <a:off x="342900" y="36073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0.00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857250" y="3669030"/>
            <a:ext cx="3429000" cy="823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1007441" y="2782976"/>
            <a:ext cx="557213" cy="88605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1864690" y="2239823"/>
            <a:ext cx="557213" cy="54315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2721941" y="2154784"/>
            <a:ext cx="557213" cy="85725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3579191" y="1754276"/>
            <a:ext cx="557213" cy="39982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6" name="Google Shape;216;p8"/>
          <p:cNvCxnSpPr/>
          <p:nvPr/>
        </p:nvCxnSpPr>
        <p:spPr>
          <a:xfrm>
            <a:off x="1285875" y="2783663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7" name="Google Shape;217;p8"/>
          <p:cNvCxnSpPr/>
          <p:nvPr/>
        </p:nvCxnSpPr>
        <p:spPr>
          <a:xfrm>
            <a:off x="2143125" y="2240509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8" name="Google Shape;218;p8"/>
          <p:cNvCxnSpPr/>
          <p:nvPr/>
        </p:nvCxnSpPr>
        <p:spPr>
          <a:xfrm>
            <a:off x="3000375" y="2154784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9" name="Google Shape;219;p8"/>
          <p:cNvSpPr txBox="1"/>
          <p:nvPr/>
        </p:nvSpPr>
        <p:spPr>
          <a:xfrm>
            <a:off x="771525" y="26060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Baseline (0.31)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 txBox="1"/>
          <p:nvPr/>
        </p:nvSpPr>
        <p:spPr>
          <a:xfrm>
            <a:off x="1628775" y="2064258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 txBox="1"/>
          <p:nvPr/>
        </p:nvSpPr>
        <p:spPr>
          <a:xfrm>
            <a:off x="2486025" y="1981962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+0.03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 txBox="1"/>
          <p:nvPr/>
        </p:nvSpPr>
        <p:spPr>
          <a:xfrm>
            <a:off x="3343275" y="15773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+0.14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3223260" y="1255014"/>
            <a:ext cx="1268700" cy="219600"/>
          </a:xfrm>
          <a:prstGeom prst="roundRect">
            <a:avLst>
              <a:gd fmla="val 2812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8"/>
          <p:cNvSpPr txBox="1"/>
          <p:nvPr/>
        </p:nvSpPr>
        <p:spPr>
          <a:xfrm>
            <a:off x="3223260" y="1255014"/>
            <a:ext cx="1268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Largest single-stage gain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 txBox="1"/>
          <p:nvPr/>
        </p:nvSpPr>
        <p:spPr>
          <a:xfrm>
            <a:off x="8572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SMP Baseline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 txBox="1"/>
          <p:nvPr/>
        </p:nvSpPr>
        <p:spPr>
          <a:xfrm>
            <a:off x="17145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 txBox="1"/>
          <p:nvPr/>
        </p:nvSpPr>
        <p:spPr>
          <a:xfrm>
            <a:off x="25717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Filtering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 txBox="1"/>
          <p:nvPr/>
        </p:nvSpPr>
        <p:spPr>
          <a:xfrm>
            <a:off x="34290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Attack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Decision-Making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 txBox="1"/>
          <p:nvPr/>
        </p:nvSpPr>
        <p:spPr>
          <a:xfrm>
            <a:off x="571271" y="4306824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Arial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Source: PentestEval (Yang et al., 2025)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 txBox="1"/>
          <p:nvPr/>
        </p:nvSpPr>
        <p:spPr>
          <a:xfrm>
            <a:off x="4857521" y="1714500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Arial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PENTESTEVAL  ·  12 REAL-WORLD SCENARIOS  ·  346 TASKS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4857521" y="1906524"/>
            <a:ext cx="3714979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Attack Decision-Making (ADM) is the single weakest stage — Spearman ρ = 0.25.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4857521" y="2482596"/>
            <a:ext cx="3714979" cy="6858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857521" y="2482596"/>
            <a:ext cx="21260" cy="6858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4999482" y="2551176"/>
            <a:ext cx="3463290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Ground-truth ADM injection adds +0.14 on top of already-perfect weakness discovery. No existing system closes this gap.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4857521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0.25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4857521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6000750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6000750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GT ADM GAIN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0" y="5122241"/>
            <a:ext cx="2285771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8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6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"/>
          <p:cNvSpPr txBox="1"/>
          <p:nvPr/>
        </p:nvSpPr>
        <p:spPr>
          <a:xfrm>
            <a:off x="571515" y="285750"/>
            <a:ext cx="74296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Georgia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Gap No System Has Closed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9"/>
          <p:cNvSpPr/>
          <p:nvPr/>
        </p:nvSpPr>
        <p:spPr>
          <a:xfrm>
            <a:off x="571515" y="735806"/>
            <a:ext cx="4086334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57151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/>
          <p:nvPr/>
        </p:nvSpPr>
        <p:spPr>
          <a:xfrm>
            <a:off x="571515" y="928688"/>
            <a:ext cx="3179053" cy="4286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9"/>
          <p:cNvSpPr txBox="1"/>
          <p:nvPr/>
        </p:nvSpPr>
        <p:spPr>
          <a:xfrm>
            <a:off x="85727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Wide Exploration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857273" y="1643063"/>
            <a:ext cx="428636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HPTSA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134306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VulnBot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193172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T-Agent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2520382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AutoGPT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6" name="Google Shape;256;p9"/>
          <p:cNvCxnSpPr/>
          <p:nvPr/>
        </p:nvCxnSpPr>
        <p:spPr>
          <a:xfrm>
            <a:off x="85727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7" name="Google Shape;257;p9"/>
          <p:cNvSpPr txBox="1"/>
          <p:nvPr/>
        </p:nvSpPr>
        <p:spPr>
          <a:xfrm>
            <a:off x="85727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Finds many candidate weaknesses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85727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prerequisite / dependency 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85727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Flat task dispatch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539367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5393675" y="928688"/>
            <a:ext cx="3179053" cy="4286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567943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Dependency Reasoning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5679433" y="1643063"/>
            <a:ext cx="634382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CHECKMATE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370966" y="1643063"/>
            <a:ext cx="943000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PentestEval SMP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5" name="Google Shape;265;p9"/>
          <p:cNvCxnSpPr/>
          <p:nvPr/>
        </p:nvCxnSpPr>
        <p:spPr>
          <a:xfrm>
            <a:off x="567943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6" name="Google Shape;266;p9"/>
          <p:cNvSpPr txBox="1"/>
          <p:nvPr/>
        </p:nvSpPr>
        <p:spPr>
          <a:xfrm>
            <a:off x="567943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Explicit prerequisite modeling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9"/>
          <p:cNvSpPr txBox="1"/>
          <p:nvPr/>
        </p:nvSpPr>
        <p:spPr>
          <a:xfrm>
            <a:off x="567943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Requires pre-enumerated weakness sets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 txBox="1"/>
          <p:nvPr/>
        </p:nvSpPr>
        <p:spPr>
          <a:xfrm>
            <a:off x="567943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Does not scale to open-ended discovery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3750569" y="1460897"/>
            <a:ext cx="1643100" cy="1643100"/>
          </a:xfrm>
          <a:prstGeom prst="ellipse">
            <a:avLst/>
          </a:prstGeom>
          <a:solidFill>
            <a:schemeClr val="lt1"/>
          </a:solidFill>
          <a:ln cap="flat" cmpd="sng" w="1016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304800" rotWithShape="0" algn="bl" dir="5400000" dist="101600">
              <a:srgbClr val="000000">
                <a:alpha val="2000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3750569" y="1932385"/>
            <a:ext cx="16431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500"/>
              <a:buFont typeface="Arial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UNEXPLORED TERRITORY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 txBox="1"/>
          <p:nvPr/>
        </p:nvSpPr>
        <p:spPr>
          <a:xfrm>
            <a:off x="3750569" y="2075260"/>
            <a:ext cx="1643106" cy="785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COMPOUND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571515" y="3893344"/>
            <a:ext cx="8001213" cy="821531"/>
          </a:xfrm>
          <a:prstGeom prst="rect">
            <a:avLst/>
          </a:prstGeom>
          <a:solidFill>
            <a:srgbClr val="FDFDFD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 txBox="1"/>
          <p:nvPr/>
        </p:nvSpPr>
        <p:spPr>
          <a:xfrm>
            <a:off x="800121" y="3893344"/>
            <a:ext cx="7544001" cy="8215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system combines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open-ended exploration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with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dynamic dependency-aware planning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RedGrid investigates this exact combination.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0" y="5122069"/>
            <a:ext cx="274327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9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9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7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0"/>
          <p:cNvSpPr txBox="1"/>
          <p:nvPr/>
        </p:nvSpPr>
        <p:spPr>
          <a:xfrm>
            <a:off x="571500" y="314325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Prior System Comparison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571500" y="735806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 txBox="1"/>
          <p:nvPr/>
        </p:nvSpPr>
        <p:spPr>
          <a:xfrm>
            <a:off x="571500" y="857250"/>
            <a:ext cx="74295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FOUR DIMENSIONS THAT MATTER MOST  ·  PRELIMINARY 11-PAPER REVIEW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5" name="Google Shape;285;p10"/>
          <p:cNvGraphicFramePr/>
          <p:nvPr/>
        </p:nvGraphicFramePr>
        <p:xfrm>
          <a:off x="571500" y="1114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{81637843-7EEC-42DC-84F5-4FF2FDD21AC6}</a:tableStyleId>
              </a:tblPr>
              <a:tblGrid>
                <a:gridCol w="1200150"/>
                <a:gridCol w="1920225"/>
                <a:gridCol w="1760450"/>
                <a:gridCol w="1680200"/>
                <a:gridCol w="144017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SYSTEM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ARCHITECTURE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DEPENDENCY MODELING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CROSS-SESSION MEMORY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BENCHMARK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Fang et al. 2024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Single agent (ReAct)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15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HPTSA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Hierarchical planner + tasks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14 zero-day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PentestGPT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Split reasoning / parsing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Implicit (LLM only)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 / VulnHub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VulnBot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Multi-agent, role-specialised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HTB-style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CHECKMATE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Agent + classical planner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Explicit, pre-enumerated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Curated only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Incalmo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Multi-host orchestration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Partial (host/cred)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MHBench (40)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PrediQL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LLM-guided fuzzer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Schema-derived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6 GraphQL APIs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RedGrid (proposed)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25400">
                      <a:solidFill>
                        <a:srgbClr val="2E4A7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4-layer multi-agent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Dynamic VDG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3-tier memory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Web + GraphQL + Multi-host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286" name="Google Shape;286;p10"/>
          <p:cNvSpPr txBox="1"/>
          <p:nvPr/>
        </p:nvSpPr>
        <p:spPr>
          <a:xfrm>
            <a:off x="626364" y="4282821"/>
            <a:ext cx="7429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PRELIMINARY READING — 11-PAPER FOCUSED REVIEW, SEPTEMBER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0" y="5122069"/>
            <a:ext cx="32003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0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8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1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Gap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571500" y="757238"/>
            <a:ext cx="5029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1171575" y="957263"/>
            <a:ext cx="6800850" cy="1357313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171575" y="957263"/>
            <a:ext cx="21431" cy="13573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1"/>
          <p:cNvSpPr txBox="1"/>
          <p:nvPr/>
        </p:nvSpPr>
        <p:spPr>
          <a:xfrm>
            <a:off x="1371600" y="1071563"/>
            <a:ext cx="6400800" cy="11287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IDENTIFIED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“The reviewed literature does not contain a system that combines: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(1) broad, open-ended exploration of an unfamiliar attack surface,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(2) with an explicit, dynamically constructed dependency model,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(3) evaluated across more than one benchmarked attack-surface family.”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1"/>
          <p:cNvSpPr txBox="1"/>
          <p:nvPr/>
        </p:nvSpPr>
        <p:spPr>
          <a:xfrm>
            <a:off x="785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1"/>
          <p:cNvSpPr txBox="1"/>
          <p:nvPr/>
        </p:nvSpPr>
        <p:spPr>
          <a:xfrm>
            <a:off x="785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37 – 80%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785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FAILURE RATE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1"/>
          <p:cNvSpPr/>
          <p:nvPr/>
        </p:nvSpPr>
        <p:spPr>
          <a:xfrm>
            <a:off x="785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1"/>
          <p:cNvSpPr/>
          <p:nvPr/>
        </p:nvSpPr>
        <p:spPr>
          <a:xfrm>
            <a:off x="785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1"/>
          <p:cNvSpPr txBox="1"/>
          <p:nvPr/>
        </p:nvSpPr>
        <p:spPr>
          <a:xfrm>
            <a:off x="900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CVE-Bench: insufficient exploration is the dominant failure mode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6" name="Google Shape;306;p11"/>
          <p:cNvCxnSpPr/>
          <p:nvPr/>
        </p:nvCxnSpPr>
        <p:spPr>
          <a:xfrm>
            <a:off x="3238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7" name="Google Shape;307;p11"/>
          <p:cNvSpPr txBox="1"/>
          <p:nvPr/>
        </p:nvSpPr>
        <p:spPr>
          <a:xfrm>
            <a:off x="3452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Planning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1"/>
          <p:cNvSpPr txBox="1"/>
          <p:nvPr/>
        </p:nvSpPr>
        <p:spPr>
          <a:xfrm>
            <a:off x="3452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0.25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 txBox="1"/>
          <p:nvPr/>
        </p:nvSpPr>
        <p:spPr>
          <a:xfrm>
            <a:off x="3452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1"/>
          <p:cNvSpPr/>
          <p:nvPr/>
        </p:nvSpPr>
        <p:spPr>
          <a:xfrm>
            <a:off x="3452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3452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1"/>
          <p:cNvSpPr txBox="1"/>
          <p:nvPr/>
        </p:nvSpPr>
        <p:spPr>
          <a:xfrm>
            <a:off x="3567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PentestEval: ADM is the weakest stage across all pipelines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3" name="Google Shape;313;p11"/>
          <p:cNvCxnSpPr/>
          <p:nvPr/>
        </p:nvCxnSpPr>
        <p:spPr>
          <a:xfrm>
            <a:off x="5905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4" name="Google Shape;314;p11"/>
          <p:cNvSpPr txBox="1"/>
          <p:nvPr/>
        </p:nvSpPr>
        <p:spPr>
          <a:xfrm>
            <a:off x="6119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Coverage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1"/>
          <p:cNvSpPr txBox="1"/>
          <p:nvPr/>
        </p:nvSpPr>
        <p:spPr>
          <a:xfrm>
            <a:off x="6119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 txBox="1"/>
          <p:nvPr/>
        </p:nvSpPr>
        <p:spPr>
          <a:xfrm>
            <a:off x="6119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PER SYSTEM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1"/>
          <p:cNvSpPr/>
          <p:nvPr/>
        </p:nvSpPr>
        <p:spPr>
          <a:xfrm>
            <a:off x="6119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6119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1"/>
          <p:cNvSpPr txBox="1"/>
          <p:nvPr/>
        </p:nvSpPr>
        <p:spPr>
          <a:xfrm>
            <a:off x="6234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Every prior system evaluated on exactly one surface only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/>
          <p:nvPr/>
        </p:nvSpPr>
        <p:spPr>
          <a:xfrm>
            <a:off x="2091690" y="4150519"/>
            <a:ext cx="4960620" cy="442913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1270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1"/>
          <p:cNvSpPr txBox="1"/>
          <p:nvPr/>
        </p:nvSpPr>
        <p:spPr>
          <a:xfrm>
            <a:off x="2234565" y="4150519"/>
            <a:ext cx="4732020" cy="4429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This is the gap </a:t>
            </a:r>
            <a:r>
              <a:rPr b="1" i="0" lang="en" sz="12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RedGrid</a:t>
            </a: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 is designed to investigate.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1"/>
          <p:cNvSpPr/>
          <p:nvPr/>
        </p:nvSpPr>
        <p:spPr>
          <a:xfrm>
            <a:off x="0" y="5122069"/>
            <a:ext cx="3657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1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1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9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2"/>
          <p:cNvSpPr txBox="1"/>
          <p:nvPr/>
        </p:nvSpPr>
        <p:spPr>
          <a:xfrm>
            <a:off x="571486" y="314317"/>
            <a:ext cx="7429314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Introducing </a:t>
            </a:r>
            <a:r>
              <a:rPr b="1" i="0" lang="en" sz="25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571486" y="740664"/>
            <a:ext cx="4086123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2"/>
          <p:cNvSpPr txBox="1"/>
          <p:nvPr/>
        </p:nvSpPr>
        <p:spPr>
          <a:xfrm>
            <a:off x="571486" y="925830"/>
            <a:ext cx="3457489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Dependency-Constrained UCB Exploration for Autonomous Penetration Testing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571486" y="1515618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571486" y="1515618"/>
            <a:ext cx="30861" cy="72009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2"/>
          <p:cNvSpPr txBox="1"/>
          <p:nvPr/>
        </p:nvSpPr>
        <p:spPr>
          <a:xfrm>
            <a:off x="742936" y="1604772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VDG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 txBox="1"/>
          <p:nvPr/>
        </p:nvSpPr>
        <p:spPr>
          <a:xfrm>
            <a:off x="742936" y="1803654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Model vulnerabilities as a graph with prerequisite edges, not a flat list.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571486" y="2379726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571486" y="2379726"/>
            <a:ext cx="30861" cy="72009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2"/>
          <p:cNvSpPr txBox="1"/>
          <p:nvPr/>
        </p:nvSpPr>
        <p:spPr>
          <a:xfrm>
            <a:off x="742936" y="2468880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UCB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 txBox="1"/>
          <p:nvPr/>
        </p:nvSpPr>
        <p:spPr>
          <a:xfrm>
            <a:off x="742936" y="2667762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Guide exploration with Upper Confidence Bound over the dependency-constrained frontier.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2"/>
          <p:cNvSpPr/>
          <p:nvPr/>
        </p:nvSpPr>
        <p:spPr>
          <a:xfrm>
            <a:off x="571486" y="3243834"/>
            <a:ext cx="3600360" cy="58293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571486" y="3243834"/>
            <a:ext cx="30861" cy="58293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2"/>
          <p:cNvSpPr txBox="1"/>
          <p:nvPr/>
        </p:nvSpPr>
        <p:spPr>
          <a:xfrm>
            <a:off x="742936" y="3332988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2"/>
          <p:cNvSpPr txBox="1"/>
          <p:nvPr/>
        </p:nvSpPr>
        <p:spPr>
          <a:xfrm>
            <a:off x="742936" y="3531870"/>
            <a:ext cx="31546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Retain and reuse strategies across missions.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2"/>
          <p:cNvSpPr/>
          <p:nvPr/>
        </p:nvSpPr>
        <p:spPr>
          <a:xfrm>
            <a:off x="4457700" y="1028700"/>
            <a:ext cx="4114800" cy="3285900"/>
          </a:xfrm>
          <a:prstGeom prst="roundRect">
            <a:avLst>
              <a:gd fmla="val 1252" name="adj"/>
            </a:avLst>
          </a:prstGeom>
          <a:solidFill>
            <a:srgbClr val="FDFDFD"/>
          </a:solidFill>
          <a:ln cap="flat" cmpd="sng" w="152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2"/>
          <p:cNvSpPr/>
          <p:nvPr/>
        </p:nvSpPr>
        <p:spPr>
          <a:xfrm>
            <a:off x="4743443" y="1314443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2"/>
          <p:cNvSpPr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2"/>
          <p:cNvSpPr txBox="1"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SQLi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2"/>
          <p:cNvSpPr txBox="1"/>
          <p:nvPr/>
        </p:nvSpPr>
        <p:spPr>
          <a:xfrm>
            <a:off x="4798307" y="1554472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5296626" y="1561331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2"/>
          <p:cNvSpPr txBox="1"/>
          <p:nvPr/>
        </p:nvSpPr>
        <p:spPr>
          <a:xfrm>
            <a:off x="5296626" y="1561331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 txBox="1"/>
          <p:nvPr/>
        </p:nvSpPr>
        <p:spPr>
          <a:xfrm>
            <a:off x="4798307" y="1773929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2"/>
          <p:cNvSpPr txBox="1"/>
          <p:nvPr/>
        </p:nvSpPr>
        <p:spPr>
          <a:xfrm>
            <a:off x="5296626" y="1773929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3.42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2"/>
          <p:cNvSpPr/>
          <p:nvPr/>
        </p:nvSpPr>
        <p:spPr>
          <a:xfrm>
            <a:off x="4743443" y="3278925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2"/>
          <p:cNvSpPr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2"/>
          <p:cNvSpPr txBox="1"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XSS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2"/>
          <p:cNvSpPr txBox="1"/>
          <p:nvPr/>
        </p:nvSpPr>
        <p:spPr>
          <a:xfrm>
            <a:off x="4798307" y="3518955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2"/>
          <p:cNvSpPr/>
          <p:nvPr/>
        </p:nvSpPr>
        <p:spPr>
          <a:xfrm>
            <a:off x="5296626" y="3525813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2"/>
          <p:cNvSpPr txBox="1"/>
          <p:nvPr/>
        </p:nvSpPr>
        <p:spPr>
          <a:xfrm>
            <a:off x="5296626" y="3525813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2"/>
          <p:cNvSpPr txBox="1"/>
          <p:nvPr/>
        </p:nvSpPr>
        <p:spPr>
          <a:xfrm>
            <a:off x="4798307" y="3738411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2"/>
          <p:cNvSpPr txBox="1"/>
          <p:nvPr/>
        </p:nvSpPr>
        <p:spPr>
          <a:xfrm>
            <a:off x="5296626" y="3738411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2.81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2"/>
          <p:cNvSpPr/>
          <p:nvPr/>
        </p:nvSpPr>
        <p:spPr>
          <a:xfrm>
            <a:off x="5854408" y="2347546"/>
            <a:ext cx="1184120" cy="648352"/>
          </a:xfrm>
          <a:prstGeom prst="roundRect">
            <a:avLst>
              <a:gd fmla="val 5289" name="adj"/>
            </a:avLst>
          </a:prstGeom>
          <a:noFill/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2"/>
          <p:cNvSpPr/>
          <p:nvPr/>
        </p:nvSpPr>
        <p:spPr>
          <a:xfrm>
            <a:off x="5874983" y="2368120"/>
            <a:ext cx="1142972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2"/>
          <p:cNvSpPr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2"/>
          <p:cNvSpPr txBox="1"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Auth Bypass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2"/>
          <p:cNvSpPr txBox="1"/>
          <p:nvPr/>
        </p:nvSpPr>
        <p:spPr>
          <a:xfrm>
            <a:off x="5929847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2"/>
          <p:cNvSpPr/>
          <p:nvPr/>
        </p:nvSpPr>
        <p:spPr>
          <a:xfrm>
            <a:off x="6428166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2"/>
          <p:cNvSpPr txBox="1"/>
          <p:nvPr/>
        </p:nvSpPr>
        <p:spPr>
          <a:xfrm>
            <a:off x="6428166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►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2"/>
          <p:cNvSpPr txBox="1"/>
          <p:nvPr/>
        </p:nvSpPr>
        <p:spPr>
          <a:xfrm>
            <a:off x="5929847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2"/>
          <p:cNvSpPr txBox="1"/>
          <p:nvPr/>
        </p:nvSpPr>
        <p:spPr>
          <a:xfrm>
            <a:off x="6428166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4.17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2"/>
          <p:cNvSpPr/>
          <p:nvPr/>
        </p:nvSpPr>
        <p:spPr>
          <a:xfrm>
            <a:off x="7317988" y="2368120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6B6B7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2"/>
          <p:cNvSpPr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solidFill>
            <a:srgbClr val="4A4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2"/>
          <p:cNvSpPr txBox="1"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2"/>
          <p:cNvSpPr txBox="1"/>
          <p:nvPr/>
        </p:nvSpPr>
        <p:spPr>
          <a:xfrm>
            <a:off x="7372852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2"/>
          <p:cNvSpPr/>
          <p:nvPr/>
        </p:nvSpPr>
        <p:spPr>
          <a:xfrm>
            <a:off x="7871172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E8E4D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2"/>
          <p:cNvSpPr txBox="1"/>
          <p:nvPr/>
        </p:nvSpPr>
        <p:spPr>
          <a:xfrm>
            <a:off x="7871172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BLOCKED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2"/>
          <p:cNvSpPr txBox="1"/>
          <p:nvPr/>
        </p:nvSpPr>
        <p:spPr>
          <a:xfrm>
            <a:off x="7372852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2"/>
          <p:cNvSpPr txBox="1"/>
          <p:nvPr/>
        </p:nvSpPr>
        <p:spPr>
          <a:xfrm>
            <a:off x="7871172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—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9" name="Google Shape;379;p12"/>
          <p:cNvCxnSpPr>
            <a:endCxn id="365" idx="0"/>
          </p:cNvCxnSpPr>
          <p:nvPr/>
        </p:nvCxnSpPr>
        <p:spPr>
          <a:xfrm>
            <a:off x="5879469" y="1640020"/>
            <a:ext cx="567000" cy="7281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80" name="Google Shape;380;p12"/>
          <p:cNvCxnSpPr/>
          <p:nvPr/>
        </p:nvCxnSpPr>
        <p:spPr>
          <a:xfrm flipH="1" rot="10800000">
            <a:off x="5874974" y="2999043"/>
            <a:ext cx="472800" cy="5304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81" name="Google Shape;381;p12"/>
          <p:cNvCxnSpPr/>
          <p:nvPr/>
        </p:nvCxnSpPr>
        <p:spPr>
          <a:xfrm>
            <a:off x="7059102" y="2464132"/>
            <a:ext cx="217738" cy="6858"/>
          </a:xfrm>
          <a:prstGeom prst="straightConnector1">
            <a:avLst/>
          </a:prstGeom>
          <a:noFill/>
          <a:ln cap="flat" cmpd="sng" w="22225">
            <a:solidFill>
              <a:srgbClr val="8B1A1A"/>
            </a:solidFill>
            <a:prstDash val="dash"/>
            <a:round/>
            <a:headEnd len="sm" w="sm" type="none"/>
            <a:tailEnd len="med" w="med" type="triangle"/>
          </a:ln>
        </p:spPr>
      </p:cxnSp>
      <p:sp>
        <p:nvSpPr>
          <p:cNvPr id="382" name="Google Shape;382;p12"/>
          <p:cNvSpPr txBox="1"/>
          <p:nvPr/>
        </p:nvSpPr>
        <p:spPr>
          <a:xfrm>
            <a:off x="6655526" y="3043868"/>
            <a:ext cx="205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400"/>
              <a:buFont typeface="Calibri"/>
              <a:buNone/>
            </a:pPr>
            <a:r>
              <a:rPr b="1" i="0" lang="en" sz="23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↑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2"/>
          <p:cNvSpPr/>
          <p:nvPr/>
        </p:nvSpPr>
        <p:spPr>
          <a:xfrm>
            <a:off x="6447881" y="3318224"/>
            <a:ext cx="1440180" cy="20574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2"/>
          <p:cNvSpPr txBox="1"/>
          <p:nvPr/>
        </p:nvSpPr>
        <p:spPr>
          <a:xfrm>
            <a:off x="6447881" y="3318224"/>
            <a:ext cx="1440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Agent targets highest UCB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 txBox="1"/>
          <p:nvPr/>
        </p:nvSpPr>
        <p:spPr>
          <a:xfrm>
            <a:off x="4457700" y="4451902"/>
            <a:ext cx="4114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Vulnerability Dependency Graph (VDG) — conceptual sketch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2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2"/>
          <p:cNvSpPr/>
          <p:nvPr/>
        </p:nvSpPr>
        <p:spPr>
          <a:xfrm>
            <a:off x="0" y="5122926"/>
            <a:ext cx="4114697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2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3"/>
          <p:cNvSpPr txBox="1"/>
          <p:nvPr/>
        </p:nvSpPr>
        <p:spPr>
          <a:xfrm>
            <a:off x="571500" y="314325"/>
            <a:ext cx="7429271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Objectives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571500" y="778669"/>
            <a:ext cx="4086099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3"/>
          <p:cNvSpPr txBox="1"/>
          <p:nvPr/>
        </p:nvSpPr>
        <p:spPr>
          <a:xfrm>
            <a:off x="571500" y="842963"/>
            <a:ext cx="742927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FIVE WORKING GOALS AT INCEPTION STAGE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571500" y="11144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571500" y="1114425"/>
            <a:ext cx="28575" cy="5572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742950" y="1235869"/>
            <a:ext cx="314325" cy="314325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3"/>
          <p:cNvSpPr txBox="1"/>
          <p:nvPr/>
        </p:nvSpPr>
        <p:spPr>
          <a:xfrm>
            <a:off x="1228725" y="11144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Formalization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 txBox="1"/>
          <p:nvPr/>
        </p:nvSpPr>
        <p:spPr>
          <a:xfrm>
            <a:off x="3257550" y="11144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Investigate whether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prerequisite-edge graph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improves agent exploration over a flat priority list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571500" y="17430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3"/>
          <p:cNvSpPr/>
          <p:nvPr/>
        </p:nvSpPr>
        <p:spPr>
          <a:xfrm>
            <a:off x="571500" y="1743075"/>
            <a:ext cx="28575" cy="55721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742950" y="1864519"/>
            <a:ext cx="314325" cy="314325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 txBox="1"/>
          <p:nvPr/>
        </p:nvSpPr>
        <p:spPr>
          <a:xfrm>
            <a:off x="1228725" y="17430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Dual-Layer World Model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3"/>
          <p:cNvSpPr txBox="1"/>
          <p:nvPr/>
        </p:nvSpPr>
        <p:spPr>
          <a:xfrm>
            <a:off x="3257550" y="17430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Separate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confirmed facts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from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inferred hypotheses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for independent ablation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3"/>
          <p:cNvSpPr/>
          <p:nvPr/>
        </p:nvSpPr>
        <p:spPr>
          <a:xfrm>
            <a:off x="571500" y="23717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571500" y="2371725"/>
            <a:ext cx="28575" cy="557213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3"/>
          <p:cNvSpPr/>
          <p:nvPr/>
        </p:nvSpPr>
        <p:spPr>
          <a:xfrm>
            <a:off x="742950" y="2493169"/>
            <a:ext cx="314325" cy="314325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3"/>
          <p:cNvSpPr txBox="1"/>
          <p:nvPr/>
        </p:nvSpPr>
        <p:spPr>
          <a:xfrm>
            <a:off x="1228725" y="23717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Multi-Layer Orchestration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3"/>
          <p:cNvSpPr txBox="1"/>
          <p:nvPr/>
        </p:nvSpPr>
        <p:spPr>
          <a:xfrm>
            <a:off x="3257550" y="23717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Design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four-layer agent hierarchy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matching the strongest surveyed systems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3"/>
          <p:cNvSpPr/>
          <p:nvPr/>
        </p:nvSpPr>
        <p:spPr>
          <a:xfrm>
            <a:off x="571500" y="30003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3"/>
          <p:cNvSpPr/>
          <p:nvPr/>
        </p:nvSpPr>
        <p:spPr>
          <a:xfrm>
            <a:off x="571500" y="3000375"/>
            <a:ext cx="28575" cy="557213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3"/>
          <p:cNvSpPr/>
          <p:nvPr/>
        </p:nvSpPr>
        <p:spPr>
          <a:xfrm>
            <a:off x="742950" y="3121819"/>
            <a:ext cx="314325" cy="314325"/>
          </a:xfrm>
          <a:prstGeom prst="ellipse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3"/>
          <p:cNvSpPr txBox="1"/>
          <p:nvPr/>
        </p:nvSpPr>
        <p:spPr>
          <a:xfrm>
            <a:off x="1228725" y="30003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Cross-Mission 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 txBox="1"/>
          <p:nvPr/>
        </p:nvSpPr>
        <p:spPr>
          <a:xfrm>
            <a:off x="3257550" y="30003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Determine whether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strategy reuse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offers measurable benefit vs.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negative-transfer risk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3"/>
          <p:cNvSpPr/>
          <p:nvPr/>
        </p:nvSpPr>
        <p:spPr>
          <a:xfrm>
            <a:off x="571500" y="36290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3"/>
          <p:cNvSpPr/>
          <p:nvPr/>
        </p:nvSpPr>
        <p:spPr>
          <a:xfrm>
            <a:off x="571500" y="3629025"/>
            <a:ext cx="28575" cy="557213"/>
          </a:xfrm>
          <a:prstGeom prst="rect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3"/>
          <p:cNvSpPr/>
          <p:nvPr/>
        </p:nvSpPr>
        <p:spPr>
          <a:xfrm>
            <a:off x="742950" y="3750469"/>
            <a:ext cx="314325" cy="314325"/>
          </a:xfrm>
          <a:prstGeom prst="ellipse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3"/>
          <p:cNvSpPr txBox="1"/>
          <p:nvPr/>
        </p:nvSpPr>
        <p:spPr>
          <a:xfrm>
            <a:off x="1228725" y="36290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Benchmark-Grounded Evaluation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3"/>
          <p:cNvSpPr txBox="1"/>
          <p:nvPr/>
        </p:nvSpPr>
        <p:spPr>
          <a:xfrm>
            <a:off x="3257550" y="36290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Evaluate on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oracle-backed benchmarks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across 3+ attack surfaces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3"/>
          <p:cNvSpPr txBox="1"/>
          <p:nvPr/>
        </p:nvSpPr>
        <p:spPr>
          <a:xfrm>
            <a:off x="571500" y="4371975"/>
            <a:ext cx="80007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highlight>
                  <a:srgbClr val="8B1A1A"/>
                </a:highlight>
                <a:latin typeface="IBM Plex Mono"/>
                <a:ea typeface="IBM Plex Mono"/>
                <a:cs typeface="IBM Plex Mono"/>
                <a:sym typeface="IBM Plex Mono"/>
              </a:rPr>
              <a:t> NOTE </a:t>
            </a:r>
            <a:r>
              <a:rPr b="1" i="0" lang="en" sz="9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These reflect the research direction at inception stage. Scope will evolve with implementation.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3"/>
          <p:cNvSpPr/>
          <p:nvPr/>
        </p:nvSpPr>
        <p:spPr>
          <a:xfrm>
            <a:off x="0" y="5122069"/>
            <a:ext cx="457188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3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3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4"/>
          <p:cNvSpPr txBox="1"/>
          <p:nvPr/>
        </p:nvSpPr>
        <p:spPr>
          <a:xfrm>
            <a:off x="571271" y="314096"/>
            <a:ext cx="7429271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Expected Contributions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571271" y="74752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4"/>
          <p:cNvSpPr txBox="1"/>
          <p:nvPr/>
        </p:nvSpPr>
        <p:spPr>
          <a:xfrm>
            <a:off x="571271" y="870966"/>
            <a:ext cx="7429271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ⓘ  THE FOLLOWING SLIDES ARE HIGH-LEVEL SKETCHES — IMPLEMENTATION HAS NOT STARTED.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4"/>
          <p:cNvSpPr/>
          <p:nvPr/>
        </p:nvSpPr>
        <p:spPr>
          <a:xfrm>
            <a:off x="571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F7EDED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4"/>
          <p:cNvSpPr/>
          <p:nvPr/>
        </p:nvSpPr>
        <p:spPr>
          <a:xfrm>
            <a:off x="571271" y="1285875"/>
            <a:ext cx="2552548" cy="2880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4"/>
          <p:cNvSpPr txBox="1"/>
          <p:nvPr/>
        </p:nvSpPr>
        <p:spPr>
          <a:xfrm>
            <a:off x="828446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C1 — PRIMARY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 txBox="1"/>
          <p:nvPr/>
        </p:nvSpPr>
        <p:spPr>
          <a:xfrm>
            <a:off x="828446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Smarter Exploration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8" name="Google Shape;438;p14"/>
          <p:cNvCxnSpPr/>
          <p:nvPr/>
        </p:nvCxnSpPr>
        <p:spPr>
          <a:xfrm>
            <a:off x="828446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9" name="Google Shape;439;p14"/>
          <p:cNvSpPr txBox="1"/>
          <p:nvPr/>
        </p:nvSpPr>
        <p:spPr>
          <a:xfrm>
            <a:off x="828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modeling vulnerabilities as a graph — with explicit prerequisites — help an agent explore more intelligently?”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/>
          <p:nvPr/>
        </p:nvSpPr>
        <p:spPr>
          <a:xfrm>
            <a:off x="3295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5EE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4"/>
          <p:cNvSpPr/>
          <p:nvPr/>
        </p:nvSpPr>
        <p:spPr>
          <a:xfrm>
            <a:off x="3295269" y="1285875"/>
            <a:ext cx="2552548" cy="2880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4"/>
          <p:cNvSpPr txBox="1"/>
          <p:nvPr/>
        </p:nvSpPr>
        <p:spPr>
          <a:xfrm>
            <a:off x="3552444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C2 — SUPPORTING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4"/>
          <p:cNvSpPr txBox="1"/>
          <p:nvPr/>
        </p:nvSpPr>
        <p:spPr>
          <a:xfrm>
            <a:off x="3552444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Learning Across Missions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4" name="Google Shape;444;p14"/>
          <p:cNvCxnSpPr/>
          <p:nvPr/>
        </p:nvCxnSpPr>
        <p:spPr>
          <a:xfrm>
            <a:off x="3552444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5" name="Google Shape;445;p14"/>
          <p:cNvSpPr txBox="1"/>
          <p:nvPr/>
        </p:nvSpPr>
        <p:spPr>
          <a:xfrm>
            <a:off x="3552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an agent carry forward what it learned in past engagements to perform better on similar targets?”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4"/>
          <p:cNvSpPr/>
          <p:nvPr/>
        </p:nvSpPr>
        <p:spPr>
          <a:xfrm>
            <a:off x="6019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2F7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4"/>
          <p:cNvSpPr/>
          <p:nvPr/>
        </p:nvSpPr>
        <p:spPr>
          <a:xfrm>
            <a:off x="6019267" y="1285875"/>
            <a:ext cx="2552548" cy="28804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4"/>
          <p:cNvSpPr txBox="1"/>
          <p:nvPr/>
        </p:nvSpPr>
        <p:spPr>
          <a:xfrm>
            <a:off x="6276442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C3 — METHODOLOGICAL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4"/>
          <p:cNvSpPr txBox="1"/>
          <p:nvPr/>
        </p:nvSpPr>
        <p:spPr>
          <a:xfrm>
            <a:off x="6276442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Evaluation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0" name="Google Shape;450;p14"/>
          <p:cNvCxnSpPr/>
          <p:nvPr/>
        </p:nvCxnSpPr>
        <p:spPr>
          <a:xfrm>
            <a:off x="6276442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1" name="Google Shape;451;p14"/>
          <p:cNvSpPr txBox="1"/>
          <p:nvPr/>
        </p:nvSpPr>
        <p:spPr>
          <a:xfrm>
            <a:off x="6276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 single architecture be tested fairly across web, GraphQL, and multi-host surfaces using standardized oracles?”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4"/>
          <p:cNvSpPr/>
          <p:nvPr/>
        </p:nvSpPr>
        <p:spPr>
          <a:xfrm>
            <a:off x="1917865" y="4600362"/>
            <a:ext cx="754500" cy="192000"/>
          </a:xfrm>
          <a:prstGeom prst="roundRect">
            <a:avLst>
              <a:gd fmla="val 14286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4"/>
          <p:cNvSpPr txBox="1"/>
          <p:nvPr/>
        </p:nvSpPr>
        <p:spPr>
          <a:xfrm>
            <a:off x="1917865" y="4600362"/>
            <a:ext cx="75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DISCLAIMER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4"/>
          <p:cNvSpPr txBox="1"/>
          <p:nvPr/>
        </p:nvSpPr>
        <p:spPr>
          <a:xfrm>
            <a:off x="2245995" y="4609262"/>
            <a:ext cx="54864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Source Sans 3"/>
              <a:buNone/>
            </a:pPr>
            <a:r>
              <a:rPr b="1" i="0" lang="en" sz="10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These are research questions. Answers come from experiments — not this report.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4"/>
          <p:cNvSpPr/>
          <p:nvPr/>
        </p:nvSpPr>
        <p:spPr>
          <a:xfrm>
            <a:off x="0" y="5122926"/>
            <a:ext cx="5028971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4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4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15"/>
          <p:cNvSpPr txBox="1"/>
          <p:nvPr/>
        </p:nvSpPr>
        <p:spPr>
          <a:xfrm>
            <a:off x="571271" y="260604"/>
            <a:ext cx="7429271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— The Core Idea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5"/>
          <p:cNvSpPr/>
          <p:nvPr/>
        </p:nvSpPr>
        <p:spPr>
          <a:xfrm>
            <a:off x="571271" y="720090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5" name="Google Shape;465;p15"/>
          <p:cNvCxnSpPr/>
          <p:nvPr/>
        </p:nvCxnSpPr>
        <p:spPr>
          <a:xfrm>
            <a:off x="2643074" y="2400300"/>
            <a:ext cx="10362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466" name="Google Shape;466;p15"/>
          <p:cNvCxnSpPr/>
          <p:nvPr/>
        </p:nvCxnSpPr>
        <p:spPr>
          <a:xfrm>
            <a:off x="5465141" y="2400300"/>
            <a:ext cx="1035558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467" name="Google Shape;467;p15"/>
          <p:cNvSpPr/>
          <p:nvPr/>
        </p:nvSpPr>
        <p:spPr>
          <a:xfrm>
            <a:off x="2800808" y="2290572"/>
            <a:ext cx="720000" cy="2196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8B1A1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5"/>
          <p:cNvSpPr txBox="1"/>
          <p:nvPr/>
        </p:nvSpPr>
        <p:spPr>
          <a:xfrm>
            <a:off x="2800808" y="2290572"/>
            <a:ext cx="720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GUIDED BY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5622874" y="2290572"/>
            <a:ext cx="720090" cy="21945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2E4A7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15"/>
          <p:cNvSpPr txBox="1"/>
          <p:nvPr/>
        </p:nvSpPr>
        <p:spPr>
          <a:xfrm>
            <a:off x="5622874" y="2290572"/>
            <a:ext cx="72009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FEEDS INTO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5"/>
          <p:cNvSpPr/>
          <p:nvPr/>
        </p:nvSpPr>
        <p:spPr>
          <a:xfrm>
            <a:off x="857250" y="1507388"/>
            <a:ext cx="1785823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5"/>
          <p:cNvSpPr txBox="1"/>
          <p:nvPr/>
        </p:nvSpPr>
        <p:spPr>
          <a:xfrm>
            <a:off x="1028700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5"/>
          <p:cNvSpPr txBox="1"/>
          <p:nvPr/>
        </p:nvSpPr>
        <p:spPr>
          <a:xfrm>
            <a:off x="1028700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Explore Broadly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5"/>
          <p:cNvSpPr txBox="1"/>
          <p:nvPr/>
        </p:nvSpPr>
        <p:spPr>
          <a:xfrm>
            <a:off x="1028700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Search the full attack surface. Don't commit to one path early.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5"/>
          <p:cNvSpPr/>
          <p:nvPr/>
        </p:nvSpPr>
        <p:spPr>
          <a:xfrm>
            <a:off x="3679317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15"/>
          <p:cNvSpPr txBox="1"/>
          <p:nvPr/>
        </p:nvSpPr>
        <p:spPr>
          <a:xfrm>
            <a:off x="3850767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5"/>
          <p:cNvSpPr txBox="1"/>
          <p:nvPr/>
        </p:nvSpPr>
        <p:spPr>
          <a:xfrm>
            <a:off x="3850767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Dependency Graph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5"/>
          <p:cNvSpPr txBox="1"/>
          <p:nvPr/>
        </p:nvSpPr>
        <p:spPr>
          <a:xfrm>
            <a:off x="3850767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Model which vulnerabilities depend on which. Pick the smartest next step.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5"/>
          <p:cNvSpPr/>
          <p:nvPr/>
        </p:nvSpPr>
        <p:spPr>
          <a:xfrm>
            <a:off x="6500698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5"/>
          <p:cNvSpPr txBox="1"/>
          <p:nvPr/>
        </p:nvSpPr>
        <p:spPr>
          <a:xfrm>
            <a:off x="6672148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LEARN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5"/>
          <p:cNvSpPr txBox="1"/>
          <p:nvPr/>
        </p:nvSpPr>
        <p:spPr>
          <a:xfrm>
            <a:off x="6672148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Remember and Reuse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5"/>
          <p:cNvSpPr txBox="1"/>
          <p:nvPr/>
        </p:nvSpPr>
        <p:spPr>
          <a:xfrm>
            <a:off x="6672148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Carry forward what worked across past missions.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5"/>
          <p:cNvSpPr txBox="1"/>
          <p:nvPr/>
        </p:nvSpPr>
        <p:spPr>
          <a:xfrm>
            <a:off x="571271" y="34632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asks whether connecting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5"/>
          <p:cNvSpPr txBox="1"/>
          <p:nvPr/>
        </p:nvSpPr>
        <p:spPr>
          <a:xfrm>
            <a:off x="571271" y="41490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make autonomous penetration testing meaningfully better?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5"/>
          <p:cNvSpPr/>
          <p:nvPr/>
        </p:nvSpPr>
        <p:spPr>
          <a:xfrm>
            <a:off x="2433840" y="3837049"/>
            <a:ext cx="10629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15"/>
          <p:cNvSpPr txBox="1"/>
          <p:nvPr/>
        </p:nvSpPr>
        <p:spPr>
          <a:xfrm>
            <a:off x="2433840" y="3837049"/>
            <a:ext cx="10629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5"/>
          <p:cNvSpPr txBox="1"/>
          <p:nvPr/>
        </p:nvSpPr>
        <p:spPr>
          <a:xfrm>
            <a:off x="3510546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5"/>
          <p:cNvSpPr/>
          <p:nvPr/>
        </p:nvSpPr>
        <p:spPr>
          <a:xfrm>
            <a:off x="3764292" y="3837049"/>
            <a:ext cx="17487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15"/>
          <p:cNvSpPr txBox="1"/>
          <p:nvPr/>
        </p:nvSpPr>
        <p:spPr>
          <a:xfrm>
            <a:off x="3764292" y="3837049"/>
            <a:ext cx="17487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DEPENDENCY REASONING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5"/>
          <p:cNvSpPr txBox="1"/>
          <p:nvPr/>
        </p:nvSpPr>
        <p:spPr>
          <a:xfrm>
            <a:off x="5526798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5"/>
          <p:cNvSpPr/>
          <p:nvPr/>
        </p:nvSpPr>
        <p:spPr>
          <a:xfrm>
            <a:off x="5780544" y="3837049"/>
            <a:ext cx="8916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15"/>
          <p:cNvSpPr txBox="1"/>
          <p:nvPr/>
        </p:nvSpPr>
        <p:spPr>
          <a:xfrm>
            <a:off x="5780544" y="3837049"/>
            <a:ext cx="891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5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5"/>
          <p:cNvSpPr/>
          <p:nvPr/>
        </p:nvSpPr>
        <p:spPr>
          <a:xfrm>
            <a:off x="0" y="5122241"/>
            <a:ext cx="5486400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5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16"/>
          <p:cNvSpPr txBox="1"/>
          <p:nvPr/>
        </p:nvSpPr>
        <p:spPr>
          <a:xfrm>
            <a:off x="571500" y="314325"/>
            <a:ext cx="74295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Architecture — A Rough Sketch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6"/>
          <p:cNvSpPr txBox="1"/>
          <p:nvPr/>
        </p:nvSpPr>
        <p:spPr>
          <a:xfrm>
            <a:off x="571500" y="928688"/>
            <a:ext cx="1600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WORLD MODEL</a:t>
            </a:r>
            <a:b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</a:b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Confirmed facts vs. attack hypotheses — kept strictly separate.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2314575" y="1271587"/>
            <a:ext cx="171450" cy="16002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16"/>
          <p:cNvSpPr/>
          <p:nvPr/>
        </p:nvSpPr>
        <p:spPr>
          <a:xfrm rot="5400000">
            <a:off x="2593231" y="1950356"/>
            <a:ext cx="99900" cy="142800"/>
          </a:xfrm>
          <a:prstGeom prst="triangle">
            <a:avLst>
              <a:gd fmla="val 50000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6"/>
          <p:cNvSpPr/>
          <p:nvPr/>
        </p:nvSpPr>
        <p:spPr>
          <a:xfrm>
            <a:off x="3114675" y="1143000"/>
            <a:ext cx="14400" cy="464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3114666" y="1907375"/>
            <a:ext cx="14400" cy="5715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16"/>
          <p:cNvSpPr/>
          <p:nvPr/>
        </p:nvSpPr>
        <p:spPr>
          <a:xfrm>
            <a:off x="3114675" y="2478874"/>
            <a:ext cx="14400" cy="5217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16"/>
          <p:cNvSpPr/>
          <p:nvPr/>
        </p:nvSpPr>
        <p:spPr>
          <a:xfrm>
            <a:off x="3000375" y="1092994"/>
            <a:ext cx="242888" cy="242888"/>
          </a:xfrm>
          <a:prstGeom prst="ellipse">
            <a:avLst/>
          </a:prstGeom>
          <a:solidFill>
            <a:srgbClr val="8B1A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16"/>
          <p:cNvSpPr txBox="1"/>
          <p:nvPr/>
        </p:nvSpPr>
        <p:spPr>
          <a:xfrm>
            <a:off x="3000375" y="1092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6"/>
          <p:cNvSpPr txBox="1"/>
          <p:nvPr/>
        </p:nvSpPr>
        <p:spPr>
          <a:xfrm>
            <a:off x="3471863" y="928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Mission Planner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6"/>
          <p:cNvSpPr txBox="1"/>
          <p:nvPr/>
        </p:nvSpPr>
        <p:spPr>
          <a:xfrm>
            <a:off x="5186363" y="928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Takes in the target. Starts the scan. Stays in control.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6"/>
          <p:cNvSpPr/>
          <p:nvPr/>
        </p:nvSpPr>
        <p:spPr>
          <a:xfrm>
            <a:off x="3000375" y="1664494"/>
            <a:ext cx="242888" cy="242888"/>
          </a:xfrm>
          <a:prstGeom prst="ellipse">
            <a:avLst/>
          </a:prstGeom>
          <a:solidFill>
            <a:srgbClr val="2E4A7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16"/>
          <p:cNvSpPr txBox="1"/>
          <p:nvPr/>
        </p:nvSpPr>
        <p:spPr>
          <a:xfrm>
            <a:off x="3000375" y="1664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6"/>
          <p:cNvSpPr txBox="1"/>
          <p:nvPr/>
        </p:nvSpPr>
        <p:spPr>
          <a:xfrm>
            <a:off x="3471863" y="1500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Decision-Maker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6"/>
          <p:cNvSpPr txBox="1"/>
          <p:nvPr/>
        </p:nvSpPr>
        <p:spPr>
          <a:xfrm>
            <a:off x="5186363" y="1500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Decides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6"/>
          <p:cNvSpPr/>
          <p:nvPr/>
        </p:nvSpPr>
        <p:spPr>
          <a:xfrm>
            <a:off x="3000375" y="2235994"/>
            <a:ext cx="242888" cy="242888"/>
          </a:xfrm>
          <a:prstGeom prst="ellipse">
            <a:avLst/>
          </a:prstGeom>
          <a:solidFill>
            <a:srgbClr val="A063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16"/>
          <p:cNvSpPr txBox="1"/>
          <p:nvPr/>
        </p:nvSpPr>
        <p:spPr>
          <a:xfrm>
            <a:off x="3000375" y="2235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6"/>
          <p:cNvSpPr txBox="1"/>
          <p:nvPr/>
        </p:nvSpPr>
        <p:spPr>
          <a:xfrm>
            <a:off x="3471863" y="2071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Specialist Agents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6"/>
          <p:cNvSpPr txBox="1"/>
          <p:nvPr/>
        </p:nvSpPr>
        <p:spPr>
          <a:xfrm>
            <a:off x="5186363" y="2071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Web, GraphQL, Network — each focused on one attack type.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6"/>
          <p:cNvSpPr/>
          <p:nvPr/>
        </p:nvSpPr>
        <p:spPr>
          <a:xfrm>
            <a:off x="3000375" y="2807494"/>
            <a:ext cx="242888" cy="242888"/>
          </a:xfrm>
          <a:prstGeom prst="ellipse">
            <a:avLst/>
          </a:prstGeom>
          <a:solidFill>
            <a:srgbClr val="2A6B3C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16"/>
          <p:cNvSpPr txBox="1"/>
          <p:nvPr/>
        </p:nvSpPr>
        <p:spPr>
          <a:xfrm>
            <a:off x="3000375" y="2807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6"/>
          <p:cNvSpPr txBox="1"/>
          <p:nvPr/>
        </p:nvSpPr>
        <p:spPr>
          <a:xfrm>
            <a:off x="3471863" y="2643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Execute and Validate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6"/>
          <p:cNvSpPr txBox="1"/>
          <p:nvPr/>
        </p:nvSpPr>
        <p:spPr>
          <a:xfrm>
            <a:off x="5186363" y="2643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Runs the attack. Checks if it worked.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6"/>
          <p:cNvSpPr/>
          <p:nvPr/>
        </p:nvSpPr>
        <p:spPr>
          <a:xfrm rot="5400000">
            <a:off x="4486275" y="700088"/>
            <a:ext cx="171450" cy="56007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16"/>
          <p:cNvSpPr/>
          <p:nvPr/>
        </p:nvSpPr>
        <p:spPr>
          <a:xfrm rot="10800000">
            <a:off x="4472088" y="3314825"/>
            <a:ext cx="99900" cy="99900"/>
          </a:xfrm>
          <a:prstGeom prst="triangle">
            <a:avLst>
              <a:gd fmla="val 50000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16"/>
          <p:cNvSpPr txBox="1"/>
          <p:nvPr/>
        </p:nvSpPr>
        <p:spPr>
          <a:xfrm>
            <a:off x="1771650" y="3643313"/>
            <a:ext cx="560070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Remembers strategies and failures. Reuses what worked.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16"/>
          <p:cNvSpPr txBox="1"/>
          <p:nvPr/>
        </p:nvSpPr>
        <p:spPr>
          <a:xfrm>
            <a:off x="57150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Playfair Display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0" y="5122069"/>
            <a:ext cx="5943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6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7"/>
          <p:cNvSpPr txBox="1"/>
          <p:nvPr/>
        </p:nvSpPr>
        <p:spPr>
          <a:xfrm>
            <a:off x="571501" y="271463"/>
            <a:ext cx="7429524" cy="4143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How RedGrid Will Work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7"/>
          <p:cNvSpPr/>
          <p:nvPr/>
        </p:nvSpPr>
        <p:spPr>
          <a:xfrm>
            <a:off x="571501" y="735809"/>
            <a:ext cx="408623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17"/>
          <p:cNvSpPr/>
          <p:nvPr/>
        </p:nvSpPr>
        <p:spPr>
          <a:xfrm>
            <a:off x="3429011" y="1428755"/>
            <a:ext cx="2286007" cy="1714505"/>
          </a:xfrm>
          <a:prstGeom prst="ellipse">
            <a:avLst/>
          </a:prstGeom>
          <a:noFill/>
          <a:ln cap="flat" cmpd="sng" w="15225">
            <a:solidFill>
              <a:srgbClr val="1A1A2E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2428882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ADAD5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2543183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17"/>
          <p:cNvSpPr txBox="1"/>
          <p:nvPr/>
        </p:nvSpPr>
        <p:spPr>
          <a:xfrm>
            <a:off x="2543183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7"/>
          <p:cNvSpPr txBox="1"/>
          <p:nvPr/>
        </p:nvSpPr>
        <p:spPr>
          <a:xfrm>
            <a:off x="2814647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Recon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7"/>
          <p:cNvSpPr txBox="1"/>
          <p:nvPr/>
        </p:nvSpPr>
        <p:spPr>
          <a:xfrm>
            <a:off x="2571758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Scan the target. Build a picture of what’s there.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7"/>
          <p:cNvSpPr/>
          <p:nvPr/>
        </p:nvSpPr>
        <p:spPr>
          <a:xfrm>
            <a:off x="4714890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FE0E1"/>
          </a:solidFill>
          <a:ln cap="flat" cmpd="sng" w="190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4829191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17"/>
          <p:cNvSpPr txBox="1"/>
          <p:nvPr/>
        </p:nvSpPr>
        <p:spPr>
          <a:xfrm>
            <a:off x="4829191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7"/>
          <p:cNvSpPr txBox="1"/>
          <p:nvPr/>
        </p:nvSpPr>
        <p:spPr>
          <a:xfrm>
            <a:off x="5100654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7"/>
          <p:cNvSpPr txBox="1"/>
          <p:nvPr/>
        </p:nvSpPr>
        <p:spPr>
          <a:xfrm>
            <a:off x="4857766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7"/>
          <p:cNvSpPr/>
          <p:nvPr/>
        </p:nvSpPr>
        <p:spPr>
          <a:xfrm>
            <a:off x="4714890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DE3D5"/>
          </a:solidFill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17"/>
          <p:cNvSpPr/>
          <p:nvPr/>
        </p:nvSpPr>
        <p:spPr>
          <a:xfrm>
            <a:off x="4829191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17"/>
          <p:cNvSpPr txBox="1"/>
          <p:nvPr/>
        </p:nvSpPr>
        <p:spPr>
          <a:xfrm>
            <a:off x="4829191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7"/>
          <p:cNvSpPr txBox="1"/>
          <p:nvPr/>
        </p:nvSpPr>
        <p:spPr>
          <a:xfrm>
            <a:off x="5100654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7"/>
          <p:cNvSpPr txBox="1"/>
          <p:nvPr/>
        </p:nvSpPr>
        <p:spPr>
          <a:xfrm>
            <a:off x="4857766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Send in a specialist agent. Run the attempt.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2428882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EE4DA"/>
          </a:solidFill>
          <a:ln cap="flat" cmpd="sng" w="190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2543183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17"/>
          <p:cNvSpPr txBox="1"/>
          <p:nvPr/>
        </p:nvSpPr>
        <p:spPr>
          <a:xfrm>
            <a:off x="2543183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7"/>
          <p:cNvSpPr txBox="1"/>
          <p:nvPr/>
        </p:nvSpPr>
        <p:spPr>
          <a:xfrm>
            <a:off x="2814647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7"/>
          <p:cNvSpPr txBox="1"/>
          <p:nvPr/>
        </p:nvSpPr>
        <p:spPr>
          <a:xfrm>
            <a:off x="2571758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it work? Update the graph. Store the lesson. Repeat.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7"/>
          <p:cNvSpPr txBox="1"/>
          <p:nvPr/>
        </p:nvSpPr>
        <p:spPr>
          <a:xfrm>
            <a:off x="3571886" y="2071694"/>
            <a:ext cx="2000257" cy="4286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Playfair Display"/>
              <a:buNone/>
            </a:pPr>
            <a:r>
              <a:rPr b="1" i="1" lang="en" sz="1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VDG drives the loop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/>
          <p:nvPr/>
        </p:nvSpPr>
        <p:spPr>
          <a:xfrm rot="5400000">
            <a:off x="4500577" y="1357317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17"/>
          <p:cNvSpPr/>
          <p:nvPr/>
        </p:nvSpPr>
        <p:spPr>
          <a:xfrm rot="10800000">
            <a:off x="5643580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7"/>
          <p:cNvSpPr/>
          <p:nvPr/>
        </p:nvSpPr>
        <p:spPr>
          <a:xfrm rot="-5400000">
            <a:off x="4500577" y="3071822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3357573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17"/>
          <p:cNvSpPr txBox="1"/>
          <p:nvPr/>
        </p:nvSpPr>
        <p:spPr>
          <a:xfrm>
            <a:off x="571502" y="3929075"/>
            <a:ext cx="428627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1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7"/>
          <p:cNvSpPr txBox="1"/>
          <p:nvPr/>
        </p:nvSpPr>
        <p:spPr>
          <a:xfrm>
            <a:off x="1143004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Clean Slate per Attempt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7"/>
          <p:cNvSpPr txBox="1"/>
          <p:nvPr/>
        </p:nvSpPr>
        <p:spPr>
          <a:xfrm>
            <a:off x="1143004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Each attack attempt runs with fresh context — no leftover noise from previous steps.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7"/>
          <p:cNvSpPr txBox="1"/>
          <p:nvPr/>
        </p:nvSpPr>
        <p:spPr>
          <a:xfrm>
            <a:off x="4786327" y="3929075"/>
            <a:ext cx="428626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7"/>
          <p:cNvSpPr txBox="1"/>
          <p:nvPr/>
        </p:nvSpPr>
        <p:spPr>
          <a:xfrm>
            <a:off x="5357830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Facts vs. Guesses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7"/>
          <p:cNvSpPr txBox="1"/>
          <p:nvPr/>
        </p:nvSpPr>
        <p:spPr>
          <a:xfrm>
            <a:off x="5357830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the agent confirmed is kept strictly separate from what it infers.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7"/>
          <p:cNvSpPr/>
          <p:nvPr/>
        </p:nvSpPr>
        <p:spPr>
          <a:xfrm>
            <a:off x="0" y="5122085"/>
            <a:ext cx="64008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17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17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18"/>
          <p:cNvSpPr txBox="1"/>
          <p:nvPr/>
        </p:nvSpPr>
        <p:spPr>
          <a:xfrm>
            <a:off x="571500" y="314325"/>
            <a:ext cx="7429500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Evaluation — Three Attack Surfaces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8"/>
          <p:cNvSpPr/>
          <p:nvPr/>
        </p:nvSpPr>
        <p:spPr>
          <a:xfrm>
            <a:off x="571500" y="728663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18"/>
          <p:cNvSpPr txBox="1"/>
          <p:nvPr/>
        </p:nvSpPr>
        <p:spPr>
          <a:xfrm>
            <a:off x="571500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01.  WEB APPLICATIONS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8"/>
          <p:cNvSpPr txBox="1"/>
          <p:nvPr/>
        </p:nvSpPr>
        <p:spPr>
          <a:xfrm>
            <a:off x="571500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8"/>
          <p:cNvSpPr/>
          <p:nvPr/>
        </p:nvSpPr>
        <p:spPr>
          <a:xfrm>
            <a:off x="571500" y="2014538"/>
            <a:ext cx="1643063" cy="171450"/>
          </a:xfrm>
          <a:prstGeom prst="rect">
            <a:avLst/>
          </a:prstGeom>
          <a:solidFill>
            <a:srgbClr val="8B1A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18"/>
          <p:cNvSpPr txBox="1"/>
          <p:nvPr/>
        </p:nvSpPr>
        <p:spPr>
          <a:xfrm>
            <a:off x="628650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real critical CVEs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8"/>
          <p:cNvSpPr/>
          <p:nvPr/>
        </p:nvSpPr>
        <p:spPr>
          <a:xfrm>
            <a:off x="571500" y="2300288"/>
            <a:ext cx="17860" cy="85725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18"/>
          <p:cNvSpPr txBox="1"/>
          <p:nvPr/>
        </p:nvSpPr>
        <p:spPr>
          <a:xfrm>
            <a:off x="700088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find and exploit web vulnerabilities without a hint?”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8"/>
          <p:cNvSpPr txBox="1"/>
          <p:nvPr/>
        </p:nvSpPr>
        <p:spPr>
          <a:xfrm>
            <a:off x="3378994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02.  GRAPHQL APIs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8"/>
          <p:cNvSpPr txBox="1"/>
          <p:nvPr/>
        </p:nvSpPr>
        <p:spPr>
          <a:xfrm>
            <a:off x="3378994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PrediQL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8"/>
          <p:cNvSpPr/>
          <p:nvPr/>
        </p:nvSpPr>
        <p:spPr>
          <a:xfrm>
            <a:off x="3378994" y="2014538"/>
            <a:ext cx="1643063" cy="171450"/>
          </a:xfrm>
          <a:prstGeom prst="rect">
            <a:avLst/>
          </a:prstGeom>
          <a:solidFill>
            <a:srgbClr val="2E4A7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18"/>
          <p:cNvSpPr txBox="1"/>
          <p:nvPr/>
        </p:nvSpPr>
        <p:spPr>
          <a:xfrm>
            <a:off x="3436144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6 real GraphQL APIs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8"/>
          <p:cNvSpPr/>
          <p:nvPr/>
        </p:nvSpPr>
        <p:spPr>
          <a:xfrm>
            <a:off x="3378994" y="2300288"/>
            <a:ext cx="17860" cy="85725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18"/>
          <p:cNvSpPr txBox="1"/>
          <p:nvPr/>
        </p:nvSpPr>
        <p:spPr>
          <a:xfrm>
            <a:off x="3507581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abuse API schemas and find injection points?”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8"/>
          <p:cNvSpPr txBox="1"/>
          <p:nvPr/>
        </p:nvSpPr>
        <p:spPr>
          <a:xfrm>
            <a:off x="6193631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03.  MULTI-HOST NETWORKS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8"/>
          <p:cNvSpPr txBox="1"/>
          <p:nvPr/>
        </p:nvSpPr>
        <p:spPr>
          <a:xfrm>
            <a:off x="6193631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MHBench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8"/>
          <p:cNvSpPr/>
          <p:nvPr/>
        </p:nvSpPr>
        <p:spPr>
          <a:xfrm>
            <a:off x="6193631" y="2014538"/>
            <a:ext cx="1643063" cy="171450"/>
          </a:xfrm>
          <a:prstGeom prst="rect">
            <a:avLst/>
          </a:prstGeom>
          <a:solidFill>
            <a:srgbClr val="A063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18"/>
          <p:cNvSpPr txBox="1"/>
          <p:nvPr/>
        </p:nvSpPr>
        <p:spPr>
          <a:xfrm>
            <a:off x="6250775" y="2014550"/>
            <a:ext cx="17502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multi-host environments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8"/>
          <p:cNvSpPr/>
          <p:nvPr/>
        </p:nvSpPr>
        <p:spPr>
          <a:xfrm>
            <a:off x="6193631" y="2300288"/>
            <a:ext cx="17860" cy="85725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18"/>
          <p:cNvSpPr txBox="1"/>
          <p:nvPr/>
        </p:nvSpPr>
        <p:spPr>
          <a:xfrm>
            <a:off x="6322219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move laterally across hosts and escalate privileges?”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8"/>
          <p:cNvSpPr txBox="1"/>
          <p:nvPr/>
        </p:nvSpPr>
        <p:spPr>
          <a:xfrm>
            <a:off x="1000125" y="4000500"/>
            <a:ext cx="7143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We only test on attack surfaces that already have a published, oracle-backed benchmark.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No custom benchmarks.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8"/>
          <p:cNvSpPr/>
          <p:nvPr/>
        </p:nvSpPr>
        <p:spPr>
          <a:xfrm>
            <a:off x="0" y="5122069"/>
            <a:ext cx="68580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18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18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9"/>
          <p:cNvSpPr txBox="1"/>
          <p:nvPr/>
        </p:nvSpPr>
        <p:spPr>
          <a:xfrm>
            <a:off x="571500" y="314325"/>
            <a:ext cx="7429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Project Timeline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9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9"/>
          <p:cNvSpPr/>
          <p:nvPr/>
        </p:nvSpPr>
        <p:spPr>
          <a:xfrm>
            <a:off x="571500" y="907256"/>
            <a:ext cx="3571875" cy="200025"/>
          </a:xfrm>
          <a:prstGeom prst="roundRect">
            <a:avLst>
              <a:gd fmla="val 13714" name="adj"/>
            </a:avLst>
          </a:prstGeom>
          <a:solidFill>
            <a:srgbClr val="F0EEE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19"/>
          <p:cNvSpPr txBox="1"/>
          <p:nvPr/>
        </p:nvSpPr>
        <p:spPr>
          <a:xfrm>
            <a:off x="685800" y="907256"/>
            <a:ext cx="33432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6-MONTH PROJECT   </a:t>
            </a: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·</a:t>
            </a: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SEPTEMBER 2026 — FEBRUARY 2027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9"/>
          <p:cNvSpPr/>
          <p:nvPr/>
        </p:nvSpPr>
        <p:spPr>
          <a:xfrm>
            <a:off x="1857375" y="2392322"/>
            <a:ext cx="1500300" cy="213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19"/>
          <p:cNvSpPr/>
          <p:nvPr/>
        </p:nvSpPr>
        <p:spPr>
          <a:xfrm>
            <a:off x="3357563" y="2392322"/>
            <a:ext cx="2428800" cy="213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19"/>
          <p:cNvSpPr/>
          <p:nvPr/>
        </p:nvSpPr>
        <p:spPr>
          <a:xfrm>
            <a:off x="5786438" y="2392322"/>
            <a:ext cx="1500300" cy="213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19"/>
          <p:cNvSpPr/>
          <p:nvPr/>
        </p:nvSpPr>
        <p:spPr>
          <a:xfrm>
            <a:off x="2135975" y="1902975"/>
            <a:ext cx="14400" cy="4002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19"/>
          <p:cNvSpPr txBox="1"/>
          <p:nvPr/>
        </p:nvSpPr>
        <p:spPr>
          <a:xfrm>
            <a:off x="100012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SEP 05,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9"/>
          <p:cNvSpPr txBox="1"/>
          <p:nvPr/>
        </p:nvSpPr>
        <p:spPr>
          <a:xfrm>
            <a:off x="100012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Inception </a:t>
            </a:r>
            <a:r>
              <a:rPr b="1" lang="en" sz="1800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Stage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/>
          <p:nvPr/>
        </p:nvSpPr>
        <p:spPr>
          <a:xfrm>
            <a:off x="2043113" y="2303025"/>
            <a:ext cx="200100" cy="200100"/>
          </a:xfrm>
          <a:prstGeom prst="ellipse">
            <a:avLst/>
          </a:prstGeom>
          <a:solidFill>
            <a:srgbClr val="8B1A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19"/>
          <p:cNvSpPr/>
          <p:nvPr/>
        </p:nvSpPr>
        <p:spPr>
          <a:xfrm>
            <a:off x="2135981" y="2503050"/>
            <a:ext cx="14400" cy="34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19"/>
          <p:cNvSpPr txBox="1"/>
          <p:nvPr/>
        </p:nvSpPr>
        <p:spPr>
          <a:xfrm>
            <a:off x="100012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10:00 – 10:15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9"/>
          <p:cNvSpPr/>
          <p:nvPr/>
        </p:nvSpPr>
        <p:spPr>
          <a:xfrm>
            <a:off x="125720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6E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19"/>
          <p:cNvSpPr txBox="1"/>
          <p:nvPr/>
        </p:nvSpPr>
        <p:spPr>
          <a:xfrm>
            <a:off x="137150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Literature and 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9"/>
          <p:cNvSpPr txBox="1"/>
          <p:nvPr/>
        </p:nvSpPr>
        <p:spPr>
          <a:xfrm>
            <a:off x="137150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Literature review compiled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System architecture designed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Evaluation strategy locked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9"/>
          <p:cNvSpPr/>
          <p:nvPr/>
        </p:nvSpPr>
        <p:spPr>
          <a:xfrm>
            <a:off x="4564850" y="1902975"/>
            <a:ext cx="14400" cy="4002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19"/>
          <p:cNvSpPr txBox="1"/>
          <p:nvPr/>
        </p:nvSpPr>
        <p:spPr>
          <a:xfrm>
            <a:off x="3429000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NOV 21,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9"/>
          <p:cNvSpPr txBox="1"/>
          <p:nvPr/>
        </p:nvSpPr>
        <p:spPr>
          <a:xfrm>
            <a:off x="3429000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Mid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9"/>
          <p:cNvSpPr/>
          <p:nvPr/>
        </p:nvSpPr>
        <p:spPr>
          <a:xfrm>
            <a:off x="4471988" y="2303025"/>
            <a:ext cx="200100" cy="200100"/>
          </a:xfrm>
          <a:prstGeom prst="ellipse">
            <a:avLst/>
          </a:prstGeom>
          <a:solidFill>
            <a:srgbClr val="2E4A7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19"/>
          <p:cNvSpPr/>
          <p:nvPr/>
        </p:nvSpPr>
        <p:spPr>
          <a:xfrm>
            <a:off x="4564856" y="2503050"/>
            <a:ext cx="14400" cy="3429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19"/>
          <p:cNvSpPr txBox="1"/>
          <p:nvPr/>
        </p:nvSpPr>
        <p:spPr>
          <a:xfrm>
            <a:off x="3429000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9"/>
          <p:cNvSpPr/>
          <p:nvPr/>
        </p:nvSpPr>
        <p:spPr>
          <a:xfrm>
            <a:off x="3686075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E6EAF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19"/>
          <p:cNvSpPr txBox="1"/>
          <p:nvPr/>
        </p:nvSpPr>
        <p:spPr>
          <a:xfrm>
            <a:off x="3800375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Core Framework Implementation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19"/>
          <p:cNvSpPr txBox="1"/>
          <p:nvPr/>
        </p:nvSpPr>
        <p:spPr>
          <a:xfrm>
            <a:off x="3800375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mechanism integration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Autonomous agentic loop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Initial target environment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19"/>
          <p:cNvSpPr/>
          <p:nvPr/>
        </p:nvSpPr>
        <p:spPr>
          <a:xfrm>
            <a:off x="6993725" y="1902975"/>
            <a:ext cx="14400" cy="4002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19"/>
          <p:cNvSpPr txBox="1"/>
          <p:nvPr/>
        </p:nvSpPr>
        <p:spPr>
          <a:xfrm>
            <a:off x="585787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FEB 20, 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9"/>
          <p:cNvSpPr txBox="1"/>
          <p:nvPr/>
        </p:nvSpPr>
        <p:spPr>
          <a:xfrm>
            <a:off x="585787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Final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19"/>
          <p:cNvSpPr/>
          <p:nvPr/>
        </p:nvSpPr>
        <p:spPr>
          <a:xfrm>
            <a:off x="6900863" y="2303025"/>
            <a:ext cx="200100" cy="200100"/>
          </a:xfrm>
          <a:prstGeom prst="ellipse">
            <a:avLst/>
          </a:prstGeom>
          <a:solidFill>
            <a:srgbClr val="A063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19"/>
          <p:cNvSpPr/>
          <p:nvPr/>
        </p:nvSpPr>
        <p:spPr>
          <a:xfrm>
            <a:off x="6993731" y="2503050"/>
            <a:ext cx="14400" cy="3429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9"/>
          <p:cNvSpPr txBox="1"/>
          <p:nvPr/>
        </p:nvSpPr>
        <p:spPr>
          <a:xfrm>
            <a:off x="585787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9"/>
          <p:cNvSpPr/>
          <p:nvPr/>
        </p:nvSpPr>
        <p:spPr>
          <a:xfrm>
            <a:off x="611495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A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9"/>
          <p:cNvSpPr txBox="1"/>
          <p:nvPr/>
        </p:nvSpPr>
        <p:spPr>
          <a:xfrm>
            <a:off x="622925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Full Evaluation and Writeup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19"/>
          <p:cNvSpPr txBox="1"/>
          <p:nvPr/>
        </p:nvSpPr>
        <p:spPr>
          <a:xfrm>
            <a:off x="622925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Empirical benchmark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Comparative performance analysis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Final project submission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9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19"/>
          <p:cNvSpPr/>
          <p:nvPr/>
        </p:nvSpPr>
        <p:spPr>
          <a:xfrm>
            <a:off x="0" y="5122069"/>
            <a:ext cx="7315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19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20"/>
          <p:cNvSpPr txBox="1"/>
          <p:nvPr/>
        </p:nvSpPr>
        <p:spPr>
          <a:xfrm>
            <a:off x="571486" y="314317"/>
            <a:ext cx="7429314" cy="40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Challenges We Are Aware Of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20"/>
          <p:cNvSpPr/>
          <p:nvPr/>
        </p:nvSpPr>
        <p:spPr>
          <a:xfrm>
            <a:off x="571486" y="771506"/>
            <a:ext cx="408612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20"/>
          <p:cNvSpPr txBox="1"/>
          <p:nvPr/>
        </p:nvSpPr>
        <p:spPr>
          <a:xfrm>
            <a:off x="571486" y="857228"/>
            <a:ext cx="7429314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4A4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ANTICIPATED BOTTLENECKS AND PROACTIVE MITIGATION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0"/>
          <p:cNvSpPr/>
          <p:nvPr/>
        </p:nvSpPr>
        <p:spPr>
          <a:xfrm>
            <a:off x="571486" y="1071535"/>
            <a:ext cx="1914477" cy="3714657"/>
          </a:xfrm>
          <a:prstGeom prst="roundRect">
            <a:avLst>
              <a:gd fmla="val 2985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20"/>
          <p:cNvSpPr/>
          <p:nvPr/>
        </p:nvSpPr>
        <p:spPr>
          <a:xfrm>
            <a:off x="800080" y="1300130"/>
            <a:ext cx="842941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20"/>
          <p:cNvSpPr txBox="1"/>
          <p:nvPr/>
        </p:nvSpPr>
        <p:spPr>
          <a:xfrm>
            <a:off x="800080" y="1300130"/>
            <a:ext cx="8429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CRITICAL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20"/>
          <p:cNvSpPr txBox="1"/>
          <p:nvPr/>
        </p:nvSpPr>
        <p:spPr>
          <a:xfrm>
            <a:off x="800080" y="1585873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Inferring Dependencies Is Hard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20"/>
          <p:cNvSpPr txBox="1"/>
          <p:nvPr/>
        </p:nvSpPr>
        <p:spPr>
          <a:xfrm>
            <a:off x="914378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Building the prerequisite graph using an LLM instead of human annotation will be noisy. We must measure this gap.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0"/>
          <p:cNvSpPr/>
          <p:nvPr/>
        </p:nvSpPr>
        <p:spPr>
          <a:xfrm>
            <a:off x="2600260" y="1628735"/>
            <a:ext cx="1914477" cy="3157459"/>
          </a:xfrm>
          <a:prstGeom prst="roundRect">
            <a:avLst>
              <a:gd fmla="val 2985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20"/>
          <p:cNvSpPr/>
          <p:nvPr/>
        </p:nvSpPr>
        <p:spPr>
          <a:xfrm>
            <a:off x="2828855" y="1857329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20"/>
          <p:cNvSpPr txBox="1"/>
          <p:nvPr/>
        </p:nvSpPr>
        <p:spPr>
          <a:xfrm>
            <a:off x="2828855" y="1857329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HIGH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20"/>
          <p:cNvSpPr txBox="1"/>
          <p:nvPr/>
        </p:nvSpPr>
        <p:spPr>
          <a:xfrm>
            <a:off x="2828855" y="2143072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Sandbox vs. Real World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20"/>
          <p:cNvSpPr txBox="1"/>
          <p:nvPr/>
        </p:nvSpPr>
        <p:spPr>
          <a:xfrm>
            <a:off x="2943152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works perfectly on a controlled benchmark may fail on a real-world target. We will test both environments.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20"/>
          <p:cNvSpPr/>
          <p:nvPr/>
        </p:nvSpPr>
        <p:spPr>
          <a:xfrm>
            <a:off x="4629035" y="2185933"/>
            <a:ext cx="1914477" cy="2600260"/>
          </a:xfrm>
          <a:prstGeom prst="roundRect">
            <a:avLst>
              <a:gd fmla="val 298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20"/>
          <p:cNvSpPr/>
          <p:nvPr/>
        </p:nvSpPr>
        <p:spPr>
          <a:xfrm>
            <a:off x="4857628" y="2414528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20"/>
          <p:cNvSpPr txBox="1"/>
          <p:nvPr/>
        </p:nvSpPr>
        <p:spPr>
          <a:xfrm>
            <a:off x="4857628" y="2414528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MEDIUM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0"/>
          <p:cNvSpPr txBox="1"/>
          <p:nvPr/>
        </p:nvSpPr>
        <p:spPr>
          <a:xfrm>
            <a:off x="4857629" y="2700270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Memory Could Backfire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20"/>
          <p:cNvSpPr txBox="1"/>
          <p:nvPr/>
        </p:nvSpPr>
        <p:spPr>
          <a:xfrm>
            <a:off x="4971926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A strategy that succeeds against software version 1 might backfire against version 2. A safety mechanism is key.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20"/>
          <p:cNvSpPr/>
          <p:nvPr/>
        </p:nvSpPr>
        <p:spPr>
          <a:xfrm>
            <a:off x="6657808" y="2743132"/>
            <a:ext cx="1914477" cy="2043062"/>
          </a:xfrm>
          <a:prstGeom prst="roundRect">
            <a:avLst>
              <a:gd fmla="val 2985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20"/>
          <p:cNvSpPr/>
          <p:nvPr/>
        </p:nvSpPr>
        <p:spPr>
          <a:xfrm>
            <a:off x="6886402" y="2971726"/>
            <a:ext cx="64292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20"/>
          <p:cNvSpPr txBox="1"/>
          <p:nvPr/>
        </p:nvSpPr>
        <p:spPr>
          <a:xfrm>
            <a:off x="6886402" y="2971726"/>
            <a:ext cx="64292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500"/>
              <a:buFont typeface="IBM Plex Mono"/>
              <a:buNone/>
            </a:pPr>
            <a:r>
              <a:rPr b="1" i="0" lang="en" sz="5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LOW RISK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20"/>
          <p:cNvSpPr txBox="1"/>
          <p:nvPr/>
        </p:nvSpPr>
        <p:spPr>
          <a:xfrm>
            <a:off x="6886402" y="3257468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Tuning Is Tricky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20"/>
          <p:cNvSpPr txBox="1"/>
          <p:nvPr/>
        </p:nvSpPr>
        <p:spPr>
          <a:xfrm>
            <a:off x="7000700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EBE3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EFEBE3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system has parameters to adjust. Final results must be robust, and not depend on one perfect setup.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20"/>
          <p:cNvSpPr/>
          <p:nvPr/>
        </p:nvSpPr>
        <p:spPr>
          <a:xfrm>
            <a:off x="0" y="5121941"/>
            <a:ext cx="777220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20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20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21"/>
          <p:cNvSpPr/>
          <p:nvPr/>
        </p:nvSpPr>
        <p:spPr>
          <a:xfrm>
            <a:off x="0" y="0"/>
            <a:ext cx="3143400" cy="487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21"/>
          <p:cNvSpPr txBox="1"/>
          <p:nvPr/>
        </p:nvSpPr>
        <p:spPr>
          <a:xfrm>
            <a:off x="571500" y="357188"/>
            <a:ext cx="2286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500"/>
              <a:buFont typeface="Cambria"/>
              <a:buNone/>
            </a:pPr>
            <a:r>
              <a:rPr b="1" i="0" lang="en" sz="2500" u="none" cap="none" strike="noStrike">
                <a:solidFill>
                  <a:srgbClr val="F7F4EF"/>
                </a:solidFill>
                <a:latin typeface="Cambria"/>
                <a:ea typeface="Cambria"/>
                <a:cs typeface="Cambria"/>
                <a:sym typeface="Cambria"/>
              </a:rPr>
              <a:t>Where We Are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1"/>
          <p:cNvSpPr/>
          <p:nvPr/>
        </p:nvSpPr>
        <p:spPr>
          <a:xfrm>
            <a:off x="571500" y="864394"/>
            <a:ext cx="428625" cy="2143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21"/>
          <p:cNvSpPr txBox="1"/>
          <p:nvPr/>
        </p:nvSpPr>
        <p:spPr>
          <a:xfrm>
            <a:off x="571500" y="1314450"/>
            <a:ext cx="228600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82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767682"/>
                </a:solidFill>
                <a:latin typeface="Courier New"/>
                <a:ea typeface="Courier New"/>
                <a:cs typeface="Courier New"/>
                <a:sym typeface="Courier New"/>
              </a:rPr>
              <a:t>FOUNDATION SECURED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21"/>
          <p:cNvSpPr/>
          <p:nvPr/>
        </p:nvSpPr>
        <p:spPr>
          <a:xfrm>
            <a:off x="571500" y="16644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21"/>
          <p:cNvSpPr txBox="1"/>
          <p:nvPr/>
        </p:nvSpPr>
        <p:spPr>
          <a:xfrm>
            <a:off x="685800" y="15930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Synthesized 11 key VAPT papers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87" name="Google Shape;687;p21"/>
          <p:cNvSpPr/>
          <p:nvPr/>
        </p:nvSpPr>
        <p:spPr>
          <a:xfrm>
            <a:off x="571500" y="19788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21"/>
          <p:cNvSpPr txBox="1"/>
          <p:nvPr/>
        </p:nvSpPr>
        <p:spPr>
          <a:xfrm>
            <a:off x="685800" y="19073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Identified 2 quantified failure modes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89" name="Google Shape;689;p21"/>
          <p:cNvSpPr/>
          <p:nvPr/>
        </p:nvSpPr>
        <p:spPr>
          <a:xfrm>
            <a:off x="571500" y="229314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21"/>
          <p:cNvSpPr txBox="1"/>
          <p:nvPr/>
        </p:nvSpPr>
        <p:spPr>
          <a:xfrm>
            <a:off x="685800" y="222170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Formalized the research gap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91" name="Google Shape;691;p21"/>
          <p:cNvSpPr/>
          <p:nvPr/>
        </p:nvSpPr>
        <p:spPr>
          <a:xfrm>
            <a:off x="571500" y="260746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21"/>
          <p:cNvSpPr txBox="1"/>
          <p:nvPr/>
        </p:nvSpPr>
        <p:spPr>
          <a:xfrm>
            <a:off x="685800" y="253603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Proposed 3 research directions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93" name="Google Shape;693;p21"/>
          <p:cNvSpPr/>
          <p:nvPr/>
        </p:nvSpPr>
        <p:spPr>
          <a:xfrm>
            <a:off x="571500" y="29217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21"/>
          <p:cNvSpPr txBox="1"/>
          <p:nvPr/>
        </p:nvSpPr>
        <p:spPr>
          <a:xfrm>
            <a:off x="685800" y="28503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Sketched the architecture approach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95" name="Google Shape;695;p21"/>
          <p:cNvSpPr/>
          <p:nvPr/>
        </p:nvSpPr>
        <p:spPr>
          <a:xfrm>
            <a:off x="571500" y="32361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21"/>
          <p:cNvSpPr txBox="1"/>
          <p:nvPr/>
        </p:nvSpPr>
        <p:spPr>
          <a:xfrm>
            <a:off x="685800" y="31646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Submitted inception report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97" name="Google Shape;697;p21"/>
          <p:cNvSpPr/>
          <p:nvPr/>
        </p:nvSpPr>
        <p:spPr>
          <a:xfrm>
            <a:off x="571500" y="3868375"/>
            <a:ext cx="14400" cy="6786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21"/>
          <p:cNvSpPr txBox="1"/>
          <p:nvPr/>
        </p:nvSpPr>
        <p:spPr>
          <a:xfrm>
            <a:off x="685800" y="3868375"/>
            <a:ext cx="2171700" cy="6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200"/>
              <a:buFont typeface="Cambria"/>
              <a:buNone/>
            </a:pPr>
            <a:r>
              <a:rPr b="1" i="1" lang="en" sz="1200" u="none" cap="none" strike="noStrike">
                <a:solidFill>
                  <a:srgbClr val="A0631A"/>
                </a:solidFill>
                <a:latin typeface="Cambria"/>
                <a:ea typeface="Cambria"/>
                <a:cs typeface="Cambria"/>
                <a:sym typeface="Cambria"/>
              </a:rPr>
              <a:t>The architectural blueprint is ready. Awaiting greenlight for implementation.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21"/>
          <p:cNvSpPr txBox="1"/>
          <p:nvPr/>
        </p:nvSpPr>
        <p:spPr>
          <a:xfrm>
            <a:off x="3571875" y="428625"/>
            <a:ext cx="5000625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COMING NEXT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0" name="Google Shape;700;p21"/>
          <p:cNvCxnSpPr/>
          <p:nvPr/>
        </p:nvCxnSpPr>
        <p:spPr>
          <a:xfrm>
            <a:off x="3571875" y="671513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1" name="Google Shape;701;p21"/>
          <p:cNvSpPr txBox="1"/>
          <p:nvPr/>
        </p:nvSpPr>
        <p:spPr>
          <a:xfrm>
            <a:off x="3571875" y="671513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21"/>
          <p:cNvSpPr txBox="1"/>
          <p:nvPr/>
        </p:nvSpPr>
        <p:spPr>
          <a:xfrm>
            <a:off x="4029075" y="671513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the prototype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3" name="Google Shape;703;p21"/>
          <p:cNvCxnSpPr/>
          <p:nvPr/>
        </p:nvCxnSpPr>
        <p:spPr>
          <a:xfrm>
            <a:off x="3571875" y="1193006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4" name="Google Shape;704;p21"/>
          <p:cNvSpPr txBox="1"/>
          <p:nvPr/>
        </p:nvSpPr>
        <p:spPr>
          <a:xfrm>
            <a:off x="3571875" y="1193006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21"/>
          <p:cNvSpPr txBox="1"/>
          <p:nvPr/>
        </p:nvSpPr>
        <p:spPr>
          <a:xfrm>
            <a:off x="4029075" y="1193006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Early experiments to test the ideas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6" name="Google Shape;706;p21"/>
          <p:cNvCxnSpPr/>
          <p:nvPr/>
        </p:nvCxnSpPr>
        <p:spPr>
          <a:xfrm>
            <a:off x="3571875" y="1714500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7" name="Google Shape;707;p21"/>
          <p:cNvSpPr txBox="1"/>
          <p:nvPr/>
        </p:nvSpPr>
        <p:spPr>
          <a:xfrm>
            <a:off x="3571875" y="1714500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21"/>
          <p:cNvSpPr txBox="1"/>
          <p:nvPr/>
        </p:nvSpPr>
        <p:spPr>
          <a:xfrm>
            <a:off x="4029075" y="1714500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Full benchmark evaluation (web, GraphQL, multi-host)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9" name="Google Shape;709;p21"/>
          <p:cNvCxnSpPr/>
          <p:nvPr/>
        </p:nvCxnSpPr>
        <p:spPr>
          <a:xfrm>
            <a:off x="3571875" y="2235994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0" name="Google Shape;710;p21"/>
          <p:cNvSpPr txBox="1"/>
          <p:nvPr/>
        </p:nvSpPr>
        <p:spPr>
          <a:xfrm>
            <a:off x="3571875" y="2235994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1"/>
          <p:cNvSpPr txBox="1"/>
          <p:nvPr/>
        </p:nvSpPr>
        <p:spPr>
          <a:xfrm>
            <a:off x="4029075" y="2235994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Refine based on what we find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12" name="Google Shape;712;p21"/>
          <p:cNvCxnSpPr/>
          <p:nvPr/>
        </p:nvCxnSpPr>
        <p:spPr>
          <a:xfrm>
            <a:off x="3571875" y="2757488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3" name="Google Shape;713;p21"/>
          <p:cNvSpPr txBox="1"/>
          <p:nvPr/>
        </p:nvSpPr>
        <p:spPr>
          <a:xfrm>
            <a:off x="3571875" y="2757488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1"/>
          <p:cNvSpPr txBox="1"/>
          <p:nvPr/>
        </p:nvSpPr>
        <p:spPr>
          <a:xfrm>
            <a:off x="4029075" y="2757488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thesis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15" name="Google Shape;715;p21"/>
          <p:cNvCxnSpPr/>
          <p:nvPr/>
        </p:nvCxnSpPr>
        <p:spPr>
          <a:xfrm>
            <a:off x="3571875" y="3278981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6" name="Google Shape;716;p21"/>
          <p:cNvSpPr/>
          <p:nvPr/>
        </p:nvSpPr>
        <p:spPr>
          <a:xfrm>
            <a:off x="3571875" y="3681900"/>
            <a:ext cx="5000700" cy="1025700"/>
          </a:xfrm>
          <a:prstGeom prst="rect">
            <a:avLst/>
          </a:prstGeom>
          <a:solidFill>
            <a:srgbClr val="EFEBE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21"/>
          <p:cNvSpPr/>
          <p:nvPr/>
        </p:nvSpPr>
        <p:spPr>
          <a:xfrm>
            <a:off x="3571875" y="3681900"/>
            <a:ext cx="28500" cy="10257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21"/>
          <p:cNvSpPr txBox="1"/>
          <p:nvPr/>
        </p:nvSpPr>
        <p:spPr>
          <a:xfrm>
            <a:off x="3800438" y="3769301"/>
            <a:ext cx="4543500" cy="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DISCUSSION POINT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21"/>
          <p:cNvSpPr txBox="1"/>
          <p:nvPr/>
        </p:nvSpPr>
        <p:spPr>
          <a:xfrm>
            <a:off x="3800450" y="3959250"/>
            <a:ext cx="4543500" cy="6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mbria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Given the ambitious scope of VDG + dependency-aware exploration, should we pursue the full architecture, or constrain the scope to a specific subsystem before implementation?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1"/>
          <p:cNvSpPr/>
          <p:nvPr/>
        </p:nvSpPr>
        <p:spPr>
          <a:xfrm>
            <a:off x="0" y="5122075"/>
            <a:ext cx="8247000" cy="213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21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21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8" name="Google Shape;728;p22"/>
          <p:cNvCxnSpPr/>
          <p:nvPr/>
        </p:nvCxnSpPr>
        <p:spPr>
          <a:xfrm>
            <a:off x="0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9" name="Google Shape;729;p22"/>
          <p:cNvCxnSpPr/>
          <p:nvPr/>
        </p:nvCxnSpPr>
        <p:spPr>
          <a:xfrm>
            <a:off x="285758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0" name="Google Shape;730;p22"/>
          <p:cNvCxnSpPr/>
          <p:nvPr/>
        </p:nvCxnSpPr>
        <p:spPr>
          <a:xfrm>
            <a:off x="571515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1" name="Google Shape;731;p22"/>
          <p:cNvCxnSpPr/>
          <p:nvPr/>
        </p:nvCxnSpPr>
        <p:spPr>
          <a:xfrm>
            <a:off x="857273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2" name="Google Shape;732;p22"/>
          <p:cNvCxnSpPr/>
          <p:nvPr/>
        </p:nvCxnSpPr>
        <p:spPr>
          <a:xfrm>
            <a:off x="1143030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3" name="Google Shape;733;p22"/>
          <p:cNvCxnSpPr/>
          <p:nvPr/>
        </p:nvCxnSpPr>
        <p:spPr>
          <a:xfrm>
            <a:off x="1428788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4" name="Google Shape;734;p22"/>
          <p:cNvCxnSpPr/>
          <p:nvPr/>
        </p:nvCxnSpPr>
        <p:spPr>
          <a:xfrm>
            <a:off x="171454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5" name="Google Shape;735;p22"/>
          <p:cNvCxnSpPr/>
          <p:nvPr/>
        </p:nvCxnSpPr>
        <p:spPr>
          <a:xfrm>
            <a:off x="2000303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6" name="Google Shape;736;p22"/>
          <p:cNvCxnSpPr/>
          <p:nvPr/>
        </p:nvCxnSpPr>
        <p:spPr>
          <a:xfrm>
            <a:off x="2286061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7" name="Google Shape;737;p22"/>
          <p:cNvCxnSpPr/>
          <p:nvPr/>
        </p:nvCxnSpPr>
        <p:spPr>
          <a:xfrm>
            <a:off x="2571819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8" name="Google Shape;738;p22"/>
          <p:cNvCxnSpPr/>
          <p:nvPr/>
        </p:nvCxnSpPr>
        <p:spPr>
          <a:xfrm>
            <a:off x="285757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9" name="Google Shape;739;p22"/>
          <p:cNvCxnSpPr/>
          <p:nvPr/>
        </p:nvCxnSpPr>
        <p:spPr>
          <a:xfrm>
            <a:off x="314333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0" name="Google Shape;740;p22"/>
          <p:cNvCxnSpPr/>
          <p:nvPr/>
        </p:nvCxnSpPr>
        <p:spPr>
          <a:xfrm>
            <a:off x="3429091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1" name="Google Shape;741;p22"/>
          <p:cNvCxnSpPr/>
          <p:nvPr/>
        </p:nvCxnSpPr>
        <p:spPr>
          <a:xfrm>
            <a:off x="3714849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2" name="Google Shape;742;p22"/>
          <p:cNvCxnSpPr/>
          <p:nvPr/>
        </p:nvCxnSpPr>
        <p:spPr>
          <a:xfrm>
            <a:off x="4000607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3" name="Google Shape;743;p22"/>
          <p:cNvCxnSpPr/>
          <p:nvPr/>
        </p:nvCxnSpPr>
        <p:spPr>
          <a:xfrm>
            <a:off x="428636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4" name="Google Shape;744;p22"/>
          <p:cNvCxnSpPr/>
          <p:nvPr/>
        </p:nvCxnSpPr>
        <p:spPr>
          <a:xfrm>
            <a:off x="4572122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5" name="Google Shape;745;p22"/>
          <p:cNvCxnSpPr/>
          <p:nvPr/>
        </p:nvCxnSpPr>
        <p:spPr>
          <a:xfrm>
            <a:off x="4857879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6" name="Google Shape;746;p22"/>
          <p:cNvCxnSpPr/>
          <p:nvPr/>
        </p:nvCxnSpPr>
        <p:spPr>
          <a:xfrm>
            <a:off x="5143637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7" name="Google Shape;747;p22"/>
          <p:cNvCxnSpPr/>
          <p:nvPr/>
        </p:nvCxnSpPr>
        <p:spPr>
          <a:xfrm>
            <a:off x="5429395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8" name="Google Shape;748;p22"/>
          <p:cNvCxnSpPr/>
          <p:nvPr/>
        </p:nvCxnSpPr>
        <p:spPr>
          <a:xfrm>
            <a:off x="5715152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9" name="Google Shape;749;p22"/>
          <p:cNvCxnSpPr/>
          <p:nvPr/>
        </p:nvCxnSpPr>
        <p:spPr>
          <a:xfrm>
            <a:off x="6000910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0" name="Google Shape;750;p22"/>
          <p:cNvCxnSpPr/>
          <p:nvPr/>
        </p:nvCxnSpPr>
        <p:spPr>
          <a:xfrm>
            <a:off x="6286668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1" name="Google Shape;751;p22"/>
          <p:cNvCxnSpPr/>
          <p:nvPr/>
        </p:nvCxnSpPr>
        <p:spPr>
          <a:xfrm>
            <a:off x="6572425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2" name="Google Shape;752;p22"/>
          <p:cNvCxnSpPr/>
          <p:nvPr/>
        </p:nvCxnSpPr>
        <p:spPr>
          <a:xfrm>
            <a:off x="6858183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3" name="Google Shape;753;p22"/>
          <p:cNvCxnSpPr/>
          <p:nvPr/>
        </p:nvCxnSpPr>
        <p:spPr>
          <a:xfrm>
            <a:off x="7143940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4" name="Google Shape;754;p22"/>
          <p:cNvCxnSpPr/>
          <p:nvPr/>
        </p:nvCxnSpPr>
        <p:spPr>
          <a:xfrm>
            <a:off x="7429698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5" name="Google Shape;755;p22"/>
          <p:cNvCxnSpPr/>
          <p:nvPr/>
        </p:nvCxnSpPr>
        <p:spPr>
          <a:xfrm>
            <a:off x="771545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6" name="Google Shape;756;p22"/>
          <p:cNvCxnSpPr/>
          <p:nvPr/>
        </p:nvCxnSpPr>
        <p:spPr>
          <a:xfrm>
            <a:off x="8001213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7" name="Google Shape;757;p22"/>
          <p:cNvCxnSpPr/>
          <p:nvPr/>
        </p:nvCxnSpPr>
        <p:spPr>
          <a:xfrm>
            <a:off x="8286971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8" name="Google Shape;758;p22"/>
          <p:cNvCxnSpPr/>
          <p:nvPr/>
        </p:nvCxnSpPr>
        <p:spPr>
          <a:xfrm>
            <a:off x="8572729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9" name="Google Shape;759;p22"/>
          <p:cNvCxnSpPr/>
          <p:nvPr/>
        </p:nvCxnSpPr>
        <p:spPr>
          <a:xfrm>
            <a:off x="885848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0" name="Google Shape;760;p22"/>
          <p:cNvCxnSpPr/>
          <p:nvPr/>
        </p:nvCxnSpPr>
        <p:spPr>
          <a:xfrm>
            <a:off x="914424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1" name="Google Shape;761;p22"/>
          <p:cNvCxnSpPr/>
          <p:nvPr/>
        </p:nvCxnSpPr>
        <p:spPr>
          <a:xfrm>
            <a:off x="0" y="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2" name="Google Shape;762;p22"/>
          <p:cNvCxnSpPr/>
          <p:nvPr/>
        </p:nvCxnSpPr>
        <p:spPr>
          <a:xfrm>
            <a:off x="0" y="2857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3" name="Google Shape;763;p22"/>
          <p:cNvCxnSpPr/>
          <p:nvPr/>
        </p:nvCxnSpPr>
        <p:spPr>
          <a:xfrm>
            <a:off x="0" y="571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4" name="Google Shape;764;p22"/>
          <p:cNvCxnSpPr/>
          <p:nvPr/>
        </p:nvCxnSpPr>
        <p:spPr>
          <a:xfrm>
            <a:off x="0" y="8572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5" name="Google Shape;765;p22"/>
          <p:cNvCxnSpPr/>
          <p:nvPr/>
        </p:nvCxnSpPr>
        <p:spPr>
          <a:xfrm>
            <a:off x="0" y="11430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6" name="Google Shape;766;p22"/>
          <p:cNvCxnSpPr/>
          <p:nvPr/>
        </p:nvCxnSpPr>
        <p:spPr>
          <a:xfrm>
            <a:off x="0" y="14287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7" name="Google Shape;767;p22"/>
          <p:cNvCxnSpPr/>
          <p:nvPr/>
        </p:nvCxnSpPr>
        <p:spPr>
          <a:xfrm>
            <a:off x="0" y="1714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8" name="Google Shape;768;p22"/>
          <p:cNvCxnSpPr/>
          <p:nvPr/>
        </p:nvCxnSpPr>
        <p:spPr>
          <a:xfrm>
            <a:off x="0" y="20002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9" name="Google Shape;769;p22"/>
          <p:cNvCxnSpPr/>
          <p:nvPr/>
        </p:nvCxnSpPr>
        <p:spPr>
          <a:xfrm>
            <a:off x="0" y="22860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0" name="Google Shape;770;p22"/>
          <p:cNvCxnSpPr/>
          <p:nvPr/>
        </p:nvCxnSpPr>
        <p:spPr>
          <a:xfrm>
            <a:off x="0" y="25717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1" name="Google Shape;771;p22"/>
          <p:cNvCxnSpPr/>
          <p:nvPr/>
        </p:nvCxnSpPr>
        <p:spPr>
          <a:xfrm>
            <a:off x="0" y="2857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2" name="Google Shape;772;p22"/>
          <p:cNvCxnSpPr/>
          <p:nvPr/>
        </p:nvCxnSpPr>
        <p:spPr>
          <a:xfrm>
            <a:off x="0" y="31432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3" name="Google Shape;773;p22"/>
          <p:cNvCxnSpPr/>
          <p:nvPr/>
        </p:nvCxnSpPr>
        <p:spPr>
          <a:xfrm>
            <a:off x="0" y="34290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4" name="Google Shape;774;p22"/>
          <p:cNvCxnSpPr/>
          <p:nvPr/>
        </p:nvCxnSpPr>
        <p:spPr>
          <a:xfrm>
            <a:off x="0" y="37147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5" name="Google Shape;775;p22"/>
          <p:cNvCxnSpPr/>
          <p:nvPr/>
        </p:nvCxnSpPr>
        <p:spPr>
          <a:xfrm>
            <a:off x="0" y="4000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6" name="Google Shape;776;p22"/>
          <p:cNvCxnSpPr/>
          <p:nvPr/>
        </p:nvCxnSpPr>
        <p:spPr>
          <a:xfrm>
            <a:off x="0" y="42862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7" name="Google Shape;777;p22"/>
          <p:cNvCxnSpPr/>
          <p:nvPr/>
        </p:nvCxnSpPr>
        <p:spPr>
          <a:xfrm>
            <a:off x="0" y="45720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8" name="Google Shape;778;p22"/>
          <p:cNvCxnSpPr/>
          <p:nvPr/>
        </p:nvCxnSpPr>
        <p:spPr>
          <a:xfrm>
            <a:off x="0" y="5143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9" name="Google Shape;779;p22"/>
          <p:cNvSpPr txBox="1"/>
          <p:nvPr/>
        </p:nvSpPr>
        <p:spPr>
          <a:xfrm>
            <a:off x="113" y="977268"/>
            <a:ext cx="91440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8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R</a:t>
            </a:r>
            <a:r>
              <a:rPr b="1" lang="en" sz="2400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ed</a:t>
            </a:r>
            <a:r>
              <a:rPr b="1" i="0" lang="en" sz="24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G</a:t>
            </a:r>
            <a:r>
              <a:rPr b="1" lang="en" sz="2400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rid</a:t>
            </a:r>
            <a:endParaRPr i="0" sz="24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780" name="Google Shape;780;p22"/>
          <p:cNvSpPr txBox="1"/>
          <p:nvPr/>
        </p:nvSpPr>
        <p:spPr>
          <a:xfrm>
            <a:off x="113" y="1345928"/>
            <a:ext cx="9144000" cy="92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6200"/>
              <a:buFont typeface="Source Sans 3"/>
              <a:buNone/>
            </a:pPr>
            <a:r>
              <a:rPr b="1" i="0" lang="en" sz="6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Thank You</a:t>
            </a:r>
            <a:endParaRPr b="0" i="0" sz="6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22"/>
          <p:cNvSpPr txBox="1"/>
          <p:nvPr/>
        </p:nvSpPr>
        <p:spPr>
          <a:xfrm>
            <a:off x="0" y="2331720"/>
            <a:ext cx="9144015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FLOOR OPEN FOR QUESTIONS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22"/>
          <p:cNvSpPr/>
          <p:nvPr/>
        </p:nvSpPr>
        <p:spPr>
          <a:xfrm>
            <a:off x="571286" y="3806190"/>
            <a:ext cx="5075055" cy="905256"/>
          </a:xfrm>
          <a:prstGeom prst="roundRect">
            <a:avLst>
              <a:gd fmla="val 7576" name="adj"/>
            </a:avLst>
          </a:prstGeom>
          <a:solidFill>
            <a:srgbClr val="FFFFFF">
              <a:alpha val="65098"/>
            </a:srgbClr>
          </a:solidFill>
          <a:ln>
            <a:noFill/>
          </a:ln>
          <a:effectLst>
            <a:outerShdw blurRad="152400" rotWithShape="0" algn="bl" dir="5400000" dist="38100">
              <a:srgbClr val="000000">
                <a:alpha val="392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3" name="Google Shape;783;p22"/>
          <p:cNvSpPr/>
          <p:nvPr/>
        </p:nvSpPr>
        <p:spPr>
          <a:xfrm>
            <a:off x="571286" y="3806190"/>
            <a:ext cx="28576" cy="9052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22"/>
          <p:cNvSpPr txBox="1"/>
          <p:nvPr/>
        </p:nvSpPr>
        <p:spPr>
          <a:xfrm>
            <a:off x="742741" y="3915918"/>
            <a:ext cx="4800728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Playfair Display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Nishan Paul and Md Rakibur Rahman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22"/>
          <p:cNvSpPr txBox="1"/>
          <p:nvPr/>
        </p:nvSpPr>
        <p:spPr>
          <a:xfrm>
            <a:off x="742741" y="4190238"/>
            <a:ext cx="4800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5A6A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5A5A6A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UNIVERSITY OF DHAKA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22"/>
          <p:cNvSpPr txBox="1"/>
          <p:nvPr/>
        </p:nvSpPr>
        <p:spPr>
          <a:xfrm>
            <a:off x="742741" y="4347972"/>
            <a:ext cx="4800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5A6A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5A5A6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PROFESSIONAL MASTERS IN INFORMATION AND CYBER SECURITY (PMICS)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22"/>
          <p:cNvSpPr txBox="1"/>
          <p:nvPr/>
        </p:nvSpPr>
        <p:spPr>
          <a:xfrm>
            <a:off x="742741" y="4505706"/>
            <a:ext cx="4800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5A6A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5A5A6A"/>
                </a:solidFill>
                <a:latin typeface="IBM Plex Mono"/>
                <a:ea typeface="IBM Plex Mono"/>
                <a:cs typeface="IBM Plex Mono"/>
                <a:sym typeface="IBM Plex Mono"/>
              </a:rPr>
              <a:t>CSE 810: PROJECT ON CYBER SECURITY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88" name="Google Shape;788;p22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9" name="Google Shape;789;p22"/>
          <p:cNvSpPr/>
          <p:nvPr/>
        </p:nvSpPr>
        <p:spPr>
          <a:xfrm>
            <a:off x="0" y="5114925"/>
            <a:ext cx="8687032" cy="28575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22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22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p23"/>
          <p:cNvSpPr txBox="1"/>
          <p:nvPr/>
        </p:nvSpPr>
        <p:spPr>
          <a:xfrm>
            <a:off x="571500" y="314325"/>
            <a:ext cx="74295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Cambria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Key References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23"/>
          <p:cNvSpPr/>
          <p:nvPr/>
        </p:nvSpPr>
        <p:spPr>
          <a:xfrm>
            <a:off x="571500" y="728663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9" name="Google Shape;799;p23"/>
          <p:cNvSpPr/>
          <p:nvPr/>
        </p:nvSpPr>
        <p:spPr>
          <a:xfrm>
            <a:off x="571500" y="1030166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0" name="Google Shape;800;p23"/>
          <p:cNvSpPr txBox="1"/>
          <p:nvPr/>
        </p:nvSpPr>
        <p:spPr>
          <a:xfrm>
            <a:off x="685800" y="971550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Fang, R., Bindu, R., Gupta, A., Zhan, Q., &amp; Kang, D.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(2024)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LLM agents can autonomously hack websites.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arXiv:2402.06664.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AutoHack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1" name="Google Shape;801;p23"/>
          <p:cNvSpPr/>
          <p:nvPr/>
        </p:nvSpPr>
        <p:spPr>
          <a:xfrm>
            <a:off x="572200" y="1574340"/>
            <a:ext cx="49800" cy="498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2" name="Google Shape;802;p23"/>
          <p:cNvSpPr txBox="1"/>
          <p:nvPr/>
        </p:nvSpPr>
        <p:spPr>
          <a:xfrm>
            <a:off x="685750" y="1516300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Fang, R., Bindu, R., Gupta, A., &amp; Kang, D.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(2024)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LLM agents can autonomously exploit one-day vulnerabilities.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arXiv:2404.08144.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OneDay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3" name="Google Shape;803;p23"/>
          <p:cNvSpPr/>
          <p:nvPr/>
        </p:nvSpPr>
        <p:spPr>
          <a:xfrm>
            <a:off x="572200" y="2118047"/>
            <a:ext cx="49800" cy="498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4" name="Google Shape;804;p23"/>
          <p:cNvSpPr txBox="1"/>
          <p:nvPr/>
        </p:nvSpPr>
        <p:spPr>
          <a:xfrm>
            <a:off x="685750" y="2060975"/>
            <a:ext cx="3672000" cy="3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Zhu, Y., Kellermann, A., Gupta, A., Li, P., Fang, R.,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(2024)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Teams of LLM agents can exploit zero-day vulnerabilities.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arXiv:2406.01637.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HPTSA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5" name="Google Shape;805;p23"/>
          <p:cNvSpPr/>
          <p:nvPr/>
        </p:nvSpPr>
        <p:spPr>
          <a:xfrm>
            <a:off x="572200" y="2666931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23"/>
          <p:cNvSpPr txBox="1"/>
          <p:nvPr/>
        </p:nvSpPr>
        <p:spPr>
          <a:xfrm>
            <a:off x="685750" y="2608375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Deng, G.,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(2024)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PentestGPT: Evaluating and Harnessing Large Language Models for Automated Penetration Testing.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PentestGPT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7" name="Google Shape;807;p23"/>
          <p:cNvSpPr/>
          <p:nvPr/>
        </p:nvSpPr>
        <p:spPr>
          <a:xfrm>
            <a:off x="572200" y="3234268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8" name="Google Shape;808;p23"/>
          <p:cNvSpPr txBox="1"/>
          <p:nvPr/>
        </p:nvSpPr>
        <p:spPr>
          <a:xfrm>
            <a:off x="685750" y="3180800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Kong, L.,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VulnBot: Autonomous penetration testing for a multi-agent system.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VulnBot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9" name="Google Shape;809;p23"/>
          <p:cNvSpPr/>
          <p:nvPr/>
        </p:nvSpPr>
        <p:spPr>
          <a:xfrm>
            <a:off x="572200" y="3707085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0" name="Google Shape;810;p23"/>
          <p:cNvSpPr txBox="1"/>
          <p:nvPr/>
        </p:nvSpPr>
        <p:spPr>
          <a:xfrm>
            <a:off x="685750" y="3652288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Wang, J.,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Automated penetration testing with LLM agents and classical planning.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CHECKMATE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1" name="Google Shape;811;p23"/>
          <p:cNvSpPr/>
          <p:nvPr/>
        </p:nvSpPr>
        <p:spPr>
          <a:xfrm>
            <a:off x="572200" y="4179901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23"/>
          <p:cNvSpPr txBox="1"/>
          <p:nvPr/>
        </p:nvSpPr>
        <p:spPr>
          <a:xfrm>
            <a:off x="685750" y="4123775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Singer, J.,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Incalmo: An autonomous LLM-assisted system for red teaming.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Incalmo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3" name="Google Shape;813;p23"/>
          <p:cNvSpPr/>
          <p:nvPr/>
        </p:nvSpPr>
        <p:spPr>
          <a:xfrm>
            <a:off x="4786313" y="1030166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4" name="Google Shape;814;p23"/>
          <p:cNvSpPr txBox="1"/>
          <p:nvPr/>
        </p:nvSpPr>
        <p:spPr>
          <a:xfrm>
            <a:off x="4900613" y="971550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Liu, Z.,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PrediQL: Automated testing of GraphQL APIs with LLMs.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PrediQL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5" name="Google Shape;815;p23"/>
          <p:cNvSpPr/>
          <p:nvPr/>
        </p:nvSpPr>
        <p:spPr>
          <a:xfrm>
            <a:off x="4786313" y="1501653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6" name="Google Shape;816;p23"/>
          <p:cNvSpPr txBox="1"/>
          <p:nvPr/>
        </p:nvSpPr>
        <p:spPr>
          <a:xfrm>
            <a:off x="4900613" y="1443038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Zhu, Y.,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CVE-Bench: A Benchmark for AI Agents' Ability to Exploit Real-World Web Application Vulnerabilities.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CVE-Bench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7" name="Google Shape;817;p23"/>
          <p:cNvSpPr/>
          <p:nvPr/>
        </p:nvSpPr>
        <p:spPr>
          <a:xfrm>
            <a:off x="4786313" y="1973141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8" name="Google Shape;818;p23"/>
          <p:cNvSpPr txBox="1"/>
          <p:nvPr/>
        </p:nvSpPr>
        <p:spPr>
          <a:xfrm>
            <a:off x="4900613" y="1914525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Yang, K.,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PentestEval: Benchmarking LLM-based penetration testing.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PentestEval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9" name="Google Shape;819;p23"/>
          <p:cNvSpPr/>
          <p:nvPr/>
        </p:nvSpPr>
        <p:spPr>
          <a:xfrm>
            <a:off x="4786313" y="2436752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0" name="Google Shape;820;p23"/>
          <p:cNvSpPr txBox="1"/>
          <p:nvPr/>
        </p:nvSpPr>
        <p:spPr>
          <a:xfrm>
            <a:off x="4900613" y="2386013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Wang, L., Ma, C., Feng, X.,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A Survey on Large Language Model based Autonomous Agents.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AgentSurvey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21" name="Google Shape;821;p23"/>
          <p:cNvSpPr/>
          <p:nvPr/>
        </p:nvSpPr>
        <p:spPr>
          <a:xfrm>
            <a:off x="4786313" y="2916116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2" name="Google Shape;822;p23"/>
          <p:cNvSpPr txBox="1"/>
          <p:nvPr/>
        </p:nvSpPr>
        <p:spPr>
          <a:xfrm>
            <a:off x="4900613" y="2857500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Sheyner, O.,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(2002)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Automated generation and analysis of attack graphs.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IEEE S&amp;P.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VDG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23" name="Google Shape;823;p23"/>
          <p:cNvSpPr/>
          <p:nvPr/>
        </p:nvSpPr>
        <p:spPr>
          <a:xfrm>
            <a:off x="4786313" y="3387603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p23"/>
          <p:cNvSpPr txBox="1"/>
          <p:nvPr/>
        </p:nvSpPr>
        <p:spPr>
          <a:xfrm>
            <a:off x="4900613" y="3328988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Auer, P., Cesa-Bianchi, N., &amp; Fischer, P.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(2002)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Finite-time Analysis of the Multiarmed Bandit Problem.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Machine Learning, 47(2-3).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UCB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25" name="Google Shape;825;p23"/>
          <p:cNvSpPr/>
          <p:nvPr/>
        </p:nvSpPr>
        <p:spPr>
          <a:xfrm>
            <a:off x="4786313" y="3979802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" name="Google Shape;826;p23"/>
          <p:cNvSpPr txBox="1"/>
          <p:nvPr/>
        </p:nvSpPr>
        <p:spPr>
          <a:xfrm>
            <a:off x="4900613" y="3929063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Shinn, N.,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(2023)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Reflexion: Language agents with verbal reinforcement learning.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NeurIPS.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ADM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27" name="Google Shape;827;p23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" name="Google Shape;828;p23"/>
          <p:cNvSpPr/>
          <p:nvPr/>
        </p:nvSpPr>
        <p:spPr>
          <a:xfrm>
            <a:off x="0" y="4886203"/>
            <a:ext cx="9143700" cy="690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23"/>
          <p:cNvSpPr txBox="1"/>
          <p:nvPr/>
        </p:nvSpPr>
        <p:spPr>
          <a:xfrm>
            <a:off x="8286600" y="4886313"/>
            <a:ext cx="8574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21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i="0" sz="7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