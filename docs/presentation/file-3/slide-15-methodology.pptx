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7F4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62002" y="361951"/>
            <a:ext cx="9906032" cy="5524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A1A2E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How RedGrid Will Work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762002" y="981078"/>
            <a:ext cx="5448317" cy="28575"/>
          </a:xfrm>
          <a:prstGeom prst="rect">
            <a:avLst/>
          </a:prstGeom>
          <a:solidFill>
            <a:srgbClr val="8B1A1A"/>
          </a:solidFill>
          <a:ln/>
        </p:spPr>
      </p:sp>
      <p:sp>
        <p:nvSpPr>
          <p:cNvPr id="4" name="Shape 2"/>
          <p:cNvSpPr/>
          <p:nvPr/>
        </p:nvSpPr>
        <p:spPr>
          <a:xfrm>
            <a:off x="4572015" y="1905006"/>
            <a:ext cx="3048010" cy="2286007"/>
          </a:xfrm>
          <a:prstGeom prst="ellipse">
            <a:avLst/>
          </a:prstGeom>
          <a:ln w="15240">
            <a:solidFill>
              <a:srgbClr val="1A1A2E"/>
            </a:solidFill>
            <a:prstDash val="dash"/>
          </a:ln>
        </p:spPr>
      </p:sp>
      <p:sp>
        <p:nvSpPr>
          <p:cNvPr id="5" name="Shape 3"/>
          <p:cNvSpPr/>
          <p:nvPr/>
        </p:nvSpPr>
        <p:spPr>
          <a:xfrm>
            <a:off x="3238510" y="1238254"/>
            <a:ext cx="2667009" cy="1333504"/>
          </a:xfrm>
          <a:prstGeom prst="roundRect">
            <a:avLst>
              <a:gd name="adj" fmla="val 5486"/>
            </a:avLst>
          </a:prstGeom>
          <a:solidFill>
            <a:srgbClr val="EADAD5"/>
          </a:solidFill>
          <a:ln w="19050">
            <a:solidFill>
              <a:srgbClr val="8B1A1A"/>
            </a:solidFill>
            <a:prstDash val="solid"/>
          </a:ln>
          <a:effectLst>
            <a:outerShdw sx="100000" sy="100000" kx="0" ky="0" algn="bl" rotWithShape="0" blurRad="152400" dist="50800" dir="5400000">
              <a:srgbClr val="000000">
                <a:alpha val="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390911" y="1390654"/>
            <a:ext cx="266701" cy="266701"/>
          </a:xfrm>
          <a:prstGeom prst="ellipse">
            <a:avLst/>
          </a:prstGeom>
          <a:solidFill>
            <a:srgbClr val="FFFFFF"/>
          </a:solidFill>
          <a:ln w="15240">
            <a:solidFill>
              <a:srgbClr val="8B1A1A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3390911" y="1390654"/>
            <a:ext cx="266701" cy="26670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8B1A1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1</a:t>
            </a:r>
            <a:endParaRPr lang="en-US" sz="1200" dirty="0"/>
          </a:p>
        </p:txBody>
      </p:sp>
      <p:sp>
        <p:nvSpPr>
          <p:cNvPr id="8" name="Text 6"/>
          <p:cNvSpPr txBox="1"/>
          <p:nvPr/>
        </p:nvSpPr>
        <p:spPr>
          <a:xfrm>
            <a:off x="3752862" y="1390654"/>
            <a:ext cx="1905006" cy="26670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A1A2E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Recon</a:t>
            </a:r>
            <a:endParaRPr lang="en-US" sz="1800" dirty="0"/>
          </a:p>
        </p:txBody>
      </p:sp>
      <p:sp>
        <p:nvSpPr>
          <p:cNvPr id="9" name="Text 7"/>
          <p:cNvSpPr txBox="1"/>
          <p:nvPr/>
        </p:nvSpPr>
        <p:spPr>
          <a:xfrm>
            <a:off x="3429011" y="1771656"/>
            <a:ext cx="2286007" cy="6667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150" b="1" dirty="0">
                <a:solidFill>
                  <a:srgbClr val="4A4A5E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Scan the target. Build a picture of what’s there.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6286520" y="1238254"/>
            <a:ext cx="2667009" cy="1333504"/>
          </a:xfrm>
          <a:prstGeom prst="roundRect">
            <a:avLst>
              <a:gd name="adj" fmla="val 5486"/>
            </a:avLst>
          </a:prstGeom>
          <a:solidFill>
            <a:srgbClr val="DFE0E1"/>
          </a:solidFill>
          <a:ln w="19050">
            <a:solidFill>
              <a:srgbClr val="2E4A7A"/>
            </a:solidFill>
            <a:prstDash val="solid"/>
          </a:ln>
          <a:effectLst>
            <a:outerShdw sx="100000" sy="100000" kx="0" ky="0" algn="bl" rotWithShape="0" blurRad="152400" dist="50800" dir="5400000">
              <a:srgbClr val="000000">
                <a:alpha val="5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6438921" y="1390654"/>
            <a:ext cx="266701" cy="266701"/>
          </a:xfrm>
          <a:prstGeom prst="ellipse">
            <a:avLst/>
          </a:prstGeom>
          <a:solidFill>
            <a:srgbClr val="FFFFFF"/>
          </a:solidFill>
          <a:ln w="15240">
            <a:solidFill>
              <a:srgbClr val="2E4A7A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6438921" y="1390654"/>
            <a:ext cx="266701" cy="26670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E4A7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2</a:t>
            </a:r>
            <a:endParaRPr lang="en-US" sz="1200" dirty="0"/>
          </a:p>
        </p:txBody>
      </p:sp>
      <p:sp>
        <p:nvSpPr>
          <p:cNvPr id="13" name="Text 11"/>
          <p:cNvSpPr txBox="1"/>
          <p:nvPr/>
        </p:nvSpPr>
        <p:spPr>
          <a:xfrm>
            <a:off x="6800872" y="1390654"/>
            <a:ext cx="1905006" cy="26670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A1A2E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Plan</a:t>
            </a:r>
            <a:endParaRPr lang="en-US" sz="1800" dirty="0"/>
          </a:p>
        </p:txBody>
      </p:sp>
      <p:sp>
        <p:nvSpPr>
          <p:cNvPr id="14" name="Text 12"/>
          <p:cNvSpPr txBox="1"/>
          <p:nvPr/>
        </p:nvSpPr>
        <p:spPr>
          <a:xfrm>
            <a:off x="6477021" y="1771656"/>
            <a:ext cx="2286007" cy="6667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150" b="1" dirty="0">
                <a:solidFill>
                  <a:srgbClr val="4A4A5E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Decide what to attack next — using the dependency graph.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6286520" y="3524261"/>
            <a:ext cx="2667009" cy="1333504"/>
          </a:xfrm>
          <a:prstGeom prst="roundRect">
            <a:avLst>
              <a:gd name="adj" fmla="val 5486"/>
            </a:avLst>
          </a:prstGeom>
          <a:solidFill>
            <a:srgbClr val="EDE3D5"/>
          </a:solidFill>
          <a:ln w="19050">
            <a:solidFill>
              <a:srgbClr val="A0631A"/>
            </a:solidFill>
            <a:prstDash val="solid"/>
          </a:ln>
          <a:effectLst>
            <a:outerShdw sx="100000" sy="100000" kx="0" ky="0" algn="bl" rotWithShape="0" blurRad="152400" dist="50800" dir="5400000">
              <a:srgbClr val="000000">
                <a:alpha val="5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6438921" y="3676662"/>
            <a:ext cx="266701" cy="266701"/>
          </a:xfrm>
          <a:prstGeom prst="ellipse">
            <a:avLst/>
          </a:prstGeom>
          <a:solidFill>
            <a:srgbClr val="FFFFFF"/>
          </a:solidFill>
          <a:ln w="15240">
            <a:solidFill>
              <a:srgbClr val="A0631A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6438921" y="3676662"/>
            <a:ext cx="266701" cy="26670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A0631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3</a:t>
            </a:r>
            <a:endParaRPr lang="en-US" sz="1200" dirty="0"/>
          </a:p>
        </p:txBody>
      </p:sp>
      <p:sp>
        <p:nvSpPr>
          <p:cNvPr id="18" name="Text 16"/>
          <p:cNvSpPr txBox="1"/>
          <p:nvPr/>
        </p:nvSpPr>
        <p:spPr>
          <a:xfrm>
            <a:off x="6800872" y="3676662"/>
            <a:ext cx="1905006" cy="26670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A1A2E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Attack</a:t>
            </a:r>
            <a:endParaRPr lang="en-US" sz="1800" dirty="0"/>
          </a:p>
        </p:txBody>
      </p:sp>
      <p:sp>
        <p:nvSpPr>
          <p:cNvPr id="19" name="Text 17"/>
          <p:cNvSpPr txBox="1"/>
          <p:nvPr/>
        </p:nvSpPr>
        <p:spPr>
          <a:xfrm>
            <a:off x="6477021" y="4057663"/>
            <a:ext cx="2286007" cy="6667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150" b="1" dirty="0">
                <a:solidFill>
                  <a:srgbClr val="4A4A5E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Send in a specialist agent. Run the attempt.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3238510" y="3524261"/>
            <a:ext cx="2667009" cy="1333504"/>
          </a:xfrm>
          <a:prstGeom prst="roundRect">
            <a:avLst>
              <a:gd name="adj" fmla="val 5486"/>
            </a:avLst>
          </a:prstGeom>
          <a:solidFill>
            <a:srgbClr val="DEE4DA"/>
          </a:solidFill>
          <a:ln w="19050">
            <a:solidFill>
              <a:srgbClr val="2A6B3C"/>
            </a:solidFill>
            <a:prstDash val="solid"/>
          </a:ln>
          <a:effectLst>
            <a:outerShdw sx="100000" sy="100000" kx="0" ky="0" algn="bl" rotWithShape="0" blurRad="152400" dist="50800" dir="5400000">
              <a:srgbClr val="000000">
                <a:alpha val="5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3390911" y="3676662"/>
            <a:ext cx="266701" cy="266701"/>
          </a:xfrm>
          <a:prstGeom prst="ellipse">
            <a:avLst/>
          </a:prstGeom>
          <a:solidFill>
            <a:srgbClr val="FFFFFF"/>
          </a:solidFill>
          <a:ln w="15240">
            <a:solidFill>
              <a:srgbClr val="2A6B3C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3390911" y="3676662"/>
            <a:ext cx="266701" cy="26670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A6B3C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4</a:t>
            </a:r>
            <a:endParaRPr lang="en-US" sz="1200" dirty="0"/>
          </a:p>
        </p:txBody>
      </p:sp>
      <p:sp>
        <p:nvSpPr>
          <p:cNvPr id="23" name="Text 21"/>
          <p:cNvSpPr txBox="1"/>
          <p:nvPr/>
        </p:nvSpPr>
        <p:spPr>
          <a:xfrm>
            <a:off x="3752862" y="3676662"/>
            <a:ext cx="1905006" cy="26670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A1A2E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Learn</a:t>
            </a:r>
            <a:endParaRPr lang="en-US" sz="1800" dirty="0"/>
          </a:p>
        </p:txBody>
      </p:sp>
      <p:sp>
        <p:nvSpPr>
          <p:cNvPr id="24" name="Text 22"/>
          <p:cNvSpPr txBox="1"/>
          <p:nvPr/>
        </p:nvSpPr>
        <p:spPr>
          <a:xfrm>
            <a:off x="3429011" y="4057663"/>
            <a:ext cx="2286007" cy="6667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150" b="1" dirty="0">
                <a:solidFill>
                  <a:srgbClr val="4A4A5E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Did it work? Update the graph. Store the lesson. Repeat.</a:t>
            </a:r>
            <a:endParaRPr lang="en-US" sz="1150" dirty="0"/>
          </a:p>
        </p:txBody>
      </p:sp>
      <p:sp>
        <p:nvSpPr>
          <p:cNvPr id="25" name="Text 23"/>
          <p:cNvSpPr txBox="1"/>
          <p:nvPr/>
        </p:nvSpPr>
        <p:spPr>
          <a:xfrm>
            <a:off x="4762515" y="2762259"/>
            <a:ext cx="2667009" cy="5715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i="1" dirty="0">
                <a:solidFill>
                  <a:srgbClr val="1A1A2E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VDG drives the loop</a:t>
            </a:r>
            <a:endParaRPr lang="en-US" sz="1700" dirty="0"/>
          </a:p>
        </p:txBody>
      </p:sp>
      <p:sp>
        <p:nvSpPr>
          <p:cNvPr id="26" name="Shape 24"/>
          <p:cNvSpPr/>
          <p:nvPr/>
        </p:nvSpPr>
        <p:spPr>
          <a:xfrm rot="5400000">
            <a:off x="6000769" y="1809756"/>
            <a:ext cx="190501" cy="190501"/>
          </a:xfrm>
          <a:prstGeom prst="triangle">
            <a:avLst/>
          </a:prstGeom>
          <a:solidFill>
            <a:srgbClr val="1A1A2E"/>
          </a:solidFill>
          <a:ln/>
        </p:spPr>
      </p:sp>
      <p:sp>
        <p:nvSpPr>
          <p:cNvPr id="27" name="Shape 25"/>
          <p:cNvSpPr/>
          <p:nvPr/>
        </p:nvSpPr>
        <p:spPr>
          <a:xfrm rot="10800000">
            <a:off x="7524774" y="2952759"/>
            <a:ext cx="190501" cy="190501"/>
          </a:xfrm>
          <a:prstGeom prst="triangle">
            <a:avLst/>
          </a:prstGeom>
          <a:solidFill>
            <a:srgbClr val="1A1A2E"/>
          </a:solidFill>
          <a:ln/>
        </p:spPr>
      </p:sp>
      <p:sp>
        <p:nvSpPr>
          <p:cNvPr id="28" name="Shape 26"/>
          <p:cNvSpPr/>
          <p:nvPr/>
        </p:nvSpPr>
        <p:spPr>
          <a:xfrm rot="16200000">
            <a:off x="6000769" y="4095763"/>
            <a:ext cx="190501" cy="190501"/>
          </a:xfrm>
          <a:prstGeom prst="triangle">
            <a:avLst/>
          </a:prstGeom>
          <a:solidFill>
            <a:srgbClr val="1A1A2E"/>
          </a:solidFill>
          <a:ln/>
        </p:spPr>
      </p:sp>
      <p:sp>
        <p:nvSpPr>
          <p:cNvPr id="29" name="Shape 27"/>
          <p:cNvSpPr/>
          <p:nvPr/>
        </p:nvSpPr>
        <p:spPr>
          <a:xfrm>
            <a:off x="4476764" y="2952759"/>
            <a:ext cx="190501" cy="190501"/>
          </a:xfrm>
          <a:prstGeom prst="triangle">
            <a:avLst/>
          </a:prstGeom>
          <a:solidFill>
            <a:srgbClr val="1A1A2E"/>
          </a:solidFill>
          <a:ln/>
        </p:spPr>
      </p:sp>
      <p:sp>
        <p:nvSpPr>
          <p:cNvPr id="30" name="Text 28"/>
          <p:cNvSpPr txBox="1"/>
          <p:nvPr/>
        </p:nvSpPr>
        <p:spPr>
          <a:xfrm>
            <a:off x="762002" y="5238767"/>
            <a:ext cx="571502" cy="38100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E7D3C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01</a:t>
            </a:r>
            <a:endParaRPr lang="en-US" sz="2600" dirty="0"/>
          </a:p>
        </p:txBody>
      </p:sp>
      <p:sp>
        <p:nvSpPr>
          <p:cNvPr id="31" name="Text 29"/>
          <p:cNvSpPr txBox="1"/>
          <p:nvPr/>
        </p:nvSpPr>
        <p:spPr>
          <a:xfrm>
            <a:off x="1524005" y="5238767"/>
            <a:ext cx="4286264" cy="28575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A1A2E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Clean Slate per Attempt</a:t>
            </a:r>
            <a:endParaRPr lang="en-US" sz="1500" dirty="0"/>
          </a:p>
        </p:txBody>
      </p:sp>
      <p:sp>
        <p:nvSpPr>
          <p:cNvPr id="32" name="Text 30"/>
          <p:cNvSpPr txBox="1"/>
          <p:nvPr/>
        </p:nvSpPr>
        <p:spPr>
          <a:xfrm>
            <a:off x="1524005" y="5543568"/>
            <a:ext cx="4286264" cy="57150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050" dirty="0">
                <a:solidFill>
                  <a:srgbClr val="4A4A5E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Each attack attempt runs with fresh context — no leftover noise from previous steps.</a:t>
            </a:r>
            <a:endParaRPr lang="en-US" sz="1050" dirty="0"/>
          </a:p>
        </p:txBody>
      </p:sp>
      <p:sp>
        <p:nvSpPr>
          <p:cNvPr id="33" name="Text 31"/>
          <p:cNvSpPr txBox="1"/>
          <p:nvPr/>
        </p:nvSpPr>
        <p:spPr>
          <a:xfrm>
            <a:off x="6381770" y="5238767"/>
            <a:ext cx="571502" cy="38100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E7D3C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02</a:t>
            </a:r>
            <a:endParaRPr lang="en-US" sz="2600" dirty="0"/>
          </a:p>
        </p:txBody>
      </p:sp>
      <p:sp>
        <p:nvSpPr>
          <p:cNvPr id="34" name="Text 32"/>
          <p:cNvSpPr txBox="1"/>
          <p:nvPr/>
        </p:nvSpPr>
        <p:spPr>
          <a:xfrm>
            <a:off x="7143773" y="5238767"/>
            <a:ext cx="4286264" cy="28575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A1A2E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Facts vs. Guesses</a:t>
            </a:r>
            <a:endParaRPr lang="en-US" sz="1500" dirty="0"/>
          </a:p>
        </p:txBody>
      </p:sp>
      <p:sp>
        <p:nvSpPr>
          <p:cNvPr id="35" name="Text 33"/>
          <p:cNvSpPr txBox="1"/>
          <p:nvPr/>
        </p:nvSpPr>
        <p:spPr>
          <a:xfrm>
            <a:off x="7143773" y="5543568"/>
            <a:ext cx="4286264" cy="57150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050" dirty="0">
                <a:solidFill>
                  <a:srgbClr val="4A4A5E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What the agent confirmed is kept strictly separate from what it infers.</a:t>
            </a:r>
            <a:endParaRPr lang="en-US" sz="1050" dirty="0"/>
          </a:p>
        </p:txBody>
      </p:sp>
      <p:sp>
        <p:nvSpPr>
          <p:cNvPr id="36" name="Shape 34"/>
          <p:cNvSpPr/>
          <p:nvPr/>
        </p:nvSpPr>
        <p:spPr>
          <a:xfrm>
            <a:off x="0" y="6515121"/>
            <a:ext cx="12192039" cy="0"/>
          </a:xfrm>
          <a:prstGeom prst="line">
            <a:avLst/>
          </a:prstGeom>
          <a:noFill/>
          <a:ln w="9525">
            <a:solidFill>
              <a:srgbClr val="D4CFC8"/>
            </a:solidFill>
            <a:prstDash val="solid"/>
          </a:ln>
        </p:spPr>
      </p:sp>
      <p:sp>
        <p:nvSpPr>
          <p:cNvPr id="37" name="Text 35"/>
          <p:cNvSpPr txBox="1"/>
          <p:nvPr/>
        </p:nvSpPr>
        <p:spPr>
          <a:xfrm>
            <a:off x="762002" y="6667521"/>
            <a:ext cx="1428755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8B1A1A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REDGRID</a:t>
            </a:r>
            <a:endParaRPr lang="en-US" sz="800" dirty="0"/>
          </a:p>
        </p:txBody>
      </p:sp>
      <p:sp>
        <p:nvSpPr>
          <p:cNvPr id="38" name="Text 36"/>
          <p:cNvSpPr txBox="1"/>
          <p:nvPr/>
        </p:nvSpPr>
        <p:spPr>
          <a:xfrm>
            <a:off x="10477534" y="6667521"/>
            <a:ext cx="952503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9A9AA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15 / 20</a:t>
            </a:r>
            <a:endParaRPr lang="en-US" sz="950" dirty="0"/>
          </a:p>
        </p:txBody>
      </p:sp>
      <p:sp>
        <p:nvSpPr>
          <p:cNvPr id="39" name="Shape 37"/>
          <p:cNvSpPr/>
          <p:nvPr/>
        </p:nvSpPr>
        <p:spPr>
          <a:xfrm>
            <a:off x="0" y="6829447"/>
            <a:ext cx="8534427" cy="28575"/>
          </a:xfrm>
          <a:prstGeom prst="rect">
            <a:avLst/>
          </a:prstGeom>
          <a:solidFill>
            <a:srgbClr val="8B1A1A"/>
          </a:solidFill>
          <a:ln/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2026-09-03T14:36:46Z</dcterms:created>
  <dcterms:modified xsi:type="dcterms:W3CDTF">2026-09-03T14:36:46Z</dcterms:modified>
</cp:coreProperties>
</file>