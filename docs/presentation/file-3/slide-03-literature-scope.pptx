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2857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Literature We Surveyed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762000" y="809625"/>
            <a:ext cx="2619375" cy="28575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Shape 2"/>
          <p:cNvSpPr/>
          <p:nvPr/>
        </p:nvSpPr>
        <p:spPr>
          <a:xfrm>
            <a:off x="8286750" y="419100"/>
            <a:ext cx="3143250" cy="285750"/>
          </a:xfrm>
          <a:prstGeom prst="roundRect">
            <a:avLst>
              <a:gd name="adj" fmla="val 10000"/>
            </a:avLst>
          </a:prstGeom>
          <a:solidFill>
            <a:srgbClr val="F7F4EF"/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86750" y="41910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8" b="1" spc="60" kern="0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Papers · Focused Reading</a:t>
            </a:r>
            <a:endParaRPr lang="en-US" sz="938" dirty="0"/>
          </a:p>
        </p:txBody>
      </p:sp>
      <p:sp>
        <p:nvSpPr>
          <p:cNvPr id="6" name="Shape 4"/>
          <p:cNvSpPr/>
          <p:nvPr/>
        </p:nvSpPr>
        <p:spPr>
          <a:xfrm>
            <a:off x="7376160" y="933450"/>
            <a:ext cx="0" cy="542925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1390650"/>
            <a:ext cx="6233160" cy="0"/>
          </a:xfrm>
          <a:prstGeom prst="line">
            <a:avLst/>
          </a:prstGeom>
          <a:noFill/>
          <a:ln w="19050">
            <a:solidFill>
              <a:srgbClr val="1A1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1028700"/>
            <a:ext cx="266700" cy="266700"/>
          </a:xfrm>
          <a:prstGeom prst="ellipse">
            <a:avLst/>
          </a:prstGeom>
          <a:solidFill>
            <a:srgbClr val="2E4A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2000" y="102870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</a:t>
            </a:r>
            <a:endParaRPr lang="en-US" sz="975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028700"/>
            <a:ext cx="49949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40" kern="0" dirty="0">
                <a:solidFill>
                  <a:srgbClr val="2E4A7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AGENT SYSTEMS &amp; SURVEYS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137910" y="1028700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5" b="1" spc="50" kern="0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 PAPERS</a:t>
            </a:r>
            <a:endParaRPr lang="en-US" sz="825" dirty="0"/>
          </a:p>
        </p:txBody>
      </p:sp>
      <p:sp>
        <p:nvSpPr>
          <p:cNvPr id="12" name="Shape 10"/>
          <p:cNvSpPr/>
          <p:nvPr/>
        </p:nvSpPr>
        <p:spPr>
          <a:xfrm>
            <a:off x="7757160" y="1390650"/>
            <a:ext cx="3672840" cy="0"/>
          </a:xfrm>
          <a:prstGeom prst="line">
            <a:avLst/>
          </a:prstGeom>
          <a:noFill/>
          <a:ln w="19050">
            <a:solidFill>
              <a:srgbClr val="1A1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57160" y="1028700"/>
            <a:ext cx="266700" cy="266700"/>
          </a:xfrm>
          <a:prstGeom prst="ellipse">
            <a:avLst/>
          </a:prstGeom>
          <a:solidFill>
            <a:srgbClr val="A06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57160" y="102870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</a:t>
            </a:r>
            <a:endParaRPr lang="en-US" sz="975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1028700"/>
            <a:ext cx="24345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40" kern="0" dirty="0">
                <a:solidFill>
                  <a:srgbClr val="A063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BENCHMARKS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572750" y="1028700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5" b="1" spc="50" kern="0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PAPERS</a:t>
            </a:r>
            <a:endParaRPr lang="en-US" sz="825" dirty="0"/>
          </a:p>
        </p:txBody>
      </p:sp>
      <p:sp>
        <p:nvSpPr>
          <p:cNvPr id="17" name="Text 15"/>
          <p:cNvSpPr txBox="1"/>
          <p:nvPr/>
        </p:nvSpPr>
        <p:spPr>
          <a:xfrm>
            <a:off x="762000" y="139065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6800" y="139065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Fang 2024a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Fang et al., 2024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2876550" y="139065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GPT-4 successfully exploits real web vulnerabilities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762000" y="194310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194310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66800" y="194310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Fang 2024b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Fang et al., 2024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76550" y="194310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GPT-4 exploits one-day CVEs at 87% success with description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762000" y="249555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2000" y="249555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66800" y="249555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HPTSA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Zhu et al., 2024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2876550" y="249555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Hierarchical multi-agent system for zero-day CVEs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62000" y="304800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304800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6800" y="304800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PentestGPT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Deng et al., 2024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2876550" y="304800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Context loss is the dominant failure in long sessions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762000" y="360045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2000" y="360045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66800" y="360045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VulnBot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Kong et al., 2025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2876550" y="360045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Role-specialised multi-agent dispatch architecture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762000" y="415290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415290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66800" y="415290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CHECKMATE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Wang et al., 2025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2876550" y="415290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Classical planning integrated with LLM agent execution</a:t>
            </a:r>
            <a:endParaRPr lang="en-US" sz="1275" dirty="0"/>
          </a:p>
        </p:txBody>
      </p:sp>
      <p:sp>
        <p:nvSpPr>
          <p:cNvPr id="40" name="Shape 38"/>
          <p:cNvSpPr/>
          <p:nvPr/>
        </p:nvSpPr>
        <p:spPr>
          <a:xfrm>
            <a:off x="762000" y="470535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2000" y="470535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66800" y="470535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Incalmo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Singer et al., 2025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2876550" y="470535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Multi-host orchestration across Active Directory</a:t>
            </a:r>
            <a:endParaRPr lang="en-US" sz="1275" dirty="0"/>
          </a:p>
        </p:txBody>
      </p:sp>
      <p:sp>
        <p:nvSpPr>
          <p:cNvPr id="44" name="Shape 42"/>
          <p:cNvSpPr/>
          <p:nvPr/>
        </p:nvSpPr>
        <p:spPr>
          <a:xfrm>
            <a:off x="762000" y="525780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2000" y="525780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66800" y="525780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PrediQL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Liu et al., 2025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2876550" y="525780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Schema-aware LLM fuzzer for GraphQL APIs</a:t>
            </a:r>
            <a:endParaRPr lang="en-US" sz="1275" dirty="0"/>
          </a:p>
        </p:txBody>
      </p:sp>
      <p:sp>
        <p:nvSpPr>
          <p:cNvPr id="48" name="Shape 46"/>
          <p:cNvSpPr/>
          <p:nvPr/>
        </p:nvSpPr>
        <p:spPr>
          <a:xfrm>
            <a:off x="762000" y="5810250"/>
            <a:ext cx="623316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62000" y="5810250"/>
            <a:ext cx="304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A39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66800" y="5810250"/>
            <a:ext cx="169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Wang 2025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Wang et al., 2025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2876550" y="5810250"/>
            <a:ext cx="41186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General survey of LLM-based agent architectures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7757160" y="1390650"/>
            <a:ext cx="169545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25" b="1" dirty="0">
                <a:solidFill>
                  <a:srgbClr val="A063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CVE-Bench</a:t>
            </a:r>
            <a:endParaRPr lang="en-US" sz="1425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Zhu et al., 2025</a:t>
            </a:r>
            <a:endParaRPr lang="en-US" sz="1425" dirty="0"/>
          </a:p>
        </p:txBody>
      </p:sp>
      <p:sp>
        <p:nvSpPr>
          <p:cNvPr id="53" name="Text 51"/>
          <p:cNvSpPr txBox="1"/>
          <p:nvPr/>
        </p:nvSpPr>
        <p:spPr>
          <a:xfrm>
            <a:off x="9566910" y="1390650"/>
            <a:ext cx="186309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 critical web CVEs with oracle-backed evaluation</a:t>
            </a:r>
            <a:endParaRPr lang="en-US" sz="1275" dirty="0"/>
          </a:p>
        </p:txBody>
      </p:sp>
      <p:sp>
        <p:nvSpPr>
          <p:cNvPr id="54" name="Shape 52"/>
          <p:cNvSpPr/>
          <p:nvPr/>
        </p:nvSpPr>
        <p:spPr>
          <a:xfrm>
            <a:off x="7757160" y="2143125"/>
            <a:ext cx="3672840" cy="0"/>
          </a:xfrm>
          <a:prstGeom prst="line">
            <a:avLst/>
          </a:prstGeom>
          <a:noFill/>
          <a:ln w="9525">
            <a:solidFill>
              <a:srgbClr val="E8E4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57160" y="2143125"/>
            <a:ext cx="169545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25" b="1" dirty="0">
                <a:solidFill>
                  <a:srgbClr val="A063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PentestEval</a:t>
            </a:r>
            <a:endParaRPr lang="en-US" sz="1425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7A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Yang et al., 2025</a:t>
            </a:r>
            <a:endParaRPr lang="en-US" sz="1425" dirty="0"/>
          </a:p>
        </p:txBody>
      </p:sp>
      <p:sp>
        <p:nvSpPr>
          <p:cNvPr id="56" name="Text 54"/>
          <p:cNvSpPr txBox="1"/>
          <p:nvPr/>
        </p:nvSpPr>
        <p:spPr>
          <a:xfrm>
            <a:off x="9566910" y="2143125"/>
            <a:ext cx="186309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Stage-level breakdown of pipeline failure modes</a:t>
            </a:r>
            <a:endParaRPr lang="en-US" sz="1275" dirty="0"/>
          </a:p>
        </p:txBody>
      </p:sp>
      <p:sp>
        <p:nvSpPr>
          <p:cNvPr id="57" name="Shape 55"/>
          <p:cNvSpPr/>
          <p:nvPr/>
        </p:nvSpPr>
        <p:spPr>
          <a:xfrm>
            <a:off x="7757160" y="4686300"/>
            <a:ext cx="3672840" cy="167640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16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757160" y="4686300"/>
            <a:ext cx="3672840" cy="381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985760" y="4857750"/>
            <a:ext cx="3215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spc="180" kern="0" dirty="0">
                <a:solidFill>
                  <a:srgbClr val="8B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TAKEAWAY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7985760" y="5029200"/>
            <a:ext cx="321564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38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9 Agent Systems · 2 Benchmarks</a:t>
            </a:r>
            <a:endParaRPr lang="en-US" sz="1238" dirty="0"/>
          </a:p>
        </p:txBody>
      </p:sp>
      <p:sp>
        <p:nvSpPr>
          <p:cNvPr id="61" name="Text 59"/>
          <p:cNvSpPr txBox="1"/>
          <p:nvPr/>
        </p:nvSpPr>
        <p:spPr>
          <a:xfrm>
            <a:off x="7985760" y="5581650"/>
            <a:ext cx="321564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6B7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Benchmarks serve as the primary source for failure-mode analysis and motivate the research gap.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0" y="6515100"/>
            <a:ext cx="12192000" cy="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01250" y="66103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5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20</a:t>
            </a:r>
            <a:endParaRPr lang="en-US" sz="975" dirty="0"/>
          </a:p>
        </p:txBody>
      </p:sp>
      <p:sp>
        <p:nvSpPr>
          <p:cNvPr id="64" name="Shape 62"/>
          <p:cNvSpPr/>
          <p:nvPr/>
        </p:nvSpPr>
        <p:spPr>
          <a:xfrm>
            <a:off x="0" y="6829425"/>
            <a:ext cx="1219200" cy="28575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2026-09-03T07:45:33Z</dcterms:created>
  <dcterms:modified xsi:type="dcterms:W3CDTF">2026-09-03T07:45:33Z</dcterms:modified>
</cp:coreProperties>
</file>