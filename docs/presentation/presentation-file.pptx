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0F6FC"/>
                </a:solidFill>
                <a:latin typeface="Inter"/>
              </a:defRPr>
            </a:pPr>
            <a:r>
              <a:rPr sz="1200" b="0" i="0" u="none" strike="noStrike">
                <a:solidFill>
                  <a:srgbClr val="F0F6FC"/>
                </a:solidFill>
                <a:latin typeface="Inter"/>
              </a:rPr>
              <a:t>Exploration Failure Rate by Agent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Exploration failure %</c:v>
                </c:pt>
              </c:strCache>
            </c:strRef>
          </c:tx>
          <c:spPr>
            <a:solidFill>
              <a:srgbClr val="FF3B3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0F6F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T-Agent (0-day)</c:v>
                  </c:pt>
                  <c:pt idx="1">
                    <c:v>AutoGPT (0-day)</c:v>
                  </c:pt>
                  <c:pt idx="2">
                    <c:v>Cy-Agent (0-day)</c:v>
                  </c:pt>
                  <c:pt idx="3">
                    <c:v>T-Agent (1-day)</c:v>
                  </c:pt>
                  <c:pt idx="4">
                    <c:v>AutoGPT (1-day)</c:v>
                  </c:pt>
                  <c:pt idx="5">
                    <c:v>Cy-Agent (1-day)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80</c:v>
                </c:pt>
                <c:pt idx="1">
                  <c:v>72.5</c:v>
                </c:pt>
                <c:pt idx="2">
                  <c:v>67.5</c:v>
                </c:pt>
                <c:pt idx="3">
                  <c:v>55</c:v>
                </c:pt>
                <c:pt idx="4">
                  <c:v>45</c:v>
                </c:pt>
                <c:pt idx="5">
                  <c:v>37.5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F0F6F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8B949E"/>
                </a:solidFill>
                <a:latin typeface="JetBrains Mon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0"/>
        </c:scaling>
        <c:delete val="0"/>
        <c:axPos val="b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117"/>
        </a:solidFill>
        <a:ln w="12700" cap="flat">
          <a:solidFill>
            <a:srgbClr val="0D1117"/>
          </a:solidFill>
        </a:ln>
        <a:effectLst/>
      </c:spPr>
    </c:plotArea>
    <c:plotVisOnly val="1"/>
    <c:dispBlanksAs val="span"/>
  </c:chart>
  <c:spPr>
    <a:solidFill>
      <a:srgbClr val="0D111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MSc Thesis · Inception Stage · Sep 2026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0" y="2286000"/>
            <a:ext cx="121916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0F6F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RedGrid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703320"/>
            <a:ext cx="9448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Dependency-Constrained UCB Exploration for Autonomous Penetration Testing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952848" y="4297680"/>
            <a:ext cx="2286000" cy="0"/>
          </a:xfrm>
          <a:prstGeom prst="line">
            <a:avLst/>
          </a:prstGeom>
          <a:noFill/>
          <a:ln w="25400">
            <a:solidFill>
              <a:srgbClr val="FF3B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452628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[Author Names]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0" y="480060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[University Name] · Department of Computer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625535" y="608076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FF3B3B">
              <a:alpha val="12000"/>
            </a:srgbClr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25535" y="60807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3B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EARLY STAGE — INCEPTION REPORT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70" cy="2743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20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RedGrid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029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86868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F0F6F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Attackers move fast. Defenders move slow. Automated testers don't move at all.</a:t>
            </a:r>
            <a:endParaRPr lang="en-US" sz="2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860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vulnerabilities are found daily in web apps, APIs, and networks. Human pen testers are scarce and expensive. Automated scanners use fixed rule-sets — they can't reason, adapt, or chain exploits.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3520440"/>
            <a:ext cx="6400800" cy="1051560"/>
          </a:xfrm>
          <a:prstGeom prst="roundRect">
            <a:avLst>
              <a:gd name="adj" fmla="val 6957"/>
            </a:avLst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520440"/>
            <a:ext cx="6400800" cy="1051560"/>
          </a:xfrm>
          <a:prstGeom prst="roundRect">
            <a:avLst>
              <a:gd name="adj" fmla="val 5217"/>
            </a:avLst>
          </a:prstGeom>
          <a:solidFill>
            <a:srgbClr val="FFB347">
              <a:alpha val="8000"/>
            </a:srgbClr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61188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question: Can an LLM agent carry out penetration testing autonomously — without step-by-step human direction?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737360"/>
            <a:ext cx="3108960" cy="3108960"/>
          </a:xfrm>
          <a:prstGeom prst="ellipse">
            <a:avLst/>
          </a:prstGeom>
          <a:ln w="25400">
            <a:solidFill>
              <a:srgbClr val="FF3B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41080" y="2240280"/>
            <a:ext cx="2103120" cy="2103120"/>
          </a:xfrm>
          <a:prstGeom prst="ellipse">
            <a:avLst/>
          </a:prstGeom>
          <a:ln w="25400">
            <a:solidFill>
              <a:srgbClr val="FF3B3B">
                <a:alpha val="8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0" y="2743200"/>
            <a:ext cx="1097280" cy="1097280"/>
          </a:xfrm>
          <a:prstGeom prst="ellipse">
            <a:avLst/>
          </a:prstGeom>
          <a:ln w="25400">
            <a:solidFill>
              <a:srgbClr val="FF3B3B">
                <a:alpha val="7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3236976"/>
            <a:ext cx="109728" cy="109728"/>
          </a:xfrm>
          <a:prstGeom prst="ellipse">
            <a:avLst/>
          </a:prstGeom>
          <a:solidFill>
            <a:srgbClr val="FF3B3B"/>
          </a:solidFill>
          <a:ln/>
        </p:spPr>
      </p:sp>
      <p:sp>
        <p:nvSpPr>
          <p:cNvPr id="16" name="Shape 14"/>
          <p:cNvSpPr/>
          <p:nvPr/>
        </p:nvSpPr>
        <p:spPr>
          <a:xfrm rot="10800000">
            <a:off x="8503920" y="1463040"/>
            <a:ext cx="365760" cy="384048"/>
          </a:xfrm>
          <a:prstGeom prst="pentagon">
            <a:avLst/>
          </a:prstGeom>
          <a:ln w="1778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10800000">
            <a:off x="10698480" y="1280160"/>
            <a:ext cx="365760" cy="384048"/>
          </a:xfrm>
          <a:prstGeom prst="pentagon">
            <a:avLst/>
          </a:prstGeom>
          <a:ln w="1778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10800000">
            <a:off x="10881360" y="4846320"/>
            <a:ext cx="365760" cy="384048"/>
          </a:xfrm>
          <a:prstGeom prst="pentagon">
            <a:avLst/>
          </a:prstGeom>
          <a:ln w="1778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10800000">
            <a:off x="8321040" y="4846320"/>
            <a:ext cx="365760" cy="384048"/>
          </a:xfrm>
          <a:prstGeom prst="pentagon">
            <a:avLst/>
          </a:prstGeom>
          <a:ln w="17780">
            <a:solidFill>
              <a:srgbClr val="00D4FF">
                <a:alpha val="7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754" cy="2743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20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RedGrid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Literature We Surveyed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7772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papers · Focused reading · Sep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26958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1325880"/>
            <a:ext cx="247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Fang et al. 2024a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1618488"/>
            <a:ext cx="2476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Foundational: GPT-4 hacks websites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" y="2103120"/>
            <a:ext cx="2055800" cy="292608"/>
          </a:xfrm>
          <a:prstGeom prst="roundRect">
            <a:avLst>
              <a:gd name="adj" fmla="val 50000"/>
            </a:avLst>
          </a:prstGeom>
          <a:solidFill>
            <a:srgbClr val="FFB347">
              <a:alpha val="12000"/>
            </a:srgbClr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2103120"/>
            <a:ext cx="205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B3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CVEs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17672" y="1234440"/>
            <a:ext cx="26958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27400" y="1325880"/>
            <a:ext cx="247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Fang et al. 2024b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427400" y="1618488"/>
            <a:ext cx="2476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GPT-4 exploits one-day CVEs (87%)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27400" y="2103120"/>
            <a:ext cx="2055800" cy="292608"/>
          </a:xfrm>
          <a:prstGeom prst="roundRect">
            <a:avLst>
              <a:gd name="adj" fmla="val 50000"/>
            </a:avLst>
          </a:prstGeom>
          <a:solidFill>
            <a:srgbClr val="FFB347">
              <a:alpha val="12000"/>
            </a:srgbClr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27400" y="2103120"/>
            <a:ext cx="205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B3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87%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78144" y="1234440"/>
            <a:ext cx="26958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87872" y="1325880"/>
            <a:ext cx="247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HPTSA (Zhu 2024)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287872" y="1618488"/>
            <a:ext cx="2476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Hierarchical multi-agent, zero-day CVEs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87872" y="2103120"/>
            <a:ext cx="2055800" cy="292608"/>
          </a:xfrm>
          <a:prstGeom prst="roundRect">
            <a:avLst>
              <a:gd name="adj" fmla="val 50000"/>
            </a:avLst>
          </a:prstGeom>
          <a:solidFill>
            <a:srgbClr val="FFB347">
              <a:alpha val="12000"/>
            </a:srgbClr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87872" y="2103120"/>
            <a:ext cx="205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B3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 CVEs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038615" y="1234440"/>
            <a:ext cx="26958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8343" y="1325880"/>
            <a:ext cx="247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PentestGPT (Deng 2024)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9148343" y="1618488"/>
            <a:ext cx="2476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Context-loss failure mode identified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8343" y="2103120"/>
            <a:ext cx="2055800" cy="292608"/>
          </a:xfrm>
          <a:prstGeom prst="roundRect">
            <a:avLst>
              <a:gd name="adj" fmla="val 50000"/>
            </a:avLst>
          </a:prstGeom>
          <a:solidFill>
            <a:srgbClr val="FFB347">
              <a:alpha val="12000"/>
            </a:srgbClr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48343" y="2103120"/>
            <a:ext cx="205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B3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HTB/VulnHub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2633472"/>
            <a:ext cx="26958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66928" y="2724912"/>
            <a:ext cx="247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VulnBot (Kong 2025)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3017520"/>
            <a:ext cx="2476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Role-specialised multi-agent dispatch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6928" y="3502152"/>
            <a:ext cx="2055800" cy="292608"/>
          </a:xfrm>
          <a:prstGeom prst="roundRect">
            <a:avLst>
              <a:gd name="adj" fmla="val 50000"/>
            </a:avLst>
          </a:prstGeom>
          <a:solidFill>
            <a:srgbClr val="FFB347">
              <a:alpha val="12000"/>
            </a:srgbClr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66928" y="3502152"/>
            <a:ext cx="205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B3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HTB-style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317672" y="2633472"/>
            <a:ext cx="26958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427400" y="2724912"/>
            <a:ext cx="247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CHECKMATE (Wang 2025)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3427400" y="3017520"/>
            <a:ext cx="2476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Classical planning + LLM agents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427400" y="3502152"/>
            <a:ext cx="2055800" cy="292608"/>
          </a:xfrm>
          <a:prstGeom prst="roundRect">
            <a:avLst>
              <a:gd name="adj" fmla="val 50000"/>
            </a:avLst>
          </a:prstGeom>
          <a:solidFill>
            <a:srgbClr val="FFB347">
              <a:alpha val="12000"/>
            </a:srgbClr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427400" y="3502152"/>
            <a:ext cx="205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B3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Curated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78144" y="2633472"/>
            <a:ext cx="26958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287872" y="2724912"/>
            <a:ext cx="247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Incalmo (Singer 2025)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6287872" y="3017520"/>
            <a:ext cx="2476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Multi-host / Active Directory red team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87872" y="3502152"/>
            <a:ext cx="2055800" cy="292608"/>
          </a:xfrm>
          <a:prstGeom prst="roundRect">
            <a:avLst>
              <a:gd name="adj" fmla="val 50000"/>
            </a:avLst>
          </a:prstGeom>
          <a:solidFill>
            <a:srgbClr val="FFB347">
              <a:alpha val="12000"/>
            </a:srgbClr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287872" y="3502152"/>
            <a:ext cx="205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B3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MHBench 40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9038615" y="2633472"/>
            <a:ext cx="26958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148343" y="2724912"/>
            <a:ext cx="247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PrediQL (Liu 2025)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9148343" y="3017520"/>
            <a:ext cx="2476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GraphQL schema-aware LLM fuzzer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148343" y="3502152"/>
            <a:ext cx="2055800" cy="292608"/>
          </a:xfrm>
          <a:prstGeom prst="roundRect">
            <a:avLst>
              <a:gd name="adj" fmla="val 50000"/>
            </a:avLst>
          </a:prstGeom>
          <a:solidFill>
            <a:srgbClr val="FFB347">
              <a:alpha val="12000"/>
            </a:srgbClr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148343" y="3502152"/>
            <a:ext cx="205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B3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 APIs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57200" y="4032504"/>
            <a:ext cx="26958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66928" y="4123944"/>
            <a:ext cx="247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CVE-Bench (Zhu 2025)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566928" y="4416552"/>
            <a:ext cx="2476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 critical web CVEs, oracle-backed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66928" y="4901184"/>
            <a:ext cx="2055800" cy="292608"/>
          </a:xfrm>
          <a:prstGeom prst="roundRect">
            <a:avLst>
              <a:gd name="adj" fmla="val 50000"/>
            </a:avLst>
          </a:prstGeom>
          <a:solidFill>
            <a:srgbClr val="FFB347">
              <a:alpha val="12000"/>
            </a:srgbClr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66928" y="4901184"/>
            <a:ext cx="205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B3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Benchmark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317672" y="4032504"/>
            <a:ext cx="26958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3427400" y="4123944"/>
            <a:ext cx="247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PentestEval (Yang 2025)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3427400" y="4416552"/>
            <a:ext cx="2476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Stage-level pipeline breakdown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427400" y="4901184"/>
            <a:ext cx="2055800" cy="292608"/>
          </a:xfrm>
          <a:prstGeom prst="roundRect">
            <a:avLst>
              <a:gd name="adj" fmla="val 50000"/>
            </a:avLst>
          </a:prstGeom>
          <a:solidFill>
            <a:srgbClr val="FFB347">
              <a:alpha val="12000"/>
            </a:srgbClr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3427400" y="4901184"/>
            <a:ext cx="205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B3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346 tasks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178144" y="4032504"/>
            <a:ext cx="26958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287872" y="4123944"/>
            <a:ext cx="247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Wang et al. 2025</a:t>
            </a:r>
            <a:endParaRPr lang="en-US" sz="1050" dirty="0"/>
          </a:p>
        </p:txBody>
      </p:sp>
      <p:sp>
        <p:nvSpPr>
          <p:cNvPr id="60" name="Text 58"/>
          <p:cNvSpPr txBox="1"/>
          <p:nvPr/>
        </p:nvSpPr>
        <p:spPr>
          <a:xfrm>
            <a:off x="6287872" y="4416552"/>
            <a:ext cx="2476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 LLM agent survey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287872" y="4901184"/>
            <a:ext cx="2055800" cy="292608"/>
          </a:xfrm>
          <a:prstGeom prst="roundRect">
            <a:avLst>
              <a:gd name="adj" fmla="val 50000"/>
            </a:avLst>
          </a:prstGeom>
          <a:solidFill>
            <a:srgbClr val="FFB347">
              <a:alpha val="12000"/>
            </a:srgbClr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287872" y="4901184"/>
            <a:ext cx="205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B3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Survey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438339" cy="2743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20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RedGrid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5720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THE LITERATURE AGREES ON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777240"/>
            <a:ext cx="10728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Architecture, not model scale, is the dominant variable.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554480"/>
            <a:ext cx="99971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independent papers confirm: a well-structured pipeline with a cheap model beats an unstructured ReAct loop with a frontier model — AWE, AutoPT, VulnBot, PentestGPT, D-CIPHER, Incalmo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2331720"/>
          <a:ext cx="9448495" cy="3017520"/>
        </p:xfrm>
        <a:graphic>
          <a:graphicData uri="http://schemas.openxmlformats.org/drawingml/2006/table">
            <a:tbl>
              <a:tblPr/>
              <a:tblGrid>
                <a:gridCol w="4724248"/>
                <a:gridCol w="472424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3B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Unstructured ReAct + GPT-4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B3B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D4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Structured Pipeline + GPT-4o-mini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>
                        <a:alpha val="10000"/>
                      </a:srgbClr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0F6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Depth-first tunnel vision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B3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0F6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Broad, structured exploration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>
                        <a:alpha val="5000"/>
                      </a:srgbClr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0F6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Context loss in long sessions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B3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0F6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Scoped per-invocation context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>
                        <a:alpha val="5000"/>
                      </a:srgbClr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0F6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 failure recovery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B3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0F6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Retry / adapt / escalate loops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>
                        <a:alpha val="5000"/>
                      </a:srgbClr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0F6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Implicit planning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B3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0F6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Explicit dependency modeling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>
                        <a:alpha val="5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047924" cy="2743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20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RedGrid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0F6F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Failure Mode 1 — Insufficient Exploration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CVE-BENCH · 40 CRITICAL WEB CVES (CVSS 9.0+)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28016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0F6F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Even the best agent exploits only 13% (one-day) / 10% (zero-day).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5212080" cy="1051560"/>
          </a:xfrm>
          <a:prstGeom prst="roundRect">
            <a:avLst>
              <a:gd name="adj" fmla="val 4348"/>
            </a:avLst>
          </a:prstGeom>
          <a:solidFill>
            <a:srgbClr val="FF3B3B">
              <a:alpha val="8000"/>
            </a:srgbClr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35915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dominant failure is not reasoning quality — it's breadth of search. Agents commit early to a narrow attack path and never come back.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5204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37.5%–80% failure rates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a smarter model problem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CVE-Bench Table 5 documents this</a:t>
            </a:r>
            <a:endParaRPr lang="en-US" sz="11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943600" y="1051560"/>
          <a:ext cx="57607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5943600" y="53492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Source: CVE-Bench (Zhu et al. 2025), Table 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657509" cy="2743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20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RedGrid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Failure Mode 2 — The Dependency-Reasoning Gap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3211373"/>
            <a:ext cx="1051560" cy="1360627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918765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0.31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64515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SMP</a:t>
            </a:r>
            <a:endParaRPr lang="en-US" sz="9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20240" y="2377440"/>
            <a:ext cx="1051560" cy="21945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920240" y="20848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0.50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184708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+0.19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464515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GT Weakness</a:t>
            </a:r>
            <a:endParaRPr lang="en-US" sz="9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Gathering (WG)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2245766"/>
            <a:ext cx="1051560" cy="232623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291840" y="195315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0.53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171541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+0.03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200400" y="464515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GT Weakness</a:t>
            </a:r>
            <a:endParaRPr lang="en-US" sz="9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Filtering (WF)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1631290"/>
            <a:ext cx="1051560" cy="2940710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663440" y="133868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0.67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110093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B3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+0.14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464515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GT Attack</a:t>
            </a:r>
            <a:endParaRPr lang="en-US" sz="9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Decision-Making (ADM)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4572000"/>
            <a:ext cx="54864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389120" y="5029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B3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 Largest single-stage gain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1663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Source: PentestEval (Yang et al. 2025)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11887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PENTESTEVAL · 12 REAL-WORLD SCENARIOS · 346 TASKS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150876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6F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Attack Decision-Making (ADM) is the single weakest stage — Spearman rho = 0.25.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246888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 is the stage where an agent decides which discovered weakness to pursue next, given what has already been confirmed.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92240" y="3246120"/>
            <a:ext cx="5212080" cy="1051560"/>
          </a:xfrm>
          <a:prstGeom prst="roundRect">
            <a:avLst>
              <a:gd name="adj" fmla="val 4348"/>
            </a:avLst>
          </a:prstGeom>
          <a:solidFill>
            <a:srgbClr val="00D4FF">
              <a:alpha val="8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75120" y="3310128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Ground-truth ADM injection adds +0.14 on top of already-perfect weakness discovery — the largest marginal gain available. No existing system closes it.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492240" y="44805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 system-grown dependency structure has a realistic ceiling below 0.67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267093" cy="2743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20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RedGrid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6576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Gap No System Has Closed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4206240" cy="3291840"/>
          </a:xfrm>
          <a:prstGeom prst="roundRect">
            <a:avLst>
              <a:gd name="adj" fmla="val 222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17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Wide Exploration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737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HPTSA · VulnBot · T-Agent · AutoGPT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286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286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Finds many candidate weaknesses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788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2788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prerequisite/dependency model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2918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291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Flat task dispatch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63440" y="1234440"/>
            <a:ext cx="2468880" cy="3291840"/>
          </a:xfrm>
          <a:prstGeom prst="roundRect">
            <a:avLst>
              <a:gd name="adj" fmla="val 1852"/>
            </a:avLst>
          </a:prstGeom>
          <a:solidFill>
            <a:srgbClr val="FFB347">
              <a:alpha val="10000"/>
            </a:srgbClr>
          </a:solidFill>
          <a:ln w="12700">
            <a:solidFill>
              <a:srgbClr val="FFB347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4754880" y="2468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347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UNEXPLORED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B347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TERRITORY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3108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compound gap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132320" y="1234440"/>
            <a:ext cx="4206240" cy="3291840"/>
          </a:xfrm>
          <a:prstGeom prst="roundRect">
            <a:avLst>
              <a:gd name="adj" fmla="val 222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60920" y="1417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Dependency Reasoning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360920" y="1737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CHECKMATE · PentestEval SMP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2286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0" y="2286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Explicit prerequisite modeling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360920" y="2788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680960" y="2788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Requires pre-enumerated weakness sets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360920" y="32918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680960" y="3291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Does not scale to open-ended discovery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475488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3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system combines open-ended exploration WITH dynamic dependency-aware planning. RedGrid investigates this combination.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876678" cy="2743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20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RedGrid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0F6F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Prior System Comparison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7772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Four dimensions that matter most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7295" cy="4572000"/>
        </p:xfrm>
        <a:graphic>
          <a:graphicData uri="http://schemas.openxmlformats.org/drawingml/2006/table">
            <a:tbl>
              <a:tblPr/>
              <a:tblGrid>
                <a:gridCol w="2011680"/>
                <a:gridCol w="2651760"/>
                <a:gridCol w="2194560"/>
                <a:gridCol w="196596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B949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System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B949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Architecture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B949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Dependency Modeling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B949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Cross-Session Memory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B949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Benchmark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6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Fang et al. 2024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6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Single agent (ReAct)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514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None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514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None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6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 CVEs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6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HPTSA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6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Hierarchical planner+tasks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B34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Flat dispatch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514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None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6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14 zero-day CVEs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6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PentestGPT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6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Split reasoning/parsing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B34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Implicit (LLM only)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514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None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6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HTB/VulnHub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6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VulnBot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6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Multi-agent, role-specialised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B34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Flat dispatch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514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None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6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HTB-style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6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CHECKMATE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6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Agent + classical planner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FB95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Explicit, pre-enumerated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514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None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6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Curated only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6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Incalmo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6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Multi-host orchestration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B34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Partial (host/cred)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514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None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6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MHBench (40)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6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PrediQL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6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LLM-guided fuzzer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B34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Schema-derived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514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None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6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 GraphQL APIs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RedGrid (proposed)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6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4-layer multi-agent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FB95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Dynamic VDG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FB95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3-tier memory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6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Web+GraphQL+Multi-host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>
                        <a:alpha val="1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Preliminary reading — 11-paper focused review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263" cy="2743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20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RedGrid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Research Gap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54864" cy="1737360"/>
          </a:xfrm>
          <a:prstGeom prst="rect">
            <a:avLst/>
          </a:prstGeom>
          <a:solidFill>
            <a:srgbClr val="FF3B3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143000"/>
            <a:ext cx="1082009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0F6F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reviewed literature does not contain a system that combines:
</a:t>
            </a:r>
            <a:endParaRPr lang="en-US" sz="17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(1) </a:t>
            </a:r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0F6F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broad, open-ended exploration of an unfamiliar attack surface
</a:t>
            </a:r>
            <a:endParaRPr lang="en-US" sz="17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(2) </a:t>
            </a:r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0F6F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with an explicit, dynamically constructed dependency model
</a:t>
            </a:r>
            <a:endParaRPr lang="en-US" sz="17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(3) </a:t>
            </a:r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0F6F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evaluated across more than one benchmarked attack-surface family.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3576218" cy="1417320"/>
          </a:xfrm>
          <a:prstGeom prst="roundRect">
            <a:avLst>
              <a:gd name="adj" fmla="val 516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200400"/>
            <a:ext cx="32104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B347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Exploration gap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56616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CVE-Bench: insufficient exploration = dominant failure (37–80%)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07738" y="3063240"/>
            <a:ext cx="3576218" cy="1417320"/>
          </a:xfrm>
          <a:prstGeom prst="roundRect">
            <a:avLst>
              <a:gd name="adj" fmla="val 516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90618" y="3200400"/>
            <a:ext cx="32104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B347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Planning gap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490618" y="356616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PentestEval: ADM is weakest stage, Spearman rho = 0.25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58277" y="3063240"/>
            <a:ext cx="3576218" cy="1417320"/>
          </a:xfrm>
          <a:prstGeom prst="roundRect">
            <a:avLst>
              <a:gd name="adj" fmla="val 516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41157" y="3200400"/>
            <a:ext cx="32104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B347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Coverage gap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8341157" y="356616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prior system evaluated on ONE surface only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8006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B3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the gap RedGrid is designed to investigate.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52120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hypothesis at early thesis stage — not a finalized claim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095848" cy="2743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20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RedGrid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0F6F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Introducing RedGrid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887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RedGrid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965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Dependency-Constrained UCB Exploration for Autonomous Penetration Testing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679192"/>
            <a:ext cx="82296" cy="8229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6060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VDG: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vulnerabilities as a graph with prerequisite edges, not a flat list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3273552"/>
            <a:ext cx="82296" cy="8229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32004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UCB: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 exploration with Upper Confidence Bound over dependency-constrained frontier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67912"/>
            <a:ext cx="82296" cy="8229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79476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Memory: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Retain and reuse strategies across missions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4617720"/>
            <a:ext cx="4846320" cy="292608"/>
          </a:xfrm>
          <a:prstGeom prst="roundRect">
            <a:avLst>
              <a:gd name="adj" fmla="val 50000"/>
            </a:avLst>
          </a:prstGeom>
          <a:solidFill>
            <a:srgbClr val="FFB347">
              <a:alpha val="12000"/>
            </a:srgbClr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46177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B3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Early stage — direction under active investigation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0" y="1737360"/>
            <a:ext cx="1188720" cy="822960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15200" y="3383280"/>
            <a:ext cx="1188720" cy="-8229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778240" y="2606040"/>
            <a:ext cx="1097280" cy="0"/>
          </a:xfrm>
          <a:prstGeom prst="line">
            <a:avLst/>
          </a:prstGeom>
          <a:noFill/>
          <a:ln w="19050">
            <a:solidFill>
              <a:srgbClr val="FFB347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931152" y="1353312"/>
            <a:ext cx="768096" cy="768096"/>
          </a:xfrm>
          <a:prstGeom prst="ellipse">
            <a:avLst/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31152" y="1591056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SQLi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931152" y="1792224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ELIGIBLE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931152" y="2999232"/>
            <a:ext cx="768096" cy="768096"/>
          </a:xfrm>
          <a:prstGeom prst="ellipse">
            <a:avLst/>
          </a:prstGeom>
          <a:solidFill>
            <a:srgbClr val="161B22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31152" y="3236976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XSS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931152" y="3438144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ELIGIBLE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8357616" y="2185416"/>
            <a:ext cx="841248" cy="841248"/>
          </a:xfrm>
          <a:prstGeom prst="ellipse">
            <a:avLst/>
          </a:prstGeom>
          <a:solidFill>
            <a:srgbClr val="161B22"/>
          </a:solidFill>
          <a:ln w="25400">
            <a:solidFill>
              <a:srgbClr val="FFB34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57616" y="245973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 Bypass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357616" y="2660904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B3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IN_PROGRESS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0040112" y="2221992"/>
            <a:ext cx="768096" cy="768096"/>
          </a:xfrm>
          <a:prstGeom prst="ellipse">
            <a:avLst/>
          </a:prstGeom>
          <a:solidFill>
            <a:srgbClr val="161B22"/>
          </a:solidFill>
          <a:ln w="25400">
            <a:solidFill>
              <a:srgbClr val="8B949E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10040112" y="2459736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RCE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0040112" y="2660904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BLOCKED</a:t>
            </a:r>
            <a:endParaRPr lang="en-US" sz="750" dirty="0"/>
          </a:p>
        </p:txBody>
      </p:sp>
      <p:sp>
        <p:nvSpPr>
          <p:cNvPr id="32" name="Text 30"/>
          <p:cNvSpPr txBox="1"/>
          <p:nvPr/>
        </p:nvSpPr>
        <p:spPr>
          <a:xfrm>
            <a:off x="6675120" y="4206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Vulnerability Dependency Graph (VDG) — conceptual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705432" cy="2743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/ 20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RedGrid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0F6F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Research Objectives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7772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 working goals — under active investigation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5547208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371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371600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VDG Formalization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1691640"/>
            <a:ext cx="467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Investigate whether a prerequisite-edge graph improves agent exploration over a flat priority list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87288" y="1234440"/>
            <a:ext cx="5547208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24448" y="1371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873088" y="1371600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Dual-Layer World Model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873088" y="1691640"/>
            <a:ext cx="467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Separate confirmed facts from inferred hypotheses for independent ablation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5547208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2788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2788920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Multi-Layer Orchestration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3108960"/>
            <a:ext cx="467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a four-layer agent hierarchy matching strongest surveyed systems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87288" y="2651760"/>
            <a:ext cx="5547208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24448" y="2788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6873088" y="2788920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Cross-Mission Memory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873088" y="3108960"/>
            <a:ext cx="467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Determine whether strategy reuse offers measurable benefit vs. negative-transfer risk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069080"/>
            <a:ext cx="5547208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" y="4206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4206240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Benchmark-Grounded Evaluation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" y="4526280"/>
            <a:ext cx="467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on oracle-backed benchmarks across 3+ attack surfaces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08076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reflect the research direction at inception stage. Scope will evolve with implementation.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017" cy="2743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/ 20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RedGrid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0F6F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Expected Contributions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7772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Working hypotheses — not yet results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3606698" cy="45720"/>
          </a:xfrm>
          <a:prstGeom prst="rect">
            <a:avLst/>
          </a:prstGeom>
          <a:solidFill>
            <a:srgbClr val="FF3B3B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80160"/>
            <a:ext cx="3606698" cy="4160520"/>
          </a:xfrm>
          <a:prstGeom prst="roundRect">
            <a:avLst>
              <a:gd name="adj" fmla="val 202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1417320"/>
            <a:ext cx="32775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C1 — PRIMARY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1673352"/>
            <a:ext cx="32775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0F6F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Dependency-Aware Attack Graph Exploration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2423160"/>
            <a:ext cx="327751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Combining UCB exploration with a dynamically grown prerequisite graph improves attack-path success over flat dispatch and pre-enumerated dependency planning.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" y="4114800"/>
            <a:ext cx="3277514" cy="292608"/>
          </a:xfrm>
          <a:prstGeom prst="roundRect">
            <a:avLst>
              <a:gd name="adj" fmla="val 50000"/>
            </a:avLst>
          </a:prstGeom>
          <a:solidFill>
            <a:srgbClr val="FFB347">
              <a:alpha val="12000"/>
            </a:srgbClr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4114800"/>
            <a:ext cx="3277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B3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Ablation (d) &gt; (c) on CVE-Bench + PentestEval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4526280"/>
            <a:ext cx="32775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CVE-Bench zero-day pass@1 ≥ 25% · PentestEval ADM ≥ 0.50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292498" y="1234440"/>
            <a:ext cx="3606698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292498" y="1280160"/>
            <a:ext cx="3606698" cy="4160520"/>
          </a:xfrm>
          <a:prstGeom prst="roundRect">
            <a:avLst>
              <a:gd name="adj" fmla="val 202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57090" y="1417320"/>
            <a:ext cx="32775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C2 — SUPPORTING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457090" y="1673352"/>
            <a:ext cx="32775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0F6F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Cross-Mission Memory + Skill Promotion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457090" y="2423160"/>
            <a:ext cx="327751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3-tier memory with security-specific conditional branching strategies and oracle-gated skill promotion improves performance on seen-technology targets.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457090" y="4114800"/>
            <a:ext cx="3277514" cy="292608"/>
          </a:xfrm>
          <a:prstGeom prst="roundRect">
            <a:avLst>
              <a:gd name="adj" fmla="val 50000"/>
            </a:avLst>
          </a:prstGeom>
          <a:solidFill>
            <a:srgbClr val="FFB347">
              <a:alpha val="12000"/>
            </a:srgbClr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57090" y="4114800"/>
            <a:ext cx="3277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B3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Ablation A2 shows measurable improvement on seen-technology subset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127797" y="1234440"/>
            <a:ext cx="3606698" cy="45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4" name="Shape 22"/>
          <p:cNvSpPr/>
          <p:nvPr/>
        </p:nvSpPr>
        <p:spPr>
          <a:xfrm>
            <a:off x="8127797" y="1280160"/>
            <a:ext cx="3606698" cy="4160520"/>
          </a:xfrm>
          <a:prstGeom prst="roundRect">
            <a:avLst>
              <a:gd name="adj" fmla="val 202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92389" y="1417320"/>
            <a:ext cx="32775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C3 — METHODOLOGICAL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292389" y="1673352"/>
            <a:ext cx="32775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0F6F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Cross-Benchmark Evaluation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292389" y="2423160"/>
            <a:ext cx="327751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rigorous evaluation of a single VAPT architecture across CVE-Bench (web), PrediQL (GraphQL), and MHBench (multi-host) with standardized oracles.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292389" y="4114800"/>
            <a:ext cx="3277514" cy="292608"/>
          </a:xfrm>
          <a:prstGeom prst="roundRect">
            <a:avLst>
              <a:gd name="adj" fmla="val 50000"/>
            </a:avLst>
          </a:prstGeom>
          <a:solidFill>
            <a:srgbClr val="FFB347">
              <a:alpha val="12000"/>
            </a:srgbClr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92389" y="4114800"/>
            <a:ext cx="3277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B3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Holds by construction — requires completing all benchmark tiers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562356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this stage: direction, not result. Implementation begins next.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924602" cy="2743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/ 20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RedGrid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0F6F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RedGrid Architecture — Overview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7315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4-layer hierarchy · Under development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8412480" cy="713232"/>
          </a:xfrm>
          <a:prstGeom prst="roundRect">
            <a:avLst>
              <a:gd name="adj" fmla="val 6410"/>
            </a:avLst>
          </a:prstGeom>
          <a:solidFill>
            <a:srgbClr val="FF3B3B">
              <a:alpha val="12000"/>
            </a:srgbClr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26187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LAYER 1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14813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6F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Orchestrator (Mission Planner)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1188720"/>
            <a:ext cx="5806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 Intake   ·   Auto-prompter   ·   FullCompact Trigger (85% context)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1993392"/>
            <a:ext cx="8412480" cy="713232"/>
          </a:xfrm>
          <a:prstGeom prst="roundRect">
            <a:avLst>
              <a:gd name="adj" fmla="val 6410"/>
            </a:avLst>
          </a:prstGeom>
          <a:solidFill>
            <a:srgbClr val="00D4FF">
              <a:alpha val="12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06654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LAYER 2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6F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Team Manager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926080" y="1993392"/>
            <a:ext cx="5806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VDG / Attack Decision-Making   ·   Declarative Dispatch   ·   Handoff Bridge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798064"/>
            <a:ext cx="8412480" cy="713232"/>
          </a:xfrm>
          <a:prstGeom prst="roundRect">
            <a:avLst>
              <a:gd name="adj" fmla="val 6410"/>
            </a:avLst>
          </a:prstGeom>
          <a:solidFill>
            <a:srgbClr val="FFB347">
              <a:alpha val="12000"/>
            </a:srgbClr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287121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LAYER 3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30906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6F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Specialist Agents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2926080" y="2798064"/>
            <a:ext cx="5806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Recon   ·   SQLi   ·   XSS   ·   GraphQL   ·   Auth/Session   ·   Lateral-Movement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602736"/>
            <a:ext cx="8412480" cy="713232"/>
          </a:xfrm>
          <a:prstGeom prst="roundRect">
            <a:avLst>
              <a:gd name="adj" fmla="val 6410"/>
            </a:avLst>
          </a:prstGeom>
          <a:solidFill>
            <a:srgbClr val="3FB950">
              <a:alpha val="12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36758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LAYER 4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389534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6F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Execution and Validation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2926080" y="3602736"/>
            <a:ext cx="5806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Execution Agent   ·   Evaluation Agent   ·   Validation Agent (Diagnosis-Adapt-Cap)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4498848"/>
            <a:ext cx="8412480" cy="457200"/>
          </a:xfrm>
          <a:prstGeom prst="roundRect">
            <a:avLst>
              <a:gd name="adj" fmla="val 10000"/>
            </a:avLst>
          </a:prstGeom>
          <a:ln w="12700">
            <a:solidFill>
              <a:srgbClr val="30363D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594360" y="44988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MEMORY SERVICES:  Skill Library · 3-Tier FAISS Memory (Vuln-Pattern / Strategy / Technical-Action) · Episodic Failure Memory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9098280" y="1188720"/>
            <a:ext cx="2636215" cy="3566160"/>
          </a:xfrm>
          <a:prstGeom prst="roundRect">
            <a:avLst>
              <a:gd name="adj" fmla="val 277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235440" y="1371600"/>
            <a:ext cx="2361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0F6F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Dual-Layer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0F6F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World Model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9235440" y="2103120"/>
            <a:ext cx="2361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 — Environmental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Layer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(confirmed facts only)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9235440" y="2971800"/>
            <a:ext cx="2361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↕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9235440" y="3291840"/>
            <a:ext cx="2361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FB3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VDG / AL — Attack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FB3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Layer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FB3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(scored hypotheses only)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50932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formalized pseudocode specified in architecture document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8534187" cy="2743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 / 20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RedGrid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0F6F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VDG Algorithm — Core Idea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7772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Dependency-Constrained UCB Selection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41732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0F6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UCB_score(v) =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0F6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(w_v / n_v)           &lt;- exploitation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0F6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+ C * sqrt(ln N / n_v)  &lt;- exploration bonus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0F6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+ alpha * phi_v         &lt;- LLM promise score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0F6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+ gamma * (E_ord / 5)   &lt;- ordinal evidence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0F6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- kappa * context_load  &lt;- cost penalty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0F6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+ lambda * epss_prior   &lt;- CVE prior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0F6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Selection rule: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0F6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eligible = {v | status==ELIGIBLE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0F6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 AND all prerequisites EXPLOITED}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0F6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selected = argmax UCB_score(eligible)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8920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phi = LLM-assessed exploitability · E_ord = calibrated evidence scale 0–5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92240" y="1280160"/>
            <a:ext cx="914400" cy="914400"/>
          </a:xfrm>
          <a:prstGeom prst="ellipse">
            <a:avLst/>
          </a:prstGeom>
          <a:ln w="19050">
            <a:solidFill>
              <a:srgbClr val="FF3B3B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1371600"/>
            <a:ext cx="731520" cy="731520"/>
          </a:xfrm>
          <a:prstGeom prst="ellipse">
            <a:avLst/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0" y="157276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SQLi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17556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UCB 2.31</a:t>
            </a:r>
            <a:endParaRPr lang="en-US" sz="70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ELIGIBLE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6739128" y="2944368"/>
            <a:ext cx="694944" cy="694944"/>
          </a:xfrm>
          <a:prstGeom prst="ellipse">
            <a:avLst/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39128" y="3127248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XSS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739128" y="3310128"/>
            <a:ext cx="694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UCB 1.87</a:t>
            </a:r>
            <a:endParaRPr lang="en-US" sz="70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ELIGIBLE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8074152" y="2130552"/>
            <a:ext cx="768096" cy="768096"/>
          </a:xfrm>
          <a:prstGeom prst="ellipse">
            <a:avLst/>
          </a:prstGeom>
          <a:solidFill>
            <a:srgbClr val="161B22"/>
          </a:solidFill>
          <a:ln w="25400">
            <a:solidFill>
              <a:srgbClr val="F85149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8074152" y="2350008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 Bypass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8074152" y="2532888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F8514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UCB 2.10</a:t>
            </a:r>
            <a:endParaRPr lang="en-US" sz="70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F8514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BLOCKED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9729216" y="2962656"/>
            <a:ext cx="658368" cy="658368"/>
          </a:xfrm>
          <a:prstGeom prst="ellipse">
            <a:avLst/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729216" y="312724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SSRF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9729216" y="3310128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UCB 0.94</a:t>
            </a:r>
            <a:endParaRPr lang="en-US" sz="70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ELIGIBLE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9692640" y="1188720"/>
            <a:ext cx="731520" cy="731520"/>
          </a:xfrm>
          <a:prstGeom prst="ellipse">
            <a:avLst/>
          </a:prstGeom>
          <a:solidFill>
            <a:srgbClr val="161B22"/>
          </a:solidFill>
          <a:ln w="25400">
            <a:solidFill>
              <a:srgbClr val="F85149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9692640" y="138988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RCE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9692640" y="157276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F8514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UCB 3.40</a:t>
            </a:r>
            <a:endParaRPr lang="en-US" sz="70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F8514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BLOCKED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7315200" y="1965960"/>
            <a:ext cx="914400" cy="320040"/>
          </a:xfrm>
          <a:prstGeom prst="line">
            <a:avLst/>
          </a:prstGeom>
          <a:noFill/>
          <a:ln w="12700">
            <a:solidFill>
              <a:srgbClr val="8B949E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 flipV="1">
            <a:off x="7726680" y="2651760"/>
            <a:ext cx="457200" cy="457200"/>
          </a:xfrm>
          <a:prstGeom prst="line">
            <a:avLst/>
          </a:prstGeom>
          <a:noFill/>
          <a:ln w="12700">
            <a:solidFill>
              <a:srgbClr val="8B949E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8823960" y="2377440"/>
            <a:ext cx="960120" cy="-594360"/>
          </a:xfrm>
          <a:prstGeom prst="line">
            <a:avLst/>
          </a:prstGeom>
          <a:noFill/>
          <a:ln w="12700">
            <a:solidFill>
              <a:srgbClr val="8B949E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6309360" y="4892040"/>
            <a:ext cx="5394960" cy="1005840"/>
          </a:xfrm>
          <a:prstGeom prst="roundRect">
            <a:avLst>
              <a:gd name="adj" fmla="val 4545"/>
            </a:avLst>
          </a:prstGeom>
          <a:solidFill>
            <a:srgbClr val="FFB347">
              <a:alpha val="8000"/>
            </a:srgbClr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92240" y="4956048"/>
            <a:ext cx="5029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Unlike flat UCB, only ELIGIBLE nodes are considered — nodes blocked by unmet prerequisites are invisible to selection until their dependencies are satisfied.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3771" cy="2743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/ 20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RedGrid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Methodology — High-Level Overview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985455" y="384048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FFB347">
              <a:alpha val="12000"/>
            </a:srgbClr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85455" y="3840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B3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Planned — implementation not yet started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188720"/>
            <a:ext cx="1298448" cy="1691640"/>
          </a:xfrm>
          <a:prstGeom prst="roundRect">
            <a:avLst>
              <a:gd name="adj" fmla="val 3521"/>
            </a:avLst>
          </a:prstGeom>
          <a:solidFill>
            <a:srgbClr val="161B22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8912" y="12435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438912" y="1444752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F0F6F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Scope Intake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" y="1847088"/>
            <a:ext cx="11521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Target, rules of engagement, mode, surface family</a:t>
            </a:r>
            <a:endParaRPr lang="en-US" sz="78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189738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719072" y="1188720"/>
            <a:ext cx="1298448" cy="1691640"/>
          </a:xfrm>
          <a:prstGeom prst="roundRect">
            <a:avLst>
              <a:gd name="adj" fmla="val 3521"/>
            </a:avLst>
          </a:prstGeom>
          <a:solidFill>
            <a:srgbClr val="161B22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792224" y="12435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1792224" y="1444752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F0F6F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Recon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792224" y="1847088"/>
            <a:ext cx="11521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nmap -p-, WhatWeb, ZAP passive, ffuf; seeds EL</a:t>
            </a:r>
            <a:endParaRPr lang="en-US" sz="780" dirty="0"/>
          </a:p>
        </p:txBody>
      </p:sp>
      <p:sp>
        <p:nvSpPr>
          <p:cNvPr id="18" name="Text 16"/>
          <p:cNvSpPr txBox="1"/>
          <p:nvPr/>
        </p:nvSpPr>
        <p:spPr>
          <a:xfrm>
            <a:off x="2999232" y="189738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072384" y="1188720"/>
            <a:ext cx="1298448" cy="1691640"/>
          </a:xfrm>
          <a:prstGeom prst="roundRect">
            <a:avLst>
              <a:gd name="adj" fmla="val 3521"/>
            </a:avLst>
          </a:prstGeom>
          <a:solidFill>
            <a:srgbClr val="161B22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145536" y="12435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3145536" y="1444752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F0F6F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VDG Seed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145536" y="1847088"/>
            <a:ext cx="11521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Manager infers nodes from EL; assigns UCB</a:t>
            </a:r>
            <a:endParaRPr lang="en-US" sz="780" dirty="0"/>
          </a:p>
        </p:txBody>
      </p:sp>
      <p:sp>
        <p:nvSpPr>
          <p:cNvPr id="23" name="Text 21"/>
          <p:cNvSpPr txBox="1"/>
          <p:nvPr/>
        </p:nvSpPr>
        <p:spPr>
          <a:xfrm>
            <a:off x="4352544" y="189738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25696" y="1188720"/>
            <a:ext cx="1298448" cy="1691640"/>
          </a:xfrm>
          <a:prstGeom prst="roundRect">
            <a:avLst>
              <a:gd name="adj" fmla="val 3521"/>
            </a:avLst>
          </a:prstGeom>
          <a:solidFill>
            <a:srgbClr val="161B22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98848" y="12435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4498848" y="1444752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F0F6F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UCB Selection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498848" y="1847088"/>
            <a:ext cx="11521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Picks highest-scoring eligible node</a:t>
            </a:r>
            <a:endParaRPr lang="en-US" sz="780" dirty="0"/>
          </a:p>
        </p:txBody>
      </p:sp>
      <p:sp>
        <p:nvSpPr>
          <p:cNvPr id="28" name="Text 26"/>
          <p:cNvSpPr txBox="1"/>
          <p:nvPr/>
        </p:nvSpPr>
        <p:spPr>
          <a:xfrm>
            <a:off x="5705856" y="189738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779008" y="1188720"/>
            <a:ext cx="1298448" cy="1691640"/>
          </a:xfrm>
          <a:prstGeom prst="roundRect">
            <a:avLst>
              <a:gd name="adj" fmla="val 3521"/>
            </a:avLst>
          </a:prstGeom>
          <a:solidFill>
            <a:srgbClr val="161B22"/>
          </a:solidFill>
          <a:ln w="12700">
            <a:solidFill>
              <a:srgbClr val="FFB347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5852160" y="12435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5852160" y="1444752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F0F6F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Specialist Dispatch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5852160" y="1847088"/>
            <a:ext cx="11521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Fresh-context specialist runs FSM; writes to EL</a:t>
            </a:r>
            <a:endParaRPr lang="en-US" sz="780" dirty="0"/>
          </a:p>
        </p:txBody>
      </p:sp>
      <p:sp>
        <p:nvSpPr>
          <p:cNvPr id="33" name="Text 31"/>
          <p:cNvSpPr txBox="1"/>
          <p:nvPr/>
        </p:nvSpPr>
        <p:spPr>
          <a:xfrm>
            <a:off x="7059168" y="189738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132320" y="1188720"/>
            <a:ext cx="1298448" cy="1691640"/>
          </a:xfrm>
          <a:prstGeom prst="roundRect">
            <a:avLst>
              <a:gd name="adj" fmla="val 3521"/>
            </a:avLst>
          </a:prstGeom>
          <a:solidFill>
            <a:srgbClr val="161B22"/>
          </a:solidFill>
          <a:ln w="12700">
            <a:solidFill>
              <a:srgbClr val="FFB347"/>
            </a:solidFill>
            <a:prstDash val="dash"/>
          </a:ln>
        </p:spPr>
      </p:sp>
      <p:sp>
        <p:nvSpPr>
          <p:cNvPr id="35" name="Text 33"/>
          <p:cNvSpPr txBox="1"/>
          <p:nvPr/>
        </p:nvSpPr>
        <p:spPr>
          <a:xfrm>
            <a:off x="7205472" y="12435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7205472" y="1444752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F0F6F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Evaluate &amp; Validate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7205472" y="1847088"/>
            <a:ext cx="11521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E_ord scoring; oracle check; Diagnosis-Adapt-Cap</a:t>
            </a:r>
            <a:endParaRPr lang="en-US" sz="780" dirty="0"/>
          </a:p>
        </p:txBody>
      </p:sp>
      <p:sp>
        <p:nvSpPr>
          <p:cNvPr id="38" name="Text 36"/>
          <p:cNvSpPr txBox="1"/>
          <p:nvPr/>
        </p:nvSpPr>
        <p:spPr>
          <a:xfrm>
            <a:off x="8412480" y="189738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485632" y="1188720"/>
            <a:ext cx="1298448" cy="1691640"/>
          </a:xfrm>
          <a:prstGeom prst="roundRect">
            <a:avLst>
              <a:gd name="adj" fmla="val 3521"/>
            </a:avLst>
          </a:prstGeom>
          <a:solidFill>
            <a:srgbClr val="161B22"/>
          </a:solidFill>
          <a:ln w="12700">
            <a:solidFill>
              <a:srgbClr val="FFB347"/>
            </a:solidFill>
            <a:prstDash val="dash"/>
          </a:ln>
        </p:spPr>
      </p:sp>
      <p:sp>
        <p:nvSpPr>
          <p:cNvPr id="40" name="Text 38"/>
          <p:cNvSpPr txBox="1"/>
          <p:nvPr/>
        </p:nvSpPr>
        <p:spPr>
          <a:xfrm>
            <a:off x="8558784" y="12435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8558784" y="1444752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F0F6F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VDG Update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558784" y="1847088"/>
            <a:ext cx="11521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 reward, propagate status, check termination</a:t>
            </a:r>
            <a:endParaRPr lang="en-US" sz="780" dirty="0"/>
          </a:p>
        </p:txBody>
      </p:sp>
      <p:sp>
        <p:nvSpPr>
          <p:cNvPr id="43" name="Text 41"/>
          <p:cNvSpPr txBox="1"/>
          <p:nvPr/>
        </p:nvSpPr>
        <p:spPr>
          <a:xfrm>
            <a:off x="9765792" y="189738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838944" y="1188720"/>
            <a:ext cx="1298448" cy="1691640"/>
          </a:xfrm>
          <a:prstGeom prst="roundRect">
            <a:avLst>
              <a:gd name="adj" fmla="val 3521"/>
            </a:avLst>
          </a:prstGeom>
          <a:solidFill>
            <a:srgbClr val="161B22"/>
          </a:solidFill>
          <a:ln w="12700">
            <a:solidFill>
              <a:srgbClr val="FFB347"/>
            </a:solidFill>
            <a:prstDash val="dash"/>
          </a:ln>
        </p:spPr>
      </p:sp>
      <p:sp>
        <p:nvSpPr>
          <p:cNvPr id="45" name="Text 43"/>
          <p:cNvSpPr txBox="1"/>
          <p:nvPr/>
        </p:nvSpPr>
        <p:spPr>
          <a:xfrm>
            <a:off x="9912096" y="12435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9912096" y="1444752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F0F6F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Repeat / Terminate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9912096" y="1847088"/>
            <a:ext cx="11521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Dual-termination condition check</a:t>
            </a:r>
            <a:endParaRPr lang="en-US" sz="780" dirty="0"/>
          </a:p>
        </p:txBody>
      </p:sp>
      <p:sp>
        <p:nvSpPr>
          <p:cNvPr id="48" name="Text 46"/>
          <p:cNvSpPr txBox="1"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solid border = design complete      ○ dashed border = design in progress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7200" y="3429000"/>
            <a:ext cx="5524348" cy="1051560"/>
          </a:xfrm>
          <a:prstGeom prst="roundRect">
            <a:avLst>
              <a:gd name="adj" fmla="val 69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21792" y="3538728"/>
            <a:ext cx="51951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Fresh context per Specialist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621792" y="3831336"/>
            <a:ext cx="51951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Prevents context pollution (validated by PentestGPT, D-CIPHER, VulnBot)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210148" y="3429000"/>
            <a:ext cx="5524348" cy="1051560"/>
          </a:xfrm>
          <a:prstGeom prst="roundRect">
            <a:avLst>
              <a:gd name="adj" fmla="val 69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374740" y="3538728"/>
            <a:ext cx="51951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Dual-Layer World Model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6374740" y="3831336"/>
            <a:ext cx="51951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(confirmed facts) strictly separated from VDG (attack hypotheses)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753356" cy="2743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 / 20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RedGrid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Evaluation Plan — Benchmark Suite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082735" y="384048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FFB347">
              <a:alpha val="12000"/>
            </a:srgbClr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82735" y="38404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B3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Planned — no results yet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3624986" cy="3063240"/>
          </a:xfrm>
          <a:prstGeom prst="roundRect">
            <a:avLst>
              <a:gd name="adj" fmla="val 238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1371600"/>
            <a:ext cx="32958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Web Application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1783080"/>
            <a:ext cx="32958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70" b="1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Primary: </a:t>
            </a:r>
            <a:pPr indent="0" marL="0">
              <a:lnSpc>
                <a:spcPts val="1100"/>
              </a:lnSpc>
              <a:buNone/>
            </a:pPr>
            <a:r>
              <a:rPr lang="en-US" sz="87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CVE-Bench (40 critical CVEs, CVSS 9.0+)</a:t>
            </a:r>
            <a:endParaRPr lang="en-US" sz="87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2313432"/>
            <a:ext cx="32958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70" b="1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Also: </a:t>
            </a:r>
            <a:pPr indent="0" marL="0">
              <a:lnSpc>
                <a:spcPts val="1100"/>
              </a:lnSpc>
              <a:buNone/>
            </a:pPr>
            <a:r>
              <a:rPr lang="en-US" sz="87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HPTSA 14-CVE zero-day · PentestEval 346 tasks · BountyBench (25 systems)</a:t>
            </a:r>
            <a:endParaRPr lang="en-US" sz="870" dirty="0"/>
          </a:p>
        </p:txBody>
      </p:sp>
      <p:sp>
        <p:nvSpPr>
          <p:cNvPr id="13" name="Text 11"/>
          <p:cNvSpPr txBox="1"/>
          <p:nvPr/>
        </p:nvSpPr>
        <p:spPr>
          <a:xfrm>
            <a:off x="621792" y="2843784"/>
            <a:ext cx="32958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70" b="1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Oracle: </a:t>
            </a:r>
            <a:pPr indent="0" marL="0">
              <a:lnSpc>
                <a:spcPts val="1100"/>
              </a:lnSpc>
              <a:buNone/>
            </a:pPr>
            <a:r>
              <a:rPr lang="en-US" sz="87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8-attack-type (DoS, File Access, DB Mod, SSRF...)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621792" y="3392424"/>
            <a:ext cx="3295802" cy="292608"/>
          </a:xfrm>
          <a:prstGeom prst="roundRect">
            <a:avLst>
              <a:gd name="adj" fmla="val 50000"/>
            </a:avLst>
          </a:prstGeom>
          <a:solidFill>
            <a:srgbClr val="FFB347">
              <a:alpha val="12000"/>
            </a:srgbClr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3392424"/>
            <a:ext cx="32958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B3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zero-day pass@1 ≥ 25% · one-day pass@1 ≥ 50%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21792" y="3785616"/>
            <a:ext cx="32958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SQLi · XSS · CSRF · SSRF · SSTI · LFI · RCE · IDOR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283354" y="1234440"/>
            <a:ext cx="3624986" cy="3063240"/>
          </a:xfrm>
          <a:prstGeom prst="roundRect">
            <a:avLst>
              <a:gd name="adj" fmla="val 238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47946" y="1371600"/>
            <a:ext cx="32958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GraphQL APIs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447946" y="1783080"/>
            <a:ext cx="32958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70" b="1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Primary: </a:t>
            </a:r>
            <a:pPr indent="0" marL="0">
              <a:lnSpc>
                <a:spcPts val="1100"/>
              </a:lnSpc>
              <a:buNone/>
            </a:pPr>
            <a:r>
              <a:rPr lang="en-US" sz="87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PrediQL (6 APIs)</a:t>
            </a:r>
            <a:endParaRPr lang="en-US" sz="870" dirty="0"/>
          </a:p>
        </p:txBody>
      </p:sp>
      <p:sp>
        <p:nvSpPr>
          <p:cNvPr id="20" name="Text 18"/>
          <p:cNvSpPr txBox="1"/>
          <p:nvPr/>
        </p:nvSpPr>
        <p:spPr>
          <a:xfrm>
            <a:off x="4447946" y="2313432"/>
            <a:ext cx="32958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70" b="1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Baselines: </a:t>
            </a:r>
            <a:pPr indent="0" marL="0">
              <a:lnSpc>
                <a:spcPts val="1100"/>
              </a:lnSpc>
              <a:buNone/>
            </a:pPr>
            <a:r>
              <a:rPr lang="en-US" sz="87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ZAP · Burp Suite · EvoMaster · GraphQLer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4447946" y="2862072"/>
            <a:ext cx="3295802" cy="292608"/>
          </a:xfrm>
          <a:prstGeom prst="roundRect">
            <a:avLst>
              <a:gd name="adj" fmla="val 50000"/>
            </a:avLst>
          </a:prstGeom>
          <a:solidFill>
            <a:srgbClr val="FFB347">
              <a:alpha val="12000"/>
            </a:srgbClr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47946" y="2862072"/>
            <a:ext cx="32958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B3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Schema coverage % · Vulnerability count vs. baselines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447946" y="3255264"/>
            <a:ext cx="32958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 abuse · Dependency-chain injection · IDOR · Auth bypass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8109509" y="1234440"/>
            <a:ext cx="3624986" cy="3063240"/>
          </a:xfrm>
          <a:prstGeom prst="roundRect">
            <a:avLst>
              <a:gd name="adj" fmla="val 238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74101" y="1371600"/>
            <a:ext cx="32958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Multi-Host / Active Directory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274101" y="1783080"/>
            <a:ext cx="32958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70" b="1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Primary: </a:t>
            </a:r>
            <a:pPr indent="0" marL="0">
              <a:lnSpc>
                <a:spcPts val="1100"/>
              </a:lnSpc>
              <a:buNone/>
            </a:pPr>
            <a:r>
              <a:rPr lang="en-US" sz="87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Incalmo MHBench (40 environments)</a:t>
            </a:r>
            <a:endParaRPr lang="en-US" sz="870" dirty="0"/>
          </a:p>
        </p:txBody>
      </p:sp>
      <p:sp>
        <p:nvSpPr>
          <p:cNvPr id="27" name="Text 25"/>
          <p:cNvSpPr txBox="1"/>
          <p:nvPr/>
        </p:nvSpPr>
        <p:spPr>
          <a:xfrm>
            <a:off x="8274101" y="2313432"/>
            <a:ext cx="32958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70" b="1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Baseline: </a:t>
            </a:r>
            <a:pPr indent="0" marL="0">
              <a:lnSpc>
                <a:spcPts val="1100"/>
              </a:lnSpc>
              <a:buNone/>
            </a:pPr>
            <a:r>
              <a:rPr lang="en-US" sz="87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Incalmo (37/40 floor)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8274101" y="2862072"/>
            <a:ext cx="3295802" cy="292608"/>
          </a:xfrm>
          <a:prstGeom prst="roundRect">
            <a:avLst>
              <a:gd name="adj" fmla="val 50000"/>
            </a:avLst>
          </a:prstGeom>
          <a:solidFill>
            <a:srgbClr val="FFB347">
              <a:alpha val="12000"/>
            </a:srgbClr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74101" y="2862072"/>
            <a:ext cx="32958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B3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Host-compromise success rate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8274101" y="3255264"/>
            <a:ext cx="32958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Lateral movement · Credential reuse · Privilege escalation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7200" y="4526280"/>
            <a:ext cx="11277295" cy="1280160"/>
          </a:xfrm>
          <a:prstGeom prst="roundRect">
            <a:avLst>
              <a:gd name="adj" fmla="val 571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" y="46451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Methodological Principles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49377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400"/>
              </a:spcAft>
              <a:buSzPct val="100000"/>
              <a:buChar char="▸"/>
            </a:pPr>
            <a:r>
              <a:rPr lang="en-US" sz="9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baselines re-run under same model + compute budget (not copied from papers)</a:t>
            </a:r>
            <a:endParaRPr lang="en-US" sz="950" dirty="0"/>
          </a:p>
          <a:p>
            <a:pPr marL="177800" indent="-177800">
              <a:spcAft>
                <a:spcPts val="400"/>
              </a:spcAft>
              <a:buSzPct val="100000"/>
              <a:buChar char="▸"/>
            </a:pPr>
            <a:r>
              <a:rPr lang="en-US" sz="9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McNemar's test · 95% Wilson CI · 10 runs on primary metric (CVE-Bench)</a:t>
            </a:r>
            <a:endParaRPr lang="en-US" sz="950" dirty="0"/>
          </a:p>
          <a:p>
            <a:pPr marL="177800" indent="-177800">
              <a:spcAft>
                <a:spcPts val="400"/>
              </a:spcAft>
              <a:buSzPct val="100000"/>
              <a:buChar char="▸"/>
            </a:pPr>
            <a:r>
              <a:rPr lang="en-US" sz="9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Cost-per-exploit reported alongside every pass rate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362941" cy="2743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 / 20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RedGrid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0F6F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Project Timeline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7772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6-month thesis program · Started Sep 2026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9875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Sep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1463040" cy="594360"/>
          </a:xfrm>
          <a:prstGeom prst="rect">
            <a:avLst/>
          </a:prstGeom>
          <a:solidFill>
            <a:srgbClr val="3FB950">
              <a:alpha val="22000"/>
            </a:srgbClr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12801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Lit. Review + Architecture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920240" y="9875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Oct – Nov 2026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920240" y="1280160"/>
            <a:ext cx="2743200" cy="594360"/>
          </a:xfrm>
          <a:prstGeom prst="rect">
            <a:avLst/>
          </a:prstGeom>
          <a:solidFill>
            <a:srgbClr val="FFB347">
              <a:alpha val="22000"/>
            </a:srgbClr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965960" y="12801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VDG Implementation + Pilot Study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9875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Dec – Jan 2027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1280160"/>
            <a:ext cx="2560320" cy="594360"/>
          </a:xfrm>
          <a:prstGeom prst="rect">
            <a:avLst/>
          </a:prstGeom>
          <a:ln w="12700">
            <a:solidFill>
              <a:srgbClr val="30363D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4709160" y="12801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Evaluation Runs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7223760" y="9875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Feb – Mar 2027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223760" y="1280160"/>
            <a:ext cx="2377440" cy="594360"/>
          </a:xfrm>
          <a:prstGeom prst="rect">
            <a:avLst/>
          </a:prstGeom>
          <a:ln w="12700">
            <a:solidFill>
              <a:srgbClr val="30363D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7269480" y="12801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Thesis Writing + Submission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74520" y="1947672"/>
            <a:ext cx="91440" cy="9144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97280" y="207568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M1 · Oct 2026</a:t>
            </a:r>
            <a:endParaRPr lang="en-US" sz="80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Pilot precision gate ≥ 50%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897880" y="1947672"/>
            <a:ext cx="91440" cy="9144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120640" y="207568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M2 · Dec 2026</a:t>
            </a:r>
            <a:endParaRPr lang="en-US" sz="80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CVE-Bench prelim run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9555480" y="1947672"/>
            <a:ext cx="91440" cy="9144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778240" y="207568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M3 · Mar 2027</a:t>
            </a:r>
            <a:endParaRPr lang="en-US" sz="80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Final evaluation complete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383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COMPLETE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737360" y="3355848"/>
            <a:ext cx="2002536" cy="292608"/>
          </a:xfrm>
          <a:prstGeom prst="roundRect">
            <a:avLst>
              <a:gd name="adj" fmla="val 50000"/>
            </a:avLst>
          </a:prstGeom>
          <a:solidFill>
            <a:srgbClr val="3FB950">
              <a:alpha val="12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737360" y="3355848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Literature review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877056" y="3355848"/>
            <a:ext cx="2578608" cy="292608"/>
          </a:xfrm>
          <a:prstGeom prst="roundRect">
            <a:avLst>
              <a:gd name="adj" fmla="val 50000"/>
            </a:avLst>
          </a:prstGeom>
          <a:solidFill>
            <a:srgbClr val="3FB950">
              <a:alpha val="12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877056" y="3355848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Architecture specification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592824" y="3355848"/>
            <a:ext cx="1938528" cy="292608"/>
          </a:xfrm>
          <a:prstGeom prst="roundRect">
            <a:avLst>
              <a:gd name="adj" fmla="val 50000"/>
            </a:avLst>
          </a:prstGeom>
          <a:solidFill>
            <a:srgbClr val="3FB950">
              <a:alpha val="12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92824" y="3355848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Inception report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3886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NEXT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737360" y="3858768"/>
            <a:ext cx="1746504" cy="292608"/>
          </a:xfrm>
          <a:prstGeom prst="roundRect">
            <a:avLst>
              <a:gd name="adj" fmla="val 50000"/>
            </a:avLst>
          </a:prstGeom>
          <a:solidFill>
            <a:srgbClr val="FFB347">
              <a:alpha val="12000"/>
            </a:srgbClr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737360" y="3858768"/>
            <a:ext cx="174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B3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VDG prototype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21024" y="3858768"/>
            <a:ext cx="1618488" cy="292608"/>
          </a:xfrm>
          <a:prstGeom prst="roundRect">
            <a:avLst>
              <a:gd name="adj" fmla="val 50000"/>
            </a:avLst>
          </a:prstGeom>
          <a:solidFill>
            <a:srgbClr val="FFB347">
              <a:alpha val="12000"/>
            </a:srgbClr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621024" y="3858768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B3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Pilot study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4389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PLANNED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737360" y="4361688"/>
            <a:ext cx="1810512" cy="292608"/>
          </a:xfrm>
          <a:prstGeom prst="roundRect">
            <a:avLst>
              <a:gd name="adj" fmla="val 50000"/>
            </a:avLst>
          </a:prstGeom>
          <a:solidFill>
            <a:srgbClr val="8B949E">
              <a:alpha val="12000"/>
            </a:srgbClr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737360" y="436168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Benchmark runs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685032" y="4361688"/>
            <a:ext cx="1490472" cy="292608"/>
          </a:xfrm>
          <a:prstGeom prst="roundRect">
            <a:avLst>
              <a:gd name="adj" fmla="val 50000"/>
            </a:avLst>
          </a:prstGeom>
          <a:solidFill>
            <a:srgbClr val="8B949E">
              <a:alpha val="12000"/>
            </a:srgbClr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685032" y="4361688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Ablations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312664" y="4361688"/>
            <a:ext cx="1810512" cy="292608"/>
          </a:xfrm>
          <a:prstGeom prst="roundRect">
            <a:avLst>
              <a:gd name="adj" fmla="val 50000"/>
            </a:avLst>
          </a:prstGeom>
          <a:solidFill>
            <a:srgbClr val="8B949E">
              <a:alpha val="12000"/>
            </a:srgbClr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312664" y="436168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Thesis writing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526" cy="2743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 / 20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RedGrid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0F6F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Known Challenges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7772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Surfaced during literature review — addressed proactively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45720" cy="2194560"/>
          </a:xfrm>
          <a:prstGeom prst="rect">
            <a:avLst/>
          </a:prstGeom>
          <a:solidFill>
            <a:srgbClr val="FF3B3B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1234440"/>
            <a:ext cx="5501488" cy="2194560"/>
          </a:xfrm>
          <a:prstGeom prst="roundRect">
            <a:avLst>
              <a:gd name="adj" fmla="val 333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1371600"/>
            <a:ext cx="408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6F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Edge Inference Without Ground Truth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69968" y="137160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F3B3B">
              <a:alpha val="12000"/>
            </a:srgbClr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69968" y="13716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3B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HIGH RISK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1801368"/>
            <a:ext cx="5090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VDG prerequisite edges are LLM-inferred. Noise weakens the dependency contribution.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2560320"/>
            <a:ext cx="5090008" cy="77724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Mitigation: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Mandatory pilot study on PentestEval GT dependencies. Precision ≥ 50% gate before C1 claim.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87288" y="1234440"/>
            <a:ext cx="45720" cy="2194560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16" name="Shape 14"/>
          <p:cNvSpPr/>
          <p:nvPr/>
        </p:nvSpPr>
        <p:spPr>
          <a:xfrm>
            <a:off x="6233008" y="1234440"/>
            <a:ext cx="5501488" cy="2194560"/>
          </a:xfrm>
          <a:prstGeom prst="roundRect">
            <a:avLst>
              <a:gd name="adj" fmla="val 333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15888" y="1371600"/>
            <a:ext cx="408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6F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Sandbox vs. Real World Gap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0500055" y="137160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FB347">
              <a:alpha val="12000"/>
            </a:srgbClr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500055" y="13716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B3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MEDIUM RISK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415888" y="1801368"/>
            <a:ext cx="5090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Fang et al.: 1 exploitable XSS in 50 real sites (2%) vs. 73.3% in sandbox. WAFs inflate numbers.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415888" y="2560320"/>
            <a:ext cx="5090008" cy="77724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Mitigation: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 sandbox and real-world (BountyBench, HTB Season 8) separately.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611880"/>
            <a:ext cx="45720" cy="2194560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23" name="Shape 21"/>
          <p:cNvSpPr/>
          <p:nvPr/>
        </p:nvSpPr>
        <p:spPr>
          <a:xfrm>
            <a:off x="502920" y="3611880"/>
            <a:ext cx="5501488" cy="2194560"/>
          </a:xfrm>
          <a:prstGeom prst="roundRect">
            <a:avLst>
              <a:gd name="adj" fmla="val 333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3749040"/>
            <a:ext cx="408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6F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Negative Transfer in Memory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769968" y="374904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FB347">
              <a:alpha val="12000"/>
            </a:srgbClr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69968" y="37490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B3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MEDIUM RISK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4178808"/>
            <a:ext cx="5090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strategy for Framework A v1 could be harmful against v2. No surveyed paper addresses this.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4937760"/>
            <a:ext cx="5090008" cy="77724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Mitigation: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Negative transfer guard in skill promotion. Ablation A2 split: seen vs. unseen technology.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87288" y="3611880"/>
            <a:ext cx="45720" cy="21945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0" name="Shape 28"/>
          <p:cNvSpPr/>
          <p:nvPr/>
        </p:nvSpPr>
        <p:spPr>
          <a:xfrm>
            <a:off x="6233008" y="3611880"/>
            <a:ext cx="5501488" cy="2194560"/>
          </a:xfrm>
          <a:prstGeom prst="roundRect">
            <a:avLst>
              <a:gd name="adj" fmla="val 333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15888" y="3749040"/>
            <a:ext cx="408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6F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UCB Hyperparameter Sensitivity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10500055" y="374904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00D4FF">
              <a:alpha val="12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500055" y="37490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MANAGEABLE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6415888" y="4178808"/>
            <a:ext cx="5090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tunable parameters. Narrow optimal range may not generalize.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415888" y="4937760"/>
            <a:ext cx="5090008" cy="77724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Mitigation: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Grid search on Tier 1 (PentestEval). Report ±10% perturbation sensitivity.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1582110" cy="2743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 / 20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RedGrid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0F6F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What We Have Accomplished (Inception Stage)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1430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What's Done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508760"/>
            <a:ext cx="5394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ts val="1400"/>
              </a:lnSpc>
              <a:spcAft>
                <a:spcPts val="800"/>
              </a:spcAft>
              <a:buSzPct val="100000"/>
              <a:buChar char="✓"/>
            </a:pPr>
            <a:r>
              <a:rPr lang="en-US" sz="11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Systematic review of 11 papers</a:t>
            </a:r>
            <a:endParaRPr lang="en-US" sz="1100" dirty="0"/>
          </a:p>
          <a:p>
            <a:pPr marL="228600" indent="-228600">
              <a:lnSpc>
                <a:spcPts val="1400"/>
              </a:lnSpc>
              <a:spcAft>
                <a:spcPts val="800"/>
              </a:spcAft>
              <a:buSzPct val="100000"/>
              <a:buChar char="✓"/>
            </a:pPr>
            <a:r>
              <a:rPr lang="en-US" sz="11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failure modes identified with quantitative evidence</a:t>
            </a:r>
            <a:endParaRPr lang="en-US" sz="1100" dirty="0"/>
          </a:p>
          <a:p>
            <a:pPr marL="228600" indent="-228600">
              <a:lnSpc>
                <a:spcPts val="1400"/>
              </a:lnSpc>
              <a:spcAft>
                <a:spcPts val="800"/>
              </a:spcAft>
              <a:buSzPct val="100000"/>
              <a:buChar char="✓"/>
            </a:pPr>
            <a:r>
              <a:rPr lang="en-US" sz="11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gap formalized</a:t>
            </a:r>
            <a:endParaRPr lang="en-US" sz="1100" dirty="0"/>
          </a:p>
          <a:p>
            <a:pPr marL="228600" indent="-228600">
              <a:lnSpc>
                <a:spcPts val="1400"/>
              </a:lnSpc>
              <a:spcAft>
                <a:spcPts val="800"/>
              </a:spcAft>
              <a:buSzPct val="100000"/>
              <a:buChar char="✓"/>
            </a:pPr>
            <a:r>
              <a:rPr lang="en-US" sz="11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contribution hypotheses (C1, C2, C3) with validation gates</a:t>
            </a:r>
            <a:endParaRPr lang="en-US" sz="1100" dirty="0"/>
          </a:p>
          <a:p>
            <a:pPr marL="228600" indent="-228600">
              <a:lnSpc>
                <a:spcPts val="1400"/>
              </a:lnSpc>
              <a:spcAft>
                <a:spcPts val="800"/>
              </a:spcAft>
              <a:buSzPct val="100000"/>
              <a:buChar char="✓"/>
            </a:pPr>
            <a:r>
              <a:rPr lang="en-US" sz="11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specified at implementation level</a:t>
            </a:r>
            <a:endParaRPr lang="en-US" sz="1100" dirty="0"/>
          </a:p>
          <a:p>
            <a:pPr marL="228600" indent="-228600">
              <a:lnSpc>
                <a:spcPts val="1400"/>
              </a:lnSpc>
              <a:spcAft>
                <a:spcPts val="800"/>
              </a:spcAft>
              <a:buSzPct val="100000"/>
              <a:buChar char="✓"/>
            </a:pPr>
            <a:r>
              <a:rPr lang="en-US" sz="11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evaluation plan: 7-tier benchmark suite, ablation design</a:t>
            </a:r>
            <a:endParaRPr lang="en-US" sz="1100" dirty="0"/>
          </a:p>
          <a:p>
            <a:pPr marL="228600" indent="-228600">
              <a:lnSpc>
                <a:spcPts val="1400"/>
              </a:lnSpc>
              <a:spcAft>
                <a:spcPts val="800"/>
              </a:spcAft>
              <a:buSzPct val="100000"/>
              <a:buChar char="✓"/>
            </a:pPr>
            <a:r>
              <a:rPr lang="en-US" sz="11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Inception report submitted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11430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What's Next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1508760"/>
            <a:ext cx="5394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ts val="1400"/>
              </a:lnSpc>
              <a:spcAft>
                <a:spcPts val="800"/>
              </a:spcAft>
              <a:buSzPct val="100000"/>
              <a:buChar char="○"/>
            </a:pPr>
            <a:r>
              <a:rPr lang="en-US" sz="11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VDG prototype implementation</a:t>
            </a:r>
            <a:endParaRPr lang="en-US" sz="1100" dirty="0"/>
          </a:p>
          <a:p>
            <a:pPr marL="228600" indent="-228600">
              <a:lnSpc>
                <a:spcPts val="1400"/>
              </a:lnSpc>
              <a:spcAft>
                <a:spcPts val="800"/>
              </a:spcAft>
              <a:buSzPct val="100000"/>
              <a:buChar char="○"/>
            </a:pPr>
            <a:r>
              <a:rPr lang="en-US" sz="11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study — edge inference precision on PentestEval GT</a:t>
            </a:r>
            <a:endParaRPr lang="en-US" sz="1100" dirty="0"/>
          </a:p>
          <a:p>
            <a:pPr marL="228600" indent="-228600">
              <a:lnSpc>
                <a:spcPts val="1400"/>
              </a:lnSpc>
              <a:spcAft>
                <a:spcPts val="800"/>
              </a:spcAft>
              <a:buSzPct val="100000"/>
              <a:buChar char="○"/>
            </a:pPr>
            <a:r>
              <a:rPr lang="en-US" sz="11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CVE-Bench + PentestEval evaluation runs</a:t>
            </a:r>
            <a:endParaRPr lang="en-US" sz="1100" dirty="0"/>
          </a:p>
          <a:p>
            <a:pPr marL="228600" indent="-228600">
              <a:lnSpc>
                <a:spcPts val="1400"/>
              </a:lnSpc>
              <a:spcAft>
                <a:spcPts val="800"/>
              </a:spcAft>
              <a:buSzPct val="100000"/>
              <a:buChar char="○"/>
            </a:pPr>
            <a:r>
              <a:rPr lang="en-US" sz="11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GraphQL and multi-host evaluation</a:t>
            </a:r>
            <a:endParaRPr lang="en-US" sz="1100" dirty="0"/>
          </a:p>
          <a:p>
            <a:pPr marL="228600" indent="-228600">
              <a:lnSpc>
                <a:spcPts val="1400"/>
              </a:lnSpc>
              <a:spcAft>
                <a:spcPts val="800"/>
              </a:spcAft>
              <a:buSzPct val="100000"/>
              <a:buChar char="○"/>
            </a:pPr>
            <a:r>
              <a:rPr lang="en-US" sz="11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Ablation studies (A1–A8)</a:t>
            </a:r>
            <a:endParaRPr lang="en-US" sz="1100" dirty="0"/>
          </a:p>
          <a:p>
            <a:pPr marL="228600" indent="-228600">
              <a:lnSpc>
                <a:spcPts val="1400"/>
              </a:lnSpc>
              <a:spcAft>
                <a:spcPts val="800"/>
              </a:spcAft>
              <a:buSzPct val="100000"/>
              <a:buChar char="○"/>
            </a:pPr>
            <a:r>
              <a:rPr lang="en-US" sz="110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Thesis writing and final submission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502920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0F6F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"The gap is identified. The direction is set. RedGrid investigates whether dependency-aware exploration can make autonomous penetration testing meaningfully better."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0" y="50292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RedGrid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0" y="1051560"/>
            <a:ext cx="12191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0F6F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0" y="19202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 welcome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81448" y="2423160"/>
            <a:ext cx="1828800" cy="0"/>
          </a:xfrm>
          <a:prstGeom prst="line">
            <a:avLst/>
          </a:prstGeom>
          <a:noFill/>
          <a:ln w="25400">
            <a:solidFill>
              <a:srgbClr val="FF3B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77440" y="28346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KEY NUMBERS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310896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FFB3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 </a:t>
            </a:r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papers surveyed
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FFB3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 </a:t>
            </a:r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contribution hypotheses
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FFB3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  </a:t>
            </a:r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layers
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FFB3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 </a:t>
            </a:r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benchmarked attack surfaces
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FFB3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  </a:t>
            </a:r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CVEs (primary benchmark)
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FFB3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  </a:t>
            </a:r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UCB hyperparameters
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8346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KEY TERMS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3108960"/>
            <a:ext cx="5212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VDG  </a:t>
            </a:r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Vulnerability Dependency Graph
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UCB  </a:t>
            </a:r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Upper Confidence Bound (exploration strategy)
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  </a:t>
            </a:r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Environmental Layer (confirmed facts only)
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ADM  </a:t>
            </a:r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Attack Decision-Making (PentestEval stage)
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E_ord  </a:t>
            </a:r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Ordinal evidence confidence score (0–5)
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FullCompact  </a:t>
            </a:r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0F6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reconstruction from EL+AL at 85% utilization
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[Author Names] · [University] · Sep 2026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071055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Target venue: USENIX Security / IEEE S&amp;P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2026-09-02T04:59:53Z</dcterms:created>
  <dcterms:modified xsi:type="dcterms:W3CDTF">2026-09-02T04:59:53Z</dcterms:modified>
</cp:coreProperties>
</file>