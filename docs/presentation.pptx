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12700">
            <a:solidFill>
              <a:srgbClr val="1A28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12700">
            <a:solidFill>
              <a:srgbClr val="1A28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12700">
            <a:solidFill>
              <a:srgbClr val="1A28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12700">
            <a:solidFill>
              <a:srgbClr val="1A28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12700">
            <a:solidFill>
              <a:srgbClr val="1A28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12700">
            <a:solidFill>
              <a:srgbClr val="1A28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548640"/>
            <a:ext cx="2743200" cy="2743200"/>
          </a:xfrm>
          <a:prstGeom prst="ellipse">
            <a:avLst/>
          </a:prstGeom>
          <a:solidFill>
            <a:srgbClr val="7B2FFF">
              <a:alpha val="15000"/>
            </a:srgbClr>
          </a:solidFill>
          <a:ln w="12700">
            <a:solidFill>
              <a:srgbClr val="7B2FFF">
                <a:alpha val="3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960120"/>
            <a:ext cx="1371600" cy="1371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2468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CMatrix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Multi-Agent Security Orchestration &amp; VAPT Platform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286000" y="3913632"/>
            <a:ext cx="4572000" cy="0"/>
          </a:xfrm>
          <a:prstGeom prst="line">
            <a:avLst/>
          </a:prstGeom>
          <a:noFill/>
          <a:ln w="19050">
            <a:solidFill>
              <a:srgbClr val="7B2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 Paul (Reg No: 55)  ·  Md Rakibur Rahman (Reg No: 49)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Dr. Md. Abdur Razzaque — CSEDU, University of Dhaka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0" y="484632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CSE-400: Project on Cyber Security  |  Professional Masters in Information and Cyber Security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Red Teaming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7B2FFF">
              <a:alpha val="20000"/>
            </a:srgbClr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16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"Transforming static scanning into reasoning-driven security intelligence."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743200" cy="2651760"/>
          </a:xfrm>
          <a:prstGeom prst="rect">
            <a:avLst/>
          </a:prstGeom>
          <a:solidFill>
            <a:srgbClr val="111E35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0"/>
            <a:ext cx="2743200" cy="640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48256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74320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VAPT is manual, slow, and non-scalable. Existing AI tools are fragile and costly.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1920240"/>
            <a:ext cx="2743200" cy="2651760"/>
          </a:xfrm>
          <a:prstGeom prst="rect">
            <a:avLst/>
          </a:prstGeom>
          <a:solidFill>
            <a:srgbClr val="111E35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37560" y="1920240"/>
            <a:ext cx="2743200" cy="64008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04825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29000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429000" y="274320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CMatrix (LLMOrch-VAPT) — A resilient, multi-agent orchestration framework for industrial-grade autonomous security.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920240"/>
            <a:ext cx="2743200" cy="2651760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920240"/>
            <a:ext cx="2743200" cy="64008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048256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09360" y="24505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Philosophy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309360" y="274320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red team must be as resilient as the infrastructure it tests.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Master-Worker hierarchy powered by LangGraph for stateful orchestration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621792"/>
          </a:xfrm>
          <a:prstGeom prst="rect">
            <a:avLst/>
          </a:prstGeom>
          <a:solidFill>
            <a:srgbClr val="111E35"/>
          </a:solidFill>
          <a:ln w="9525">
            <a:solidFill>
              <a:srgbClr val="00D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53312"/>
            <a:ext cx="73152" cy="62179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2184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426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Supervisor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17520" y="149047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State Machine — decomposes complex goals into sub-tasks &amp; delegates to agents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48256"/>
            <a:ext cx="8412480" cy="621792"/>
          </a:xfrm>
          <a:prstGeom prst="rect">
            <a:avLst/>
          </a:prstGeom>
          <a:solidFill>
            <a:srgbClr val="111E35"/>
          </a:solidFill>
          <a:ln w="9525">
            <a:solidFill>
              <a:srgbClr val="00FF9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5760" y="2048256"/>
            <a:ext cx="73152" cy="621792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6712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51560" y="2121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Agents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017520" y="2185416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Specialized agents with domain-specific toolsets (Network, Web, Auth, Config, Vuln, API, Command)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65760" y="2743200"/>
            <a:ext cx="8412480" cy="621792"/>
          </a:xfrm>
          <a:prstGeom prst="rect">
            <a:avLst/>
          </a:prstGeom>
          <a:solidFill>
            <a:srgbClr val="111E35"/>
          </a:solidFill>
          <a:ln w="9525">
            <a:solidFill>
              <a:srgbClr val="7B2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65760" y="2743200"/>
            <a:ext cx="73152" cy="621792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6207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1560" y="28163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Layer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3017520" y="288036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state, thread persistence, and agent delegation via LangGraph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365760" y="3438144"/>
            <a:ext cx="8412480" cy="621792"/>
          </a:xfrm>
          <a:prstGeom prst="rect">
            <a:avLst/>
          </a:prstGeom>
          <a:solidFill>
            <a:srgbClr val="111E35"/>
          </a:solidFill>
          <a:ln w="9525">
            <a:solidFill>
              <a:srgbClr val="FFD70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65760" y="3438144"/>
            <a:ext cx="73152" cy="621792"/>
          </a:xfrm>
          <a:prstGeom prst="rect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57016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5112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3017520" y="357530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event streaming via WebSockets and Server-Sent Events (SSE)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365760" y="4133088"/>
            <a:ext cx="8412480" cy="621792"/>
          </a:xfrm>
          <a:prstGeom prst="rect">
            <a:avLst/>
          </a:prstGeom>
          <a:solidFill>
            <a:srgbClr val="111E35"/>
          </a:solidFill>
          <a:ln w="9525">
            <a:solidFill>
              <a:srgbClr val="FF950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365760" y="4133088"/>
            <a:ext cx="73152" cy="621792"/>
          </a:xfrm>
          <a:prstGeom prst="rect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5196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51560" y="4206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3017520" y="427024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for persistent engagement state  ·  Qdrant for semantic memory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Specialist Agent Ecosystem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specialized agents collaborating through a Supervisor Pattern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353312"/>
            <a:ext cx="2103120" cy="1417320"/>
          </a:xfrm>
          <a:prstGeom prst="rect">
            <a:avLst/>
          </a:prstGeom>
          <a:solidFill>
            <a:srgbClr val="111E35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444752"/>
            <a:ext cx="548640" cy="548640"/>
          </a:xfrm>
          <a:prstGeom prst="ellipse">
            <a:avLst/>
          </a:prstGeom>
          <a:solidFill>
            <a:srgbClr val="00D4FF">
              <a:alpha val="20000"/>
            </a:srgbClr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49047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" y="20482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Agent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20040" y="231343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scanning, service discovery &amp; topology mapping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514600" y="1353312"/>
            <a:ext cx="2103120" cy="1417320"/>
          </a:xfrm>
          <a:prstGeom prst="rect">
            <a:avLst/>
          </a:prstGeom>
          <a:solidFill>
            <a:srgbClr val="111E35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91840" y="1444752"/>
            <a:ext cx="548640" cy="548640"/>
          </a:xfrm>
          <a:prstGeom prst="ellipse">
            <a:avLst/>
          </a:prstGeom>
          <a:solidFill>
            <a:srgbClr val="00FF9D">
              <a:alpha val="20000"/>
            </a:srgbClr>
          </a:solidFill>
          <a:ln w="12700">
            <a:solidFill>
              <a:srgbClr val="00FF9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490472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0482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Agent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560320" y="231343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HTTP/HTTPS validation &amp; vulnerability analysis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754880" y="1353312"/>
            <a:ext cx="2103120" cy="1417320"/>
          </a:xfrm>
          <a:prstGeom prst="rect">
            <a:avLst/>
          </a:prstGeom>
          <a:solidFill>
            <a:srgbClr val="111E35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532120" y="1444752"/>
            <a:ext cx="548640" cy="548640"/>
          </a:xfrm>
          <a:prstGeom prst="ellipse">
            <a:avLst/>
          </a:prstGeom>
          <a:solidFill>
            <a:srgbClr val="FF6B6B">
              <a:alpha val="20000"/>
            </a:srgbClr>
          </a:solidFill>
          <a:ln w="12700">
            <a:solidFill>
              <a:srgbClr val="FF6B6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490472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800600" y="20482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Agent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4800600" y="231343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session security &amp; brute-force testing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995160" y="1353312"/>
            <a:ext cx="2103120" cy="1417320"/>
          </a:xfrm>
          <a:prstGeom prst="rect">
            <a:avLst/>
          </a:prstGeom>
          <a:solidFill>
            <a:srgbClr val="111E35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72400" y="1444752"/>
            <a:ext cx="548640" cy="548640"/>
          </a:xfrm>
          <a:prstGeom prst="ellipse">
            <a:avLst/>
          </a:prstGeom>
          <a:solidFill>
            <a:srgbClr val="FFD700">
              <a:alpha val="20000"/>
            </a:srgbClr>
          </a:solidFill>
          <a:ln w="12700">
            <a:solidFill>
              <a:srgbClr val="FFD70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1490472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040880" y="20482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Agent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040880" y="231343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&amp; compliance audits (CIS, PCI-DSS)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1097280" y="2880360"/>
            <a:ext cx="2103120" cy="1417320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874520" y="2971800"/>
            <a:ext cx="548640" cy="548640"/>
          </a:xfrm>
          <a:prstGeom prst="ellipse">
            <a:avLst/>
          </a:prstGeom>
          <a:solidFill>
            <a:srgbClr val="7B2FFF">
              <a:alpha val="20000"/>
            </a:srgbClr>
          </a:solidFill>
          <a:ln w="12700">
            <a:solidFill>
              <a:srgbClr val="7B2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0240" y="301752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43000" y="35753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 Intel Agent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1143000" y="38404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CVE research &amp; threat intel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3520440" y="2880360"/>
            <a:ext cx="2103120" cy="1417320"/>
          </a:xfrm>
          <a:prstGeom prst="rect">
            <a:avLst/>
          </a:prstGeom>
          <a:solidFill>
            <a:srgbClr val="111E35"/>
          </a:solidFill>
          <a:ln w="12700">
            <a:solidFill>
              <a:srgbClr val="FF950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297680" y="2971800"/>
            <a:ext cx="548640" cy="548640"/>
          </a:xfrm>
          <a:prstGeom prst="ellipse">
            <a:avLst/>
          </a:prstGeom>
          <a:solidFill>
            <a:srgbClr val="FF9500">
              <a:alpha val="20000"/>
            </a:srgbClr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30175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3566160" y="35753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Agent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3566160" y="38404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REST/GraphQL testing &amp; endpoint fuzzing</a:t>
            </a:r>
            <a:endParaRPr lang="en-US" sz="950" dirty="0"/>
          </a:p>
        </p:txBody>
      </p:sp>
      <p:sp>
        <p:nvSpPr>
          <p:cNvPr id="36" name="Shape 28"/>
          <p:cNvSpPr/>
          <p:nvPr/>
        </p:nvSpPr>
        <p:spPr>
          <a:xfrm>
            <a:off x="5943600" y="2880360"/>
            <a:ext cx="2103120" cy="1417320"/>
          </a:xfrm>
          <a:prstGeom prst="rect">
            <a:avLst/>
          </a:prstGeom>
          <a:solidFill>
            <a:srgbClr val="111E35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720840" y="2971800"/>
            <a:ext cx="548640" cy="548640"/>
          </a:xfrm>
          <a:prstGeom prst="ellipse">
            <a:avLst/>
          </a:prstGeom>
          <a:solidFill>
            <a:srgbClr val="00E5FF">
              <a:alpha val="20000"/>
            </a:srgbClr>
          </a:solidFill>
          <a:ln w="12700">
            <a:solidFill>
              <a:srgbClr val="00E5FF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017520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989320" y="35753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Agent</a:t>
            </a:r>
            <a:endParaRPr lang="en-US" sz="1100" dirty="0"/>
          </a:p>
        </p:txBody>
      </p:sp>
      <p:sp>
        <p:nvSpPr>
          <p:cNvPr id="40" name="Text 31"/>
          <p:cNvSpPr/>
          <p:nvPr/>
        </p:nvSpPr>
        <p:spPr>
          <a:xfrm>
            <a:off x="5989320" y="38404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terminal with real-time audit logging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1 /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Technical Innovations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Operational Fragility of AI Agents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114800" cy="3383280"/>
          </a:xfrm>
          <a:prstGeom prst="rect">
            <a:avLst/>
          </a:prstGeom>
          <a:solidFill>
            <a:srgbClr val="111E35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4114800" cy="640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78992" y="1463040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Autonomous Provider Failover (APF)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201168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20574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9436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reasoning graph from specific LLM providers (Gemini, GPT-4, Llama)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78892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8346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94360" y="3044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Mid-workflow checkpointing ensures zero state loss during provider outages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56616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611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94360" y="3822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Recovery (MTTR) &lt; 2 seconds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0080" y="4315968"/>
            <a:ext cx="3566160" cy="320040"/>
          </a:xfrm>
          <a:prstGeom prst="rect">
            <a:avLst/>
          </a:prstGeom>
          <a:solidFill>
            <a:srgbClr val="00D4FF">
              <a:alpha val="20000"/>
            </a:srgbClr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325112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&lt; 2 seconds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663440" y="1325880"/>
            <a:ext cx="4114800" cy="3383280"/>
          </a:xfrm>
          <a:prstGeom prst="rect">
            <a:avLst/>
          </a:prstGeom>
          <a:solidFill>
            <a:srgbClr val="111E35"/>
          </a:solidFill>
          <a:ln w="19050">
            <a:solidFill>
              <a:srgbClr val="00FF9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63440" y="1325880"/>
            <a:ext cx="4114800" cy="64008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463040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358384" y="146304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Dynamic Complexity-Aware Tiering (DCAT)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800600" y="201168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2057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489204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Complexity Signals from security tasks to select the ideal model tier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800600" y="278892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892040" y="28346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892040" y="3044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simple recon to Flash models, complex exploitation to Reasoning models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800600" y="356616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892040" y="3611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4892040" y="3822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84.2% reduction in operational costs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937760" y="4315968"/>
            <a:ext cx="3566160" cy="320040"/>
          </a:xfrm>
          <a:prstGeom prst="rect">
            <a:avLst/>
          </a:prstGeom>
          <a:solidFill>
            <a:srgbClr val="00FF9D">
              <a:alpha val="20000"/>
            </a:srgbClr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37760" y="4325112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84.2% Cost Reduction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2 /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Technical Innovations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Security-Semantic Caching &amp; Human-in-the-Loop Governance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114800" cy="3383280"/>
          </a:xfrm>
          <a:prstGeom prst="rect">
            <a:avLst/>
          </a:prstGeom>
          <a:solidFill>
            <a:srgbClr val="111E35"/>
          </a:solidFill>
          <a:ln w="19050">
            <a:solidFill>
              <a:srgbClr val="7B2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25880"/>
            <a:ext cx="4114800" cy="64008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78992" y="1463040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Security-Semantic Caching (SSC)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201168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20574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9436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Reasoning Patterns in Qdrant vector DB rather than raw text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78892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8346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94360" y="3044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similar vulnerability patterns across heterogeneous hosts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56616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611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94360" y="3822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redundant LLM calls, improving response speed by 3.5x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0080" y="4315968"/>
            <a:ext cx="3566160" cy="320040"/>
          </a:xfrm>
          <a:prstGeom prst="rect">
            <a:avLst/>
          </a:prstGeom>
          <a:solidFill>
            <a:srgbClr val="7B2FFF">
              <a:alpha val="20000"/>
            </a:srgbClr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325112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3.5x Faster Response Speed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663440" y="1325880"/>
            <a:ext cx="4114800" cy="3383280"/>
          </a:xfrm>
          <a:prstGeom prst="rect">
            <a:avLst/>
          </a:prstGeom>
          <a:solidFill>
            <a:srgbClr val="111E35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63440" y="1325880"/>
            <a:ext cx="4114800" cy="6400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463040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358384" y="146304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Human-in-the-Loop (HITL) Governance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800600" y="201168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20574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489204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graph-based approval gates intercept critical operations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800600" y="278892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892040" y="28346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892040" y="3044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destructive security actions (e.g., exploitation) without explicit human authorization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800600" y="3566160"/>
            <a:ext cx="3840480" cy="685800"/>
          </a:xfrm>
          <a:prstGeom prst="rect">
            <a:avLst/>
          </a:prstGeom>
          <a:solidFill>
            <a:srgbClr val="0A1628"/>
          </a:solidFill>
          <a:ln w="6350">
            <a:solidFill>
              <a:srgbClr val="1A2E5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892040" y="3611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4892040" y="3822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thought and command recorded in a tamper-proof JSON-B log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937760" y="4315968"/>
            <a:ext cx="3566160" cy="320040"/>
          </a:xfrm>
          <a:prstGeom prst="rect">
            <a:avLst/>
          </a:prstGeom>
          <a:solidFill>
            <a:srgbClr val="FF6B6B">
              <a:alpha val="20000"/>
            </a:srgbClr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37760" y="4325112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Unauthorized Actions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Persistent Memory &amp; Context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system smarter over the course of an engagement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201168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with every engagement.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74320" y="3657600"/>
            <a:ext cx="8595360" cy="841248"/>
          </a:xfrm>
          <a:prstGeom prst="rect">
            <a:avLst/>
          </a:prstGeom>
          <a:solidFill>
            <a:srgbClr val="111E35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7124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"Recall the open ports found on 192.168.1.100 earlier"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reference past discoveries across sessions to build complex, multi-step attack chains.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60320" y="1188720"/>
            <a:ext cx="6217920" cy="731520"/>
          </a:xfrm>
          <a:prstGeom prst="rect">
            <a:avLst/>
          </a:prstGeom>
          <a:solidFill>
            <a:srgbClr val="111E35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60320" y="1188720"/>
            <a:ext cx="64008" cy="731520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43200" y="123444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Checkpointing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0" y="14996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resume engagements without losing reasoning progress — full state preserved.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560320" y="1993392"/>
            <a:ext cx="6217920" cy="731520"/>
          </a:xfrm>
          <a:prstGeom prst="rect">
            <a:avLst/>
          </a:prstGeom>
          <a:solidFill>
            <a:srgbClr val="111E35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60320" y="1993392"/>
            <a:ext cx="64008" cy="7315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743200" y="203911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743200" y="23042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Qdrant-powered long-term memory of past scan results and vulnerability findings.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60320" y="2798064"/>
            <a:ext cx="6217920" cy="731520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60320" y="2798064"/>
            <a:ext cx="64008" cy="731520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43200" y="284378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Retrieval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743200" y="3108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recall past discoveries by IP, service, or finding type to build attack chains.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Scope &amp; Objectives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LLMOrch-VAPT — Four primary operational goals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4114800" cy="1600200"/>
          </a:xfrm>
          <a:prstGeom prst="rect">
            <a:avLst/>
          </a:prstGeom>
          <a:solidFill>
            <a:srgbClr val="111E35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53312"/>
            <a:ext cx="4114800" cy="6400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1517904"/>
            <a:ext cx="457200" cy="457200"/>
          </a:xfrm>
          <a:prstGeom prst="rect">
            <a:avLst/>
          </a:prstGeom>
          <a:solidFill>
            <a:srgbClr val="00D4FF">
              <a:alpha val="20000"/>
            </a:srgbClr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55448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81328" y="15544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02920" y="2011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the effectiveness of APF in maintaining workflow continuity during unplanned LLM provider outages.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1353312"/>
            <a:ext cx="4114800" cy="1600200"/>
          </a:xfrm>
          <a:prstGeom prst="rect">
            <a:avLst/>
          </a:prstGeom>
          <a:solidFill>
            <a:srgbClr val="111E35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63440" y="1353312"/>
            <a:ext cx="4114800" cy="64008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73168" y="1517904"/>
            <a:ext cx="457200" cy="457200"/>
          </a:xfrm>
          <a:prstGeom prst="rect">
            <a:avLst/>
          </a:prstGeom>
          <a:solidFill>
            <a:srgbClr val="00FF9D">
              <a:alpha val="20000"/>
            </a:srgbClr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7316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FF9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808" y="155448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779008" y="15544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Sustainability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800600" y="2011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DCAT's ability to reduce costs while maintaining high-fidelity security reasoning output.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65760" y="3063240"/>
            <a:ext cx="4114800" cy="1600200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65760" y="3063240"/>
            <a:ext cx="4114800" cy="64008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5488" y="3227832"/>
            <a:ext cx="457200" cy="457200"/>
          </a:xfrm>
          <a:prstGeom prst="rect">
            <a:avLst/>
          </a:prstGeom>
          <a:solidFill>
            <a:srgbClr val="7B2FFF">
              <a:alpha val="20000"/>
            </a:srgbClr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5488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2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26440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481328" y="3264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502920" y="372160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impact of SSC on performance during large-scale network assessments across heterogeneous hosts.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663440" y="3063240"/>
            <a:ext cx="4114800" cy="1600200"/>
          </a:xfrm>
          <a:prstGeom prst="rect">
            <a:avLst/>
          </a:prstGeom>
          <a:solidFill>
            <a:srgbClr val="111E35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663440" y="3063240"/>
            <a:ext cx="4114800" cy="64008"/>
          </a:xfrm>
          <a:prstGeom prst="rect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773168" y="3227832"/>
            <a:ext cx="457200" cy="457200"/>
          </a:xfrm>
          <a:prstGeom prst="rect">
            <a:avLst/>
          </a:prstGeom>
          <a:solidFill>
            <a:srgbClr val="FFD700">
              <a:alpha val="20000"/>
            </a:srgbClr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73168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3264408"/>
            <a:ext cx="365760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779008" y="3264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Governance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800600" y="372160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that stateful graph orchestration can effectively mitigate risks of autonomous exploitation.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Roadmap: Phase 3 &amp; Beyond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CMatrix for enterprise-grade continuous security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359152"/>
            <a:ext cx="7680960" cy="0"/>
          </a:xfrm>
          <a:prstGeom prst="line">
            <a:avLst/>
          </a:prstGeom>
          <a:noFill/>
          <a:ln w="19050">
            <a:solidFill>
              <a:srgbClr val="8FA3B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143000" y="2221992"/>
            <a:ext cx="274320" cy="274320"/>
          </a:xfrm>
          <a:prstGeom prst="ellipse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15568"/>
            <a:ext cx="192024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00FF9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05840" y="118872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1481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606040"/>
            <a:ext cx="1920240" cy="1554480"/>
          </a:xfrm>
          <a:prstGeom prst="rect">
            <a:avLst/>
          </a:prstGeom>
          <a:solidFill>
            <a:srgbClr val="111E35"/>
          </a:solidFill>
          <a:ln w="9525">
            <a:solidFill>
              <a:srgbClr val="00FF9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2679192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vulnerability prioritization and automated remediation scripts.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246120" y="2221992"/>
            <a:ext cx="274320" cy="274320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60320" y="1115568"/>
            <a:ext cx="192024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FFD700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188720"/>
            <a:ext cx="347472" cy="3474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118872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651760" y="1481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2560320" y="2606040"/>
            <a:ext cx="1920240" cy="1554480"/>
          </a:xfrm>
          <a:prstGeom prst="rect">
            <a:avLst/>
          </a:prstGeom>
          <a:solidFill>
            <a:srgbClr val="111E35"/>
          </a:solidFill>
          <a:ln w="9525">
            <a:solidFill>
              <a:srgbClr val="FFD70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651760" y="2679192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and Role-Based Access Control (RBAC) for security teams.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349240" y="2221992"/>
            <a:ext cx="274320" cy="274320"/>
          </a:xfrm>
          <a:prstGeom prst="ellipse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663440" y="1115568"/>
            <a:ext cx="192024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347472" cy="34747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12080" y="118872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4754880" y="1481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4663440" y="2606040"/>
            <a:ext cx="1920240" cy="1554480"/>
          </a:xfrm>
          <a:prstGeom prst="rect">
            <a:avLst/>
          </a:prstGeom>
          <a:solidFill>
            <a:srgbClr val="111E35"/>
          </a:solidFill>
          <a:ln w="9525">
            <a:solidFill>
              <a:srgbClr val="7B2F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754880" y="2679192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SOC2, ISO 27001, and HIPAA reporting modules.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7452360" y="2221992"/>
            <a:ext cx="274320" cy="2743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766560" y="1115568"/>
            <a:ext cx="192024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FF6B6B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188720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315200" y="118872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6858000" y="1481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6766560" y="2606040"/>
            <a:ext cx="1920240" cy="1554480"/>
          </a:xfrm>
          <a:prstGeom prst="rect">
            <a:avLst/>
          </a:prstGeom>
          <a:solidFill>
            <a:srgbClr val="111E35"/>
          </a:solidFill>
          <a:ln w="9525">
            <a:solidFill>
              <a:srgbClr val="FF6B6B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858000" y="2679192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agent deployment for massive infrastructure scanning.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-457200"/>
            <a:ext cx="3657600" cy="3657600"/>
          </a:xfrm>
          <a:prstGeom prst="ellipse">
            <a:avLst/>
          </a:prstGeom>
          <a:solidFill>
            <a:srgbClr val="7B2FFF">
              <a:alpha val="12000"/>
            </a:srgbClr>
          </a:solidFill>
          <a:ln w="12700">
            <a:solidFill>
              <a:srgbClr val="7B2F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2286000"/>
            <a:ext cx="3200400" cy="3200400"/>
          </a:xfrm>
          <a:prstGeom prst="ellipse">
            <a:avLst/>
          </a:prstGeom>
          <a:solidFill>
            <a:srgbClr val="00FF9D">
              <a:alpha val="12000"/>
            </a:srgbClr>
          </a:solidFill>
          <a:ln w="12700">
            <a:solidFill>
              <a:srgbClr val="00FF9D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59436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CMatrix: A force multiplier for security teams,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23317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combining autonomous reasoning with industrial-grade resilience.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196596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3017520"/>
            <a:ext cx="196596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8912" y="3108960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38912" y="3419856"/>
            <a:ext cx="1819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Zero-state-loss failover via APF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468880" y="3017520"/>
            <a:ext cx="196596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468880" y="3017520"/>
            <a:ext cx="1965960" cy="54864"/>
          </a:xfrm>
          <a:prstGeom prst="rect">
            <a:avLst/>
          </a:prstGeom>
          <a:solidFill>
            <a:srgbClr val="00FF9D"/>
          </a:solidFill>
          <a:ln w="12700">
            <a:solidFill>
              <a:srgbClr val="00FF9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42032" y="3108960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Cost-Effective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542032" y="3419856"/>
            <a:ext cx="1819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model routing via DCAT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0" y="3017520"/>
            <a:ext cx="196596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0" y="3017520"/>
            <a:ext cx="1965960" cy="54864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45152" y="3108960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45152" y="3419856"/>
            <a:ext cx="1819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by HITL approval gates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3017520"/>
            <a:ext cx="1965960" cy="1051560"/>
          </a:xfrm>
          <a:prstGeom prst="rect">
            <a:avLst/>
          </a:prstGeom>
          <a:solidFill>
            <a:srgbClr val="111E35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75120" y="3017520"/>
            <a:ext cx="1965960" cy="54864"/>
          </a:xfrm>
          <a:prstGeom prst="rect">
            <a:avLst/>
          </a:prstGeom>
          <a:solidFill>
            <a:srgbClr val="7B2FFF"/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48272" y="3108960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748272" y="3419856"/>
            <a:ext cx="1819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memory &amp; specialized agents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❤ by Nishan Paul &amp; Md Rakibur Rahman  |  cmatrix.kaiofficial.xyz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CMatrix – AI-Powered VAPT Platform</dc:title>
  <dc:subject>PptxGenJS Presentation</dc:subject>
  <dc:creator>PptxGenJS</dc:creator>
  <cp:lastModifiedBy>PptxGenJS</cp:lastModifiedBy>
  <cp:revision>1</cp:revision>
  <dcterms:created xsi:type="dcterms:W3CDTF">2026-05-06T08:48:52Z</dcterms:created>
  <dcterms:modified xsi:type="dcterms:W3CDTF">2026-05-06T08:48:52Z</dcterms:modified>
</cp:coreProperties>
</file>