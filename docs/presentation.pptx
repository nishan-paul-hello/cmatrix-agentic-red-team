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12700">
            <a:solidFill>
              <a:srgbClr val="1A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6012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CMatrix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Multi-Agent Security Orchestration &amp; VAPT Platform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86000" y="3913632"/>
            <a:ext cx="45720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 Paul (Reg No: 55)  ·  Md Rakibur Rahman (Reg No: 49)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Md. Abdur Razzaque — CSEDU, University of Dhaka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CSE-400: Project on Cyber Security  |  Professional Masters in Information and Cyber 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Red Teaming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"Transforming static scanning into reasoning-driven security intelligence."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43200" cy="26060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8483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VAPT is manual, slow, and non-scalable. Existing AI tools are fragile and costly.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965960"/>
            <a:ext cx="2743200" cy="26060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965960"/>
            <a:ext cx="2743200" cy="640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848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29000" y="27889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 (LLMOrch-VAPT) — A resilient, multi-agent orchestration framework for industrial-grade autonomous security.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965960"/>
            <a:ext cx="2743200" cy="2606040"/>
          </a:xfrm>
          <a:prstGeom prst="rect">
            <a:avLst/>
          </a:prstGeom>
          <a:solidFill>
            <a:srgbClr val="111E35"/>
          </a:solidFill>
          <a:ln w="12700">
            <a:solidFill>
              <a:srgbClr val="9B2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965960"/>
            <a:ext cx="2743200" cy="64008"/>
          </a:xfrm>
          <a:prstGeom prst="rect">
            <a:avLst/>
          </a:prstGeom>
          <a:solidFill>
            <a:srgbClr val="9B2FFF"/>
          </a:solidFill>
          <a:ln w="12700">
            <a:solidFill>
              <a:srgbClr val="9B2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8483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278892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red team must be as resilient as the infrastructure it tests.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194560" cy="320040"/>
          </a:xfrm>
          <a:prstGeom prst="rect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Master-Worker via LangGraph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111E35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73152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848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834640" y="16459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Real-time SSE Streaming  ·  Stunning UI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solidFill>
            <a:srgbClr val="111E35"/>
          </a:solidFill>
          <a:ln w="9525">
            <a:solidFill>
              <a:srgbClr val="7B2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176272"/>
            <a:ext cx="73152" cy="5943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249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34640" y="2313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 +  LangGraph (Agentic Orchestration)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843784"/>
            <a:ext cx="8229600" cy="594360"/>
          </a:xfrm>
          <a:prstGeom prst="rect">
            <a:avLst/>
          </a:prstGeom>
          <a:solidFill>
            <a:srgbClr val="111E35"/>
          </a:solidFill>
          <a:ln w="9525">
            <a:solidFill>
              <a:srgbClr val="00FF9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843784"/>
            <a:ext cx="73152" cy="5943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535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2834640" y="29809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  ·  Long-term contextual memory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111E35"/>
          </a:solidFill>
          <a:ln w="9525">
            <a:solidFill>
              <a:srgbClr val="FFD7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511296"/>
            <a:ext cx="73152" cy="5943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2102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834640" y="36484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Queue  +  Redis  ·  Background Processing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4178808"/>
            <a:ext cx="8229600" cy="594360"/>
          </a:xfrm>
          <a:prstGeom prst="rect">
            <a:avLst/>
          </a:prstGeom>
          <a:solidFill>
            <a:srgbClr val="111E35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4178808"/>
            <a:ext cx="73152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8853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9728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2834640" y="43159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Dockerized  ·  Rapid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Specialist Agent Ecosystem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specialized agents collaborating through a Supervisor Pattern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81328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270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Agent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 &amp; topology discovery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14600" y="1371600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481328"/>
            <a:ext cx="548640" cy="548640"/>
          </a:xfrm>
          <a:prstGeom prst="ellipse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270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Agent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6032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 &amp; vulnerability analysis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1371600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32120" y="1481328"/>
            <a:ext cx="548640" cy="54864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5270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Agent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0060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 &amp; session security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995160" y="1371600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81328"/>
            <a:ext cx="548640" cy="548640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52704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Agent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40880" y="2350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compliance (CIS, PCI-DSS)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1097280" y="2898648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874520" y="3008376"/>
            <a:ext cx="548640" cy="548640"/>
          </a:xfrm>
          <a:prstGeom prst="ellipse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054096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Intel Agent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43000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research &amp; threat intelligence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520440" y="2898648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297680" y="3008376"/>
            <a:ext cx="548640" cy="548640"/>
          </a:xfrm>
          <a:prstGeom prst="ellipse">
            <a:avLst/>
          </a:prstGeom>
          <a:solidFill>
            <a:srgbClr val="FF9500">
              <a:alpha val="20000"/>
            </a:srgbClr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054096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11880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Agent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566160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REST/GraphQL security testing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5943600" y="2898648"/>
            <a:ext cx="2103120" cy="14173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720840" y="3008376"/>
            <a:ext cx="548640" cy="54864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054096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035040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Agent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5989320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terminal with audit trails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Reasoning &amp; Orchestration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898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1792" y="190195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coordination for complex, multi-step goals across all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898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19472" y="190195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Without Observation — decouples planning from tool execution for efficiency.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11480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063240"/>
            <a:ext cx="41148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644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1792" y="37764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multiple reasoning paths to find the most effective attack chain.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111E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3063240"/>
            <a:ext cx="41148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6440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919472" y="37764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critique their own output to reduce hallucinations and false positives.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Innovations: LLMOrch-VAPT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Operational Fragility &amp; Economic Unsustainability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51760" cy="3200400"/>
          </a:xfrm>
          <a:prstGeom prst="rect">
            <a:avLst/>
          </a:prstGeom>
          <a:solidFill>
            <a:srgbClr val="111E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265176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67335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APF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0292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Provider Failover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474720"/>
            <a:ext cx="2194560" cy="5029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194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&lt; 2s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46120" y="1417320"/>
            <a:ext cx="2651760" cy="3200400"/>
          </a:xfrm>
          <a:prstGeom prst="rect">
            <a:avLst/>
          </a:prstGeom>
          <a:solidFill>
            <a:srgbClr val="111E35"/>
          </a:solidFill>
          <a:ln w="19050">
            <a:solidFill>
              <a:srgbClr val="00FF9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00FF9D">
              <a:alpha val="25000"/>
            </a:srgbClr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67335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DCAT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333756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Complexity-Aware Tiering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474720" y="3474720"/>
            <a:ext cx="2194560" cy="502920"/>
          </a:xfrm>
          <a:prstGeom prst="rect">
            <a:avLst/>
          </a:prstGeom>
          <a:solidFill>
            <a:srgbClr val="00FF9D">
              <a:alpha val="20000"/>
            </a:srgbClr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0" y="3493008"/>
            <a:ext cx="2194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 Cost Savings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80760" y="1417320"/>
            <a:ext cx="2651760" cy="3200400"/>
          </a:xfrm>
          <a:prstGeom prst="rect">
            <a:avLst/>
          </a:prstGeom>
          <a:solidFill>
            <a:srgbClr val="111E35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80760" y="1417320"/>
            <a:ext cx="2651760" cy="7315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673352"/>
            <a:ext cx="493776" cy="4937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722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2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SSC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6172200" y="28529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Security-Semantic Caching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309360" y="3474720"/>
            <a:ext cx="2194560" cy="502920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09360" y="3493008"/>
            <a:ext cx="2194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Success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&amp; Human-in-the-Loop (HITL)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yet governed.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108960" y="1143000"/>
            <a:ext cx="557784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1143000"/>
            <a:ext cx="64008" cy="82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216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14904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ops (exploitation, terminal) require human authorization.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2103120"/>
            <a:ext cx="557784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0" y="2103120"/>
            <a:ext cx="64008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2176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Whitelisting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24505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boundaries on execution scope to prevent scope creep.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8960" y="3063240"/>
            <a:ext cx="557784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08960" y="3063240"/>
            <a:ext cx="64008" cy="8229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3136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3410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JSON logs of every command and reasoning step.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08960" y="4023360"/>
            <a:ext cx="557784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08960" y="4023360"/>
            <a:ext cx="64008" cy="8229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4096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Isolation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91840" y="43708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command execution prevents accidental system damage.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Persistent Vector Memory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with every engagement.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"What ports were open on the staging server last week?"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050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retrieval of technical data across sessions — Qdrant-powered semantic search.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188720"/>
            <a:ext cx="6217920" cy="7315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188720"/>
            <a:ext cx="64008" cy="73152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12344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Qdrant-Powered Storage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14904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retention of scan results, findings, and successful attack paths across all engagements.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60320" y="1993392"/>
            <a:ext cx="6217920" cy="73152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993392"/>
            <a:ext cx="64008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20391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Awareness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0" y="22951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recall past findings across sessions to identify lateral movement opportunities.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0" y="2798064"/>
            <a:ext cx="6217920" cy="73152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2798064"/>
            <a:ext cx="64008" cy="7315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0" y="284378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0" y="309981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 and retrieve precise technical findings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Academic Contribution &amp; Evaluation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280160"/>
          </a:xfrm>
          <a:prstGeom prst="rect">
            <a:avLst/>
          </a:prstGeom>
          <a:solidFill>
            <a:srgbClr val="111E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S&amp;P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280160"/>
          </a:xfrm>
          <a:prstGeom prst="rect">
            <a:avLst/>
          </a:prstGeom>
          <a:solidFill>
            <a:srgbClr val="111E35"/>
          </a:solidFill>
          <a:ln w="19050">
            <a:solidFill>
              <a:srgbClr val="00FF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704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Reasoning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Validated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280160"/>
          </a:xfrm>
          <a:prstGeom prst="rect">
            <a:avLst/>
          </a:prstGeom>
          <a:solidFill>
            <a:srgbClr val="111E35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1704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Papers — IEEE S&amp;P Standard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89864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Strategies for LLM-Powered Security Agents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31012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Safety Frameworks for Autonomous Pentest Systems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67328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72160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 Patterns: ReWOO &amp; Tree-of-Thoughts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13308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Intelligence Integration in Multi-Agent Architectures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90288"/>
            <a:ext cx="201168" cy="20116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54456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LLMOrch-VAPT: Model Orchestration for Industrial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7680960" cy="0"/>
          </a:xfrm>
          <a:prstGeom prst="line">
            <a:avLst/>
          </a:prstGeom>
          <a:noFill/>
          <a:ln w="19050">
            <a:solidFill>
              <a:srgbClr val="8FA3B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17320" y="2240280"/>
            <a:ext cx="274320" cy="274320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97280"/>
            <a:ext cx="2468880" cy="105156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612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Prioritization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2606040"/>
            <a:ext cx="2468880" cy="1417320"/>
          </a:xfrm>
          <a:prstGeom prst="rect">
            <a:avLst/>
          </a:prstGeom>
          <a:solidFill>
            <a:srgbClr val="111E35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67919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vulnerability prioritization &amp; automated remediation suggestions.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2240280"/>
            <a:ext cx="274320" cy="27432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097280"/>
            <a:ext cx="2468880" cy="1051560"/>
          </a:xfrm>
          <a:prstGeom prst="rect">
            <a:avLst/>
          </a:prstGeom>
          <a:solidFill>
            <a:srgbClr val="111E35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6128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204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429000" y="2606040"/>
            <a:ext cx="2468880" cy="1417320"/>
          </a:xfrm>
          <a:prstGeom prst="rect">
            <a:avLst/>
          </a:prstGeom>
          <a:solidFill>
            <a:srgbClr val="111E35"/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20440" y="267919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RBAC, SOC2/ISO 27001 compliance reporting.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903720" y="2240280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1097280"/>
            <a:ext cx="2468880" cy="105156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6128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636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172200" y="2606040"/>
            <a:ext cx="2468880" cy="1417320"/>
          </a:xfrm>
          <a:prstGeom prst="rect">
            <a:avLst/>
          </a:prstGeom>
          <a:solidFill>
            <a:srgbClr val="111E35"/>
          </a:solidFill>
          <a:ln w="10160">
            <a:solidFill>
              <a:srgbClr val="7B2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63640" y="267919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agent deployment &amp; real-time continuous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FF9D">
              <a:alpha val="12000"/>
            </a:srgbClr>
          </a:solidFill>
          <a:ln w="12700">
            <a:solidFill>
              <a:srgbClr val="00FF9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943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CMatrix is not just a tool;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 force multiplier for security teams.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251460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108960"/>
            <a:ext cx="25146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34930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loses state, even if LLM providers fail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3108960"/>
            <a:ext cx="251460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37560" y="3108960"/>
            <a:ext cx="25146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29000" y="34930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right model for the right task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3108960"/>
            <a:ext cx="2514600" cy="1005840"/>
          </a:xfrm>
          <a:prstGeom prst="rect">
            <a:avLst/>
          </a:prstGeom>
          <a:solidFill>
            <a:srgbClr val="111E35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3108960"/>
            <a:ext cx="25146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17920" y="34930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real-world tools &amp; academic research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 by Nishan Paul &amp; Md Rakibur Rahman  |  cmatrix.kaiofficial.xyz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CMatrix – AI-Powered VAPT Platform</dc:title>
  <dc:subject>PptxGenJS Presentation</dc:subject>
  <dc:creator>PptxGenJS</dc:creator>
  <cp:lastModifiedBy>PptxGenJS</cp:lastModifiedBy>
  <cp:revision>1</cp:revision>
  <dcterms:created xsi:type="dcterms:W3CDTF">2026-05-06T08:33:25Z</dcterms:created>
  <dcterms:modified xsi:type="dcterms:W3CDTF">2026-05-06T08:33:25Z</dcterms:modified>
</cp:coreProperties>
</file>