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4" r:id="rId4"/>
    <p:sldId id="294" r:id="rId5"/>
    <p:sldId id="287" r:id="rId6"/>
    <p:sldId id="291" r:id="rId7"/>
    <p:sldId id="288" r:id="rId8"/>
    <p:sldId id="289" r:id="rId9"/>
    <p:sldId id="295" r:id="rId10"/>
    <p:sldId id="265" r:id="rId11"/>
    <p:sldId id="266" r:id="rId12"/>
    <p:sldId id="296" r:id="rId13"/>
    <p:sldId id="267" r:id="rId14"/>
    <p:sldId id="268" r:id="rId15"/>
    <p:sldId id="270" r:id="rId16"/>
    <p:sldId id="292" r:id="rId17"/>
    <p:sldId id="293" r:id="rId18"/>
    <p:sldId id="285" r:id="rId19"/>
    <p:sldId id="282" r:id="rId20"/>
    <p:sldId id="286" r:id="rId21"/>
    <p:sldId id="297"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8C93"/>
    <a:srgbClr val="7575D1"/>
    <a:srgbClr val="663300"/>
    <a:srgbClr val="616161"/>
    <a:srgbClr val="008080"/>
    <a:srgbClr val="FFCCFF"/>
    <a:srgbClr val="FF66FF"/>
    <a:srgbClr val="FF7C80"/>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22" autoAdjust="0"/>
  </p:normalViewPr>
  <p:slideViewPr>
    <p:cSldViewPr>
      <p:cViewPr varScale="1">
        <p:scale>
          <a:sx n="98" d="100"/>
          <a:sy n="98" d="100"/>
        </p:scale>
        <p:origin x="5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0CE17-B0B2-4181-961A-8BFC6FEF5A28}" type="datetimeFigureOut">
              <a:rPr lang="en-US" smtClean="0"/>
              <a:t>4/2/2026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7A8A5-26E7-4E9A-9CF6-E36FDECD0CAA}" type="slidenum">
              <a:rPr lang="en-US" smtClean="0"/>
              <a:t>‹#›</a:t>
            </a:fld>
            <a:endParaRPr lang="en-US"/>
          </a:p>
        </p:txBody>
      </p:sp>
    </p:spTree>
    <p:extLst>
      <p:ext uri="{BB962C8B-B14F-4D97-AF65-F5344CB8AC3E}">
        <p14:creationId xmlns:p14="http://schemas.microsoft.com/office/powerpoint/2010/main" val="371069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0B37A8A5-26E7-4E9A-9CF6-E36FDECD0CAA}" type="slidenum">
              <a:rPr lang="en-US" smtClean="0"/>
              <a:t>11</a:t>
            </a:fld>
            <a:endParaRPr lang="en-US"/>
          </a:p>
        </p:txBody>
      </p:sp>
    </p:spTree>
    <p:extLst>
      <p:ext uri="{BB962C8B-B14F-4D97-AF65-F5344CB8AC3E}">
        <p14:creationId xmlns:p14="http://schemas.microsoft.com/office/powerpoint/2010/main" val="2202744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7EEB1-08DE-BDF5-C55F-20959430E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3DBD8-E8CB-210F-5240-F37344CAE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78A6E-F44D-65C6-3677-8489FDA9947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6A4FBBC-D925-646B-A941-FF424384C324}"/>
              </a:ext>
            </a:extLst>
          </p:cNvPr>
          <p:cNvSpPr>
            <a:spLocks noGrp="1"/>
          </p:cNvSpPr>
          <p:nvPr>
            <p:ph type="sldNum" sz="quarter" idx="5"/>
          </p:nvPr>
        </p:nvSpPr>
        <p:spPr/>
        <p:txBody>
          <a:bodyPr/>
          <a:lstStyle/>
          <a:p>
            <a:fld id="{0B37A8A5-26E7-4E9A-9CF6-E36FDECD0CAA}" type="slidenum">
              <a:rPr lang="en-US" smtClean="0"/>
              <a:t>12</a:t>
            </a:fld>
            <a:endParaRPr lang="en-US"/>
          </a:p>
        </p:txBody>
      </p:sp>
    </p:spTree>
    <p:extLst>
      <p:ext uri="{BB962C8B-B14F-4D97-AF65-F5344CB8AC3E}">
        <p14:creationId xmlns:p14="http://schemas.microsoft.com/office/powerpoint/2010/main" val="3821949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eaLnBrk="1" hangingPunct="1">
              <a:buFontTx/>
              <a:buNone/>
            </a:pPr>
            <a:r>
              <a:rPr lang="en-US" altLang="en-US" sz="1200" dirty="0">
                <a:solidFill>
                  <a:srgbClr val="002060"/>
                </a:solidFill>
                <a:latin typeface="Times New Roman" panose="02020603050405020304" pitchFamily="18" charset="0"/>
              </a:rPr>
              <a:t>Finish the project proposal by emphasizing why your proposed work is important and what it will contribute to practice or theory. Will your findings help improve a process, inform policy, or make a case for concrete change?</a:t>
            </a:r>
          </a:p>
          <a:p>
            <a:pPr marL="0" indent="0" algn="just" eaLnBrk="1" hangingPunct="1">
              <a:buFontTx/>
              <a:buNone/>
            </a:pPr>
            <a:r>
              <a:rPr lang="en-US" altLang="en-US" sz="1200" dirty="0">
                <a:solidFill>
                  <a:srgbClr val="002060"/>
                </a:solidFill>
                <a:latin typeface="Times New Roman" panose="02020603050405020304" pitchFamily="18" charset="0"/>
              </a:rPr>
              <a:t>Will your work help strengthen a theory or model, challenge current assumptions?</a:t>
            </a:r>
          </a:p>
          <a:p>
            <a:pPr marL="0" indent="0" algn="just" eaLnBrk="1" hangingPunct="1">
              <a:buFontTx/>
              <a:buNone/>
            </a:pPr>
            <a:r>
              <a:rPr lang="en-US" altLang="en-US" sz="1200" dirty="0">
                <a:solidFill>
                  <a:srgbClr val="002060"/>
                </a:solidFill>
                <a:latin typeface="Times New Roman" panose="02020603050405020304" pitchFamily="18" charset="0"/>
              </a:rPr>
              <a:t>Briefly restate the problem, summarize objectives, highlight key methodologies, outline expected contributions, acknowledge challenges and limitations, and end with a final thought emphasizing the significance of your project work.</a:t>
            </a:r>
          </a:p>
          <a:p>
            <a:endParaRPr lang="en-US" dirty="0"/>
          </a:p>
        </p:txBody>
      </p:sp>
      <p:sp>
        <p:nvSpPr>
          <p:cNvPr id="4" name="Slide Number Placeholder 3"/>
          <p:cNvSpPr>
            <a:spLocks noGrp="1"/>
          </p:cNvSpPr>
          <p:nvPr>
            <p:ph type="sldNum" sz="quarter" idx="5"/>
          </p:nvPr>
        </p:nvSpPr>
        <p:spPr/>
        <p:txBody>
          <a:bodyPr/>
          <a:lstStyle/>
          <a:p>
            <a:fld id="{0B37A8A5-26E7-4E9A-9CF6-E36FDECD0CAA}" type="slidenum">
              <a:rPr lang="en-US" smtClean="0"/>
              <a:t>15</a:t>
            </a:fld>
            <a:endParaRPr lang="en-US"/>
          </a:p>
        </p:txBody>
      </p:sp>
    </p:spTree>
    <p:extLst>
      <p:ext uri="{BB962C8B-B14F-4D97-AF65-F5344CB8AC3E}">
        <p14:creationId xmlns:p14="http://schemas.microsoft.com/office/powerpoint/2010/main" val="4095262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AC09291-A672-F159-DB60-F42F5F6257F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3DEB32A-34EC-8B69-76CF-9A74C737D7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4F502CD-9456-3E44-273C-2A681B0BC88A}"/>
              </a:ext>
            </a:extLst>
          </p:cNvPr>
          <p:cNvSpPr>
            <a:spLocks noGrp="1" noChangeArrowheads="1"/>
          </p:cNvSpPr>
          <p:nvPr>
            <p:ph type="sldNum" sz="quarter" idx="12"/>
          </p:nvPr>
        </p:nvSpPr>
        <p:spPr>
          <a:ln/>
        </p:spPr>
        <p:txBody>
          <a:bodyPr/>
          <a:lstStyle>
            <a:lvl1pPr>
              <a:defRPr/>
            </a:lvl1pPr>
          </a:lstStyle>
          <a:p>
            <a:pPr>
              <a:defRPr/>
            </a:pPr>
            <a:fld id="{338F5A2A-14FD-4227-930E-7BAF0DAF51F7}" type="slidenum">
              <a:rPr lang="en-US" altLang="en-US"/>
              <a:pPr>
                <a:defRPr/>
              </a:pPr>
              <a:t>‹#›</a:t>
            </a:fld>
            <a:endParaRPr lang="en-US" altLang="en-US"/>
          </a:p>
        </p:txBody>
      </p:sp>
    </p:spTree>
    <p:extLst>
      <p:ext uri="{BB962C8B-B14F-4D97-AF65-F5344CB8AC3E}">
        <p14:creationId xmlns:p14="http://schemas.microsoft.com/office/powerpoint/2010/main" val="86963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E9673F2-C7BE-D940-6138-27D014F2F07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60F9382-993A-7A51-17A2-E088B6520A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C12638B-F5BE-6848-4881-4098DCB418E7}"/>
              </a:ext>
            </a:extLst>
          </p:cNvPr>
          <p:cNvSpPr>
            <a:spLocks noGrp="1" noChangeArrowheads="1"/>
          </p:cNvSpPr>
          <p:nvPr>
            <p:ph type="sldNum" sz="quarter" idx="12"/>
          </p:nvPr>
        </p:nvSpPr>
        <p:spPr>
          <a:ln/>
        </p:spPr>
        <p:txBody>
          <a:bodyPr/>
          <a:lstStyle>
            <a:lvl1pPr>
              <a:defRPr/>
            </a:lvl1pPr>
          </a:lstStyle>
          <a:p>
            <a:pPr>
              <a:defRPr/>
            </a:pPr>
            <a:fld id="{9485215A-415D-424C-871D-28C4B876B5C1}" type="slidenum">
              <a:rPr lang="en-US" altLang="en-US"/>
              <a:pPr>
                <a:defRPr/>
              </a:pPr>
              <a:t>‹#›</a:t>
            </a:fld>
            <a:endParaRPr lang="en-US" altLang="en-US"/>
          </a:p>
        </p:txBody>
      </p:sp>
    </p:spTree>
    <p:extLst>
      <p:ext uri="{BB962C8B-B14F-4D97-AF65-F5344CB8AC3E}">
        <p14:creationId xmlns:p14="http://schemas.microsoft.com/office/powerpoint/2010/main" val="226154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C400E8A-79CB-A7AC-6ED8-208A8C03B61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8FB0354-7A42-466A-B5F4-29529B18DB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719844D-9D0E-2DEE-2519-3276C1CBC9CE}"/>
              </a:ext>
            </a:extLst>
          </p:cNvPr>
          <p:cNvSpPr>
            <a:spLocks noGrp="1" noChangeArrowheads="1"/>
          </p:cNvSpPr>
          <p:nvPr>
            <p:ph type="sldNum" sz="quarter" idx="12"/>
          </p:nvPr>
        </p:nvSpPr>
        <p:spPr>
          <a:ln/>
        </p:spPr>
        <p:txBody>
          <a:bodyPr/>
          <a:lstStyle>
            <a:lvl1pPr>
              <a:defRPr/>
            </a:lvl1pPr>
          </a:lstStyle>
          <a:p>
            <a:pPr>
              <a:defRPr/>
            </a:pPr>
            <a:fld id="{AC103103-36AB-4C46-B2DE-A7D6F974CD02}" type="slidenum">
              <a:rPr lang="en-US" altLang="en-US"/>
              <a:pPr>
                <a:defRPr/>
              </a:pPr>
              <a:t>‹#›</a:t>
            </a:fld>
            <a:endParaRPr lang="en-US" altLang="en-US"/>
          </a:p>
        </p:txBody>
      </p:sp>
    </p:spTree>
    <p:extLst>
      <p:ext uri="{BB962C8B-B14F-4D97-AF65-F5344CB8AC3E}">
        <p14:creationId xmlns:p14="http://schemas.microsoft.com/office/powerpoint/2010/main" val="1100390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58273D-CF96-02BC-FC2E-64C5D37CB24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C48A3B0-ACD8-66FD-75F8-135B45E16E3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3230B80-B3A2-64FB-CF43-450D2FFBE6B8}"/>
              </a:ext>
            </a:extLst>
          </p:cNvPr>
          <p:cNvSpPr>
            <a:spLocks noGrp="1" noChangeArrowheads="1"/>
          </p:cNvSpPr>
          <p:nvPr>
            <p:ph type="sldNum" sz="quarter" idx="12"/>
          </p:nvPr>
        </p:nvSpPr>
        <p:spPr>
          <a:ln/>
        </p:spPr>
        <p:txBody>
          <a:bodyPr/>
          <a:lstStyle>
            <a:lvl1pPr>
              <a:defRPr/>
            </a:lvl1pPr>
          </a:lstStyle>
          <a:p>
            <a:pPr>
              <a:defRPr/>
            </a:pPr>
            <a:fld id="{5C63BF3D-6BE4-418D-84BD-F7F2E1CBB25B}" type="slidenum">
              <a:rPr lang="en-US" altLang="en-US"/>
              <a:pPr>
                <a:defRPr/>
              </a:pPr>
              <a:t>‹#›</a:t>
            </a:fld>
            <a:endParaRPr lang="en-US" altLang="en-US"/>
          </a:p>
        </p:txBody>
      </p:sp>
    </p:spTree>
    <p:extLst>
      <p:ext uri="{BB962C8B-B14F-4D97-AF65-F5344CB8AC3E}">
        <p14:creationId xmlns:p14="http://schemas.microsoft.com/office/powerpoint/2010/main" val="10064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C5620DF-2CEB-57E7-6922-682CD592099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5DF7BF7-DE90-793E-74D9-E87C048F0B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88AF1194-CA01-64A9-1FD2-8DB678C82C85}"/>
              </a:ext>
            </a:extLst>
          </p:cNvPr>
          <p:cNvSpPr>
            <a:spLocks noGrp="1" noChangeArrowheads="1"/>
          </p:cNvSpPr>
          <p:nvPr>
            <p:ph type="sldNum" sz="quarter" idx="12"/>
          </p:nvPr>
        </p:nvSpPr>
        <p:spPr>
          <a:ln/>
        </p:spPr>
        <p:txBody>
          <a:bodyPr/>
          <a:lstStyle>
            <a:lvl1pPr>
              <a:defRPr/>
            </a:lvl1pPr>
          </a:lstStyle>
          <a:p>
            <a:pPr>
              <a:defRPr/>
            </a:pPr>
            <a:fld id="{0F32252D-5CD6-4D74-A88A-BF4AA945CDBC}" type="slidenum">
              <a:rPr lang="en-US" altLang="en-US"/>
              <a:pPr>
                <a:defRPr/>
              </a:pPr>
              <a:t>‹#›</a:t>
            </a:fld>
            <a:endParaRPr lang="en-US" altLang="en-US"/>
          </a:p>
        </p:txBody>
      </p:sp>
    </p:spTree>
    <p:extLst>
      <p:ext uri="{BB962C8B-B14F-4D97-AF65-F5344CB8AC3E}">
        <p14:creationId xmlns:p14="http://schemas.microsoft.com/office/powerpoint/2010/main" val="1163338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3995433-62B0-3B1F-F8A7-F7179457103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0B26F1E-3E02-5C91-54A0-12ED43EA5C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20BD877-DE6C-B8AC-EABA-EDF2A8EA8A65}"/>
              </a:ext>
            </a:extLst>
          </p:cNvPr>
          <p:cNvSpPr>
            <a:spLocks noGrp="1" noChangeArrowheads="1"/>
          </p:cNvSpPr>
          <p:nvPr>
            <p:ph type="sldNum" sz="quarter" idx="12"/>
          </p:nvPr>
        </p:nvSpPr>
        <p:spPr>
          <a:ln/>
        </p:spPr>
        <p:txBody>
          <a:bodyPr/>
          <a:lstStyle>
            <a:lvl1pPr>
              <a:defRPr/>
            </a:lvl1pPr>
          </a:lstStyle>
          <a:p>
            <a:pPr>
              <a:defRPr/>
            </a:pPr>
            <a:fld id="{C2092236-5B83-4D0B-8A0F-7E9706DC6263}" type="slidenum">
              <a:rPr lang="en-US" altLang="en-US"/>
              <a:pPr>
                <a:defRPr/>
              </a:pPr>
              <a:t>‹#›</a:t>
            </a:fld>
            <a:endParaRPr lang="en-US" altLang="en-US"/>
          </a:p>
        </p:txBody>
      </p:sp>
    </p:spTree>
    <p:extLst>
      <p:ext uri="{BB962C8B-B14F-4D97-AF65-F5344CB8AC3E}">
        <p14:creationId xmlns:p14="http://schemas.microsoft.com/office/powerpoint/2010/main" val="190231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839E52B-03C8-FABB-C819-C207714FBC4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D6EDEF7-32AB-F2ED-19DB-D312EB5DF3F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149952E-6638-37DD-DBAC-D2CC80DCAE27}"/>
              </a:ext>
            </a:extLst>
          </p:cNvPr>
          <p:cNvSpPr>
            <a:spLocks noGrp="1" noChangeArrowheads="1"/>
          </p:cNvSpPr>
          <p:nvPr>
            <p:ph type="sldNum" sz="quarter" idx="12"/>
          </p:nvPr>
        </p:nvSpPr>
        <p:spPr>
          <a:ln/>
        </p:spPr>
        <p:txBody>
          <a:bodyPr/>
          <a:lstStyle>
            <a:lvl1pPr>
              <a:defRPr/>
            </a:lvl1pPr>
          </a:lstStyle>
          <a:p>
            <a:pPr>
              <a:defRPr/>
            </a:pPr>
            <a:fld id="{CF072A12-6673-4297-9A03-EE744954FDC7}" type="slidenum">
              <a:rPr lang="en-US" altLang="en-US"/>
              <a:pPr>
                <a:defRPr/>
              </a:pPr>
              <a:t>‹#›</a:t>
            </a:fld>
            <a:endParaRPr lang="en-US" altLang="en-US"/>
          </a:p>
        </p:txBody>
      </p:sp>
    </p:spTree>
    <p:extLst>
      <p:ext uri="{BB962C8B-B14F-4D97-AF65-F5344CB8AC3E}">
        <p14:creationId xmlns:p14="http://schemas.microsoft.com/office/powerpoint/2010/main" val="732300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2A5F553-B63B-54DA-4171-747B0FE10CE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46FB6E0-B2F8-6DD6-D830-62909027A5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A95AAB5-369D-069A-6910-292327541EFA}"/>
              </a:ext>
            </a:extLst>
          </p:cNvPr>
          <p:cNvSpPr>
            <a:spLocks noGrp="1" noChangeArrowheads="1"/>
          </p:cNvSpPr>
          <p:nvPr>
            <p:ph type="sldNum" sz="quarter" idx="12"/>
          </p:nvPr>
        </p:nvSpPr>
        <p:spPr>
          <a:ln/>
        </p:spPr>
        <p:txBody>
          <a:bodyPr/>
          <a:lstStyle>
            <a:lvl1pPr>
              <a:defRPr/>
            </a:lvl1pPr>
          </a:lstStyle>
          <a:p>
            <a:pPr>
              <a:defRPr/>
            </a:pPr>
            <a:fld id="{F5A210DB-7B3F-4B5E-B25E-75CD4DF36079}" type="slidenum">
              <a:rPr lang="en-US" altLang="en-US"/>
              <a:pPr>
                <a:defRPr/>
              </a:pPr>
              <a:t>‹#›</a:t>
            </a:fld>
            <a:endParaRPr lang="en-US" altLang="en-US"/>
          </a:p>
        </p:txBody>
      </p:sp>
    </p:spTree>
    <p:extLst>
      <p:ext uri="{BB962C8B-B14F-4D97-AF65-F5344CB8AC3E}">
        <p14:creationId xmlns:p14="http://schemas.microsoft.com/office/powerpoint/2010/main" val="110810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B3BBFC7-8E5A-8806-68D1-B5822F3F057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D70FF09-66AB-13DA-4E61-B78CAAAB354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BCB9837-091B-19F1-7A6A-284969B70C8E}"/>
              </a:ext>
            </a:extLst>
          </p:cNvPr>
          <p:cNvSpPr>
            <a:spLocks noGrp="1" noChangeArrowheads="1"/>
          </p:cNvSpPr>
          <p:nvPr>
            <p:ph type="sldNum" sz="quarter" idx="12"/>
          </p:nvPr>
        </p:nvSpPr>
        <p:spPr>
          <a:ln/>
        </p:spPr>
        <p:txBody>
          <a:bodyPr/>
          <a:lstStyle>
            <a:lvl1pPr>
              <a:defRPr/>
            </a:lvl1pPr>
          </a:lstStyle>
          <a:p>
            <a:pPr>
              <a:defRPr/>
            </a:pPr>
            <a:fld id="{BECD4F35-AAC4-4F00-B165-888B2F968AA0}" type="slidenum">
              <a:rPr lang="en-US" altLang="en-US"/>
              <a:pPr>
                <a:defRPr/>
              </a:pPr>
              <a:t>‹#›</a:t>
            </a:fld>
            <a:endParaRPr lang="en-US" altLang="en-US"/>
          </a:p>
        </p:txBody>
      </p:sp>
    </p:spTree>
    <p:extLst>
      <p:ext uri="{BB962C8B-B14F-4D97-AF65-F5344CB8AC3E}">
        <p14:creationId xmlns:p14="http://schemas.microsoft.com/office/powerpoint/2010/main" val="3140948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72871D5-2906-7134-45CD-EA3B4B5974D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35F4E47-B58A-D9A4-ED3D-4D5601398F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B1405DC-01CA-E21A-9F14-332457DD9C91}"/>
              </a:ext>
            </a:extLst>
          </p:cNvPr>
          <p:cNvSpPr>
            <a:spLocks noGrp="1" noChangeArrowheads="1"/>
          </p:cNvSpPr>
          <p:nvPr>
            <p:ph type="sldNum" sz="quarter" idx="12"/>
          </p:nvPr>
        </p:nvSpPr>
        <p:spPr>
          <a:ln/>
        </p:spPr>
        <p:txBody>
          <a:bodyPr/>
          <a:lstStyle>
            <a:lvl1pPr>
              <a:defRPr/>
            </a:lvl1pPr>
          </a:lstStyle>
          <a:p>
            <a:pPr>
              <a:defRPr/>
            </a:pPr>
            <a:fld id="{9B41E78C-BA53-4182-9AAB-43F63D2368CF}" type="slidenum">
              <a:rPr lang="en-US" altLang="en-US"/>
              <a:pPr>
                <a:defRPr/>
              </a:pPr>
              <a:t>‹#›</a:t>
            </a:fld>
            <a:endParaRPr lang="en-US" altLang="en-US"/>
          </a:p>
        </p:txBody>
      </p:sp>
    </p:spTree>
    <p:extLst>
      <p:ext uri="{BB962C8B-B14F-4D97-AF65-F5344CB8AC3E}">
        <p14:creationId xmlns:p14="http://schemas.microsoft.com/office/powerpoint/2010/main" val="4257746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F504467-FD52-CFD8-77ED-57906F81BEA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39A5AC2-0251-5AF6-BE3C-5A41B61E50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F03BCB9-37E8-29DF-6147-AAA091E670D5}"/>
              </a:ext>
            </a:extLst>
          </p:cNvPr>
          <p:cNvSpPr>
            <a:spLocks noGrp="1" noChangeArrowheads="1"/>
          </p:cNvSpPr>
          <p:nvPr>
            <p:ph type="sldNum" sz="quarter" idx="12"/>
          </p:nvPr>
        </p:nvSpPr>
        <p:spPr>
          <a:ln/>
        </p:spPr>
        <p:txBody>
          <a:bodyPr/>
          <a:lstStyle>
            <a:lvl1pPr>
              <a:defRPr/>
            </a:lvl1pPr>
          </a:lstStyle>
          <a:p>
            <a:pPr>
              <a:defRPr/>
            </a:pPr>
            <a:fld id="{C6166053-7CA9-431C-9C9E-717FF03E962A}" type="slidenum">
              <a:rPr lang="en-US" altLang="en-US"/>
              <a:pPr>
                <a:defRPr/>
              </a:pPr>
              <a:t>‹#›</a:t>
            </a:fld>
            <a:endParaRPr lang="en-US" altLang="en-US"/>
          </a:p>
        </p:txBody>
      </p:sp>
    </p:spTree>
    <p:extLst>
      <p:ext uri="{BB962C8B-B14F-4D97-AF65-F5344CB8AC3E}">
        <p14:creationId xmlns:p14="http://schemas.microsoft.com/office/powerpoint/2010/main" val="2256044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2BFC5">
            <a:alpha val="41960"/>
          </a:srgbClr>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32803DB-C1D1-3982-EC9C-82022EBC5C6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5C9554E-2872-DC52-8173-A995EE56804F}"/>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D829B47-7C23-4680-636F-BA03A3D2169C}"/>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5DAB0FDA-85E0-A599-A564-910C21A10601}"/>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5C66D9A8-C5E5-84E2-307B-B9A57D4DF19B}"/>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03CEB0CF-3DE3-48E5-84CE-2854B95B6B5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14D5D5A-4684-E5E3-FB21-DF7CCD235346}"/>
              </a:ext>
            </a:extLst>
          </p:cNvPr>
          <p:cNvSpPr>
            <a:spLocks noGrp="1" noChangeArrowheads="1"/>
          </p:cNvSpPr>
          <p:nvPr>
            <p:ph type="ctrTitle"/>
          </p:nvPr>
        </p:nvSpPr>
        <p:spPr>
          <a:xfrm>
            <a:off x="685800" y="2130425"/>
            <a:ext cx="7772400" cy="3660775"/>
          </a:xfrm>
        </p:spPr>
        <p:txBody>
          <a:bodyPr/>
          <a:lstStyle/>
          <a:p>
            <a:pPr eaLnBrk="1" hangingPunct="1"/>
            <a:r>
              <a:rPr lang="en-US" altLang="en-US" dirty="0"/>
              <a:t>Project for PMICS </a:t>
            </a:r>
            <a:br>
              <a:rPr lang="en-US" altLang="en-US" dirty="0"/>
            </a:br>
            <a:br>
              <a:rPr lang="en-US" altLang="en-US" dirty="0"/>
            </a:br>
            <a:r>
              <a:rPr lang="en-US" altLang="en-US" sz="2800" dirty="0"/>
              <a:t>Credit Hour: 6</a:t>
            </a:r>
            <a:br>
              <a:rPr lang="en-US" altLang="en-US" sz="2800" dirty="0"/>
            </a:br>
            <a:r>
              <a:rPr lang="en-US" altLang="en-US" sz="2800" dirty="0"/>
              <a:t>Duration: 1 semester</a:t>
            </a:r>
            <a:br>
              <a:rPr lang="en-US" altLang="en-US" dirty="0"/>
            </a:br>
            <a:endParaRPr lang="en-US"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1604736-088C-746F-9A56-DF30C2F761B1}"/>
              </a:ext>
            </a:extLst>
          </p:cNvPr>
          <p:cNvSpPr>
            <a:spLocks noGrp="1" noChangeArrowheads="1"/>
          </p:cNvSpPr>
          <p:nvPr>
            <p:ph type="title"/>
          </p:nvPr>
        </p:nvSpPr>
        <p:spPr/>
        <p:txBody>
          <a:bodyPr/>
          <a:lstStyle/>
          <a:p>
            <a:pPr eaLnBrk="1" hangingPunct="1"/>
            <a:r>
              <a:rPr lang="en-US" altLang="en-US" sz="4000"/>
              <a:t>Meaning of Project </a:t>
            </a:r>
          </a:p>
        </p:txBody>
      </p:sp>
      <p:sp>
        <p:nvSpPr>
          <p:cNvPr id="3075" name="TextBox 3">
            <a:extLst>
              <a:ext uri="{FF2B5EF4-FFF2-40B4-BE49-F238E27FC236}">
                <a16:creationId xmlns:a16="http://schemas.microsoft.com/office/drawing/2014/main" id="{35C108FF-D245-82A2-B39C-ADF4F6992304}"/>
              </a:ext>
            </a:extLst>
          </p:cNvPr>
          <p:cNvSpPr txBox="1">
            <a:spLocks noChangeArrowheads="1"/>
          </p:cNvSpPr>
          <p:nvPr/>
        </p:nvSpPr>
        <p:spPr bwMode="auto">
          <a:xfrm>
            <a:off x="342900" y="1600200"/>
            <a:ext cx="84582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dirty="0"/>
              <a:t>A project is </a:t>
            </a:r>
            <a:r>
              <a:rPr lang="en-US" altLang="en-US" sz="2400" b="1" dirty="0">
                <a:solidFill>
                  <a:srgbClr val="00B050"/>
                </a:solidFill>
              </a:rPr>
              <a:t>a temporary undertaking</a:t>
            </a:r>
            <a:r>
              <a:rPr lang="en-US" altLang="en-US" sz="2400" dirty="0">
                <a:solidFill>
                  <a:srgbClr val="00B050"/>
                </a:solidFill>
              </a:rPr>
              <a:t> </a:t>
            </a:r>
            <a:r>
              <a:rPr lang="en-US" altLang="en-US" sz="2400" dirty="0"/>
              <a:t>with </a:t>
            </a:r>
            <a:r>
              <a:rPr lang="en-US" altLang="en-US" sz="2400" b="1" dirty="0">
                <a:solidFill>
                  <a:srgbClr val="00B050"/>
                </a:solidFill>
              </a:rPr>
              <a:t>defined goals</a:t>
            </a:r>
            <a:r>
              <a:rPr lang="en-US" altLang="en-US" sz="2400" dirty="0"/>
              <a:t>, a </a:t>
            </a:r>
            <a:r>
              <a:rPr lang="en-US" altLang="en-US" sz="2400" b="1" dirty="0">
                <a:solidFill>
                  <a:srgbClr val="00B050"/>
                </a:solidFill>
              </a:rPr>
              <a:t>specific start and end</a:t>
            </a:r>
            <a:r>
              <a:rPr lang="en-US" altLang="en-US" sz="2400" dirty="0"/>
              <a:t>, and a </a:t>
            </a:r>
            <a:r>
              <a:rPr lang="en-US" altLang="en-US" sz="2400" b="1" dirty="0">
                <a:solidFill>
                  <a:srgbClr val="00B050"/>
                </a:solidFill>
              </a:rPr>
              <a:t>unique deliverable</a:t>
            </a:r>
            <a:r>
              <a:rPr lang="en-US" altLang="en-US" sz="2400" dirty="0"/>
              <a:t>, such as a </a:t>
            </a:r>
            <a:r>
              <a:rPr lang="en-US" altLang="en-US" sz="2400" b="1" dirty="0">
                <a:solidFill>
                  <a:srgbClr val="FF0000"/>
                </a:solidFill>
              </a:rPr>
              <a:t>new product</a:t>
            </a:r>
            <a:r>
              <a:rPr lang="en-US" altLang="en-US" sz="2400" dirty="0"/>
              <a:t>, </a:t>
            </a:r>
            <a:r>
              <a:rPr lang="en-US" altLang="en-US" sz="2400" b="1" dirty="0">
                <a:solidFill>
                  <a:srgbClr val="FF0000"/>
                </a:solidFill>
              </a:rPr>
              <a:t>service</a:t>
            </a:r>
            <a:r>
              <a:rPr lang="en-US" altLang="en-US" sz="2400" dirty="0"/>
              <a:t>, or </a:t>
            </a:r>
            <a:r>
              <a:rPr lang="en-US" altLang="en-US" sz="2400" b="1" dirty="0">
                <a:solidFill>
                  <a:srgbClr val="FF0000"/>
                </a:solidFill>
              </a:rPr>
              <a:t>process</a:t>
            </a:r>
            <a:r>
              <a:rPr lang="en-US" altLang="en-US" sz="2400" dirty="0"/>
              <a:t>.</a:t>
            </a:r>
          </a:p>
          <a:p>
            <a:pPr eaLnBrk="1" hangingPunct="1">
              <a:spcBef>
                <a:spcPct val="0"/>
              </a:spcBef>
              <a:buFontTx/>
              <a:buNone/>
            </a:pPr>
            <a:endParaRPr lang="en-US" altLang="en-US" sz="2400" dirty="0"/>
          </a:p>
          <a:p>
            <a:pPr eaLnBrk="1" hangingPunct="1">
              <a:spcBef>
                <a:spcPct val="0"/>
              </a:spcBef>
              <a:buFontTx/>
              <a:buNone/>
            </a:pPr>
            <a:r>
              <a:rPr lang="en-US" altLang="en-US" sz="2400" dirty="0"/>
              <a:t>A project is </a:t>
            </a:r>
            <a:r>
              <a:rPr lang="en-US" altLang="en-US" sz="2400" b="1" dirty="0">
                <a:solidFill>
                  <a:srgbClr val="00B050"/>
                </a:solidFill>
              </a:rPr>
              <a:t>a planned set of activities </a:t>
            </a:r>
            <a:r>
              <a:rPr lang="en-US" altLang="en-US" sz="2400" dirty="0"/>
              <a:t>designed </a:t>
            </a:r>
            <a:r>
              <a:rPr lang="en-US" altLang="en-US" sz="2400" b="1" dirty="0">
                <a:solidFill>
                  <a:srgbClr val="00B050"/>
                </a:solidFill>
              </a:rPr>
              <a:t>to achieve specific goals</a:t>
            </a:r>
            <a:r>
              <a:rPr lang="en-US" altLang="en-US" sz="2400" dirty="0">
                <a:solidFill>
                  <a:srgbClr val="00B050"/>
                </a:solidFill>
              </a:rPr>
              <a:t> </a:t>
            </a:r>
            <a:r>
              <a:rPr lang="en-US" altLang="en-US" sz="2400" dirty="0"/>
              <a:t>within a </a:t>
            </a:r>
            <a:r>
              <a:rPr lang="en-US" altLang="en-US" sz="2400" b="1" dirty="0">
                <a:solidFill>
                  <a:srgbClr val="FF0000"/>
                </a:solidFill>
              </a:rPr>
              <a:t>fixed timeframe </a:t>
            </a:r>
            <a:r>
              <a:rPr lang="en-US" altLang="en-US" sz="2400" dirty="0"/>
              <a:t>and resources.</a:t>
            </a:r>
          </a:p>
          <a:p>
            <a:pPr eaLnBrk="1" hangingPunct="1">
              <a:spcBef>
                <a:spcPct val="0"/>
              </a:spcBef>
              <a:buFontTx/>
              <a:buNone/>
            </a:pPr>
            <a:endParaRPr lang="en-US" altLang="en-US" sz="2400" dirty="0"/>
          </a:p>
          <a:p>
            <a:pPr eaLnBrk="1" hangingPunct="1">
              <a:spcBef>
                <a:spcPct val="0"/>
              </a:spcBef>
              <a:buFontTx/>
              <a:buNone/>
            </a:pPr>
            <a:r>
              <a:rPr lang="en-US" altLang="en-US" sz="2400" dirty="0"/>
              <a:t>In </a:t>
            </a:r>
            <a:r>
              <a:rPr lang="en-US" altLang="en-US" sz="2400" b="1" dirty="0"/>
              <a:t>academics</a:t>
            </a:r>
            <a:r>
              <a:rPr lang="en-US" altLang="en-US" sz="2400" dirty="0"/>
              <a:t>, a project means a practical application of knowledge where students </a:t>
            </a:r>
            <a:r>
              <a:rPr lang="en-US" altLang="en-US" sz="2400" b="1" dirty="0">
                <a:solidFill>
                  <a:srgbClr val="7030A0"/>
                </a:solidFill>
              </a:rPr>
              <a:t>investigate a problem</a:t>
            </a:r>
            <a:r>
              <a:rPr lang="en-US" altLang="en-US" sz="2400" dirty="0"/>
              <a:t>, </a:t>
            </a:r>
            <a:r>
              <a:rPr lang="en-US" altLang="en-US" sz="2400" b="1" dirty="0">
                <a:solidFill>
                  <a:srgbClr val="7030A0"/>
                </a:solidFill>
              </a:rPr>
              <a:t>analyze it</a:t>
            </a:r>
            <a:r>
              <a:rPr lang="en-US" altLang="en-US" sz="2400" dirty="0"/>
              <a:t>, and </a:t>
            </a:r>
            <a:r>
              <a:rPr lang="en-US" altLang="en-US" sz="2400" b="1" dirty="0">
                <a:solidFill>
                  <a:srgbClr val="FF0000"/>
                </a:solidFill>
              </a:rPr>
              <a:t>propose or implement solutions</a:t>
            </a:r>
            <a:r>
              <a:rPr lang="en-US" altLang="en-US" sz="2400" dirty="0"/>
              <a:t>.</a:t>
            </a:r>
          </a:p>
          <a:p>
            <a:pPr eaLnBrk="1" hangingPunct="1">
              <a:spcBef>
                <a:spcPct val="0"/>
              </a:spcBef>
              <a:buFontTx/>
              <a:buNone/>
            </a:pPr>
            <a:endParaRPr lang="en-US" altLang="en-US" sz="2400" dirty="0"/>
          </a:p>
          <a:p>
            <a:pPr eaLnBrk="1" hangingPunct="1">
              <a:spcBef>
                <a:spcPct val="0"/>
              </a:spcBef>
              <a:buFontTx/>
              <a:buNone/>
            </a:pPr>
            <a:r>
              <a:rPr lang="en-US" altLang="en-US" sz="1800" b="1" dirty="0"/>
              <a:t>Examples of Projects: </a:t>
            </a:r>
            <a:r>
              <a:rPr lang="en-US" altLang="en-US" sz="1800" dirty="0"/>
              <a:t>Research Project, Construction Project, Product Development, Software Implementation, Robotics design and development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3764976-5B4D-54FB-D172-84CF17183BE9}"/>
              </a:ext>
            </a:extLst>
          </p:cNvPr>
          <p:cNvSpPr>
            <a:spLocks noGrp="1" noChangeArrowheads="1"/>
          </p:cNvSpPr>
          <p:nvPr>
            <p:ph type="title"/>
          </p:nvPr>
        </p:nvSpPr>
        <p:spPr/>
        <p:txBody>
          <a:bodyPr/>
          <a:lstStyle/>
          <a:p>
            <a:pPr eaLnBrk="1" hangingPunct="1"/>
            <a:r>
              <a:rPr lang="en-US" altLang="en-US" sz="4000"/>
              <a:t>Project Selection Methods</a:t>
            </a:r>
          </a:p>
        </p:txBody>
      </p:sp>
      <p:sp>
        <p:nvSpPr>
          <p:cNvPr id="11267" name="Rectangle 3">
            <a:extLst>
              <a:ext uri="{FF2B5EF4-FFF2-40B4-BE49-F238E27FC236}">
                <a16:creationId xmlns:a16="http://schemas.microsoft.com/office/drawing/2014/main" id="{89CC5A2C-A91E-B4F7-837E-ED0947725E3B}"/>
              </a:ext>
            </a:extLst>
          </p:cNvPr>
          <p:cNvSpPr>
            <a:spLocks noGrp="1" noChangeArrowheads="1"/>
          </p:cNvSpPr>
          <p:nvPr>
            <p:ph type="body" idx="1"/>
          </p:nvPr>
        </p:nvSpPr>
        <p:spPr>
          <a:xfrm>
            <a:off x="914400" y="1371600"/>
            <a:ext cx="7391400" cy="4876800"/>
          </a:xfrm>
        </p:spPr>
        <p:txBody>
          <a:bodyPr/>
          <a:lstStyle/>
          <a:p>
            <a:pPr marL="609600" indent="-609600" algn="just" eaLnBrk="1" hangingPunct="1">
              <a:defRPr/>
            </a:pPr>
            <a:r>
              <a:rPr lang="en-US" altLang="en-US" sz="2800" dirty="0">
                <a:latin typeface="Times New Roman" panose="02020603050405020304" pitchFamily="18" charset="0"/>
              </a:rPr>
              <a:t>Relevance to cybersecurity field</a:t>
            </a:r>
          </a:p>
          <a:p>
            <a:pPr marL="609600" indent="-609600" algn="just" eaLnBrk="1" hangingPunct="1">
              <a:defRPr/>
            </a:pPr>
            <a:r>
              <a:rPr lang="en-US" altLang="en-US" sz="2800" dirty="0">
                <a:latin typeface="Times New Roman" panose="02020603050405020304" pitchFamily="18" charset="0"/>
              </a:rPr>
              <a:t>Availability of resources &amp; datasets</a:t>
            </a:r>
          </a:p>
          <a:p>
            <a:pPr marL="609600" indent="-609600" algn="just" eaLnBrk="1" hangingPunct="1">
              <a:defRPr/>
            </a:pPr>
            <a:r>
              <a:rPr lang="en-US" altLang="en-US" sz="2800" dirty="0">
                <a:latin typeface="Times New Roman" panose="02020603050405020304" pitchFamily="18" charset="0"/>
              </a:rPr>
              <a:t>Feasibility within time</a:t>
            </a:r>
          </a:p>
          <a:p>
            <a:pPr marL="609600" indent="-609600" algn="just" eaLnBrk="1" hangingPunct="1">
              <a:defRPr/>
            </a:pPr>
            <a:r>
              <a:rPr lang="en-US" altLang="en-US" sz="2800" dirty="0">
                <a:latin typeface="Times New Roman" panose="02020603050405020304" pitchFamily="18" charset="0"/>
              </a:rPr>
              <a:t>Personal interest + career goals</a:t>
            </a:r>
          </a:p>
          <a:p>
            <a:pPr marL="609600" indent="-609600" algn="just" eaLnBrk="1" hangingPunct="1">
              <a:defRPr/>
            </a:pPr>
            <a:endParaRPr lang="en-US" altLang="en-US" sz="2800" dirty="0">
              <a:latin typeface="Times New Roman" panose="02020603050405020304" pitchFamily="18" charset="0"/>
            </a:endParaRPr>
          </a:p>
          <a:p>
            <a:pPr marL="400050" lvl="1" indent="0" algn="just" eaLnBrk="1" hangingPunct="1">
              <a:buFontTx/>
              <a:buNone/>
              <a:defRPr/>
            </a:pPr>
            <a:r>
              <a:rPr lang="en-US" altLang="en-US" sz="2400" dirty="0">
                <a:latin typeface="Times New Roman" panose="02020603050405020304" pitchFamily="18" charset="0"/>
              </a:rPr>
              <a:t>Example Topics:</a:t>
            </a:r>
          </a:p>
          <a:p>
            <a:pPr marL="1009650" lvl="1" indent="-609600" algn="just" eaLnBrk="1" hangingPunct="1">
              <a:defRPr/>
            </a:pPr>
            <a:r>
              <a:rPr lang="en-US" altLang="en-US" sz="2400" dirty="0">
                <a:latin typeface="Times New Roman" panose="02020603050405020304" pitchFamily="18" charset="0"/>
              </a:rPr>
              <a:t>Cloud Security &amp; Incident Response</a:t>
            </a:r>
          </a:p>
          <a:p>
            <a:pPr marL="1009650" lvl="1" indent="-609600" algn="just" eaLnBrk="1" hangingPunct="1">
              <a:defRPr/>
            </a:pPr>
            <a:r>
              <a:rPr lang="en-US" altLang="en-US" sz="2400" dirty="0">
                <a:latin typeface="Times New Roman" panose="02020603050405020304" pitchFamily="18" charset="0"/>
              </a:rPr>
              <a:t>AI for Malware Detection</a:t>
            </a:r>
          </a:p>
          <a:p>
            <a:pPr marL="1009650" lvl="1" indent="-609600" algn="just" eaLnBrk="1" hangingPunct="1">
              <a:defRPr/>
            </a:pPr>
            <a:r>
              <a:rPr lang="en-US" altLang="en-US" sz="2400" dirty="0">
                <a:latin typeface="Times New Roman" panose="02020603050405020304" pitchFamily="18" charset="0"/>
              </a:rPr>
              <a:t>Phishing Email Classification</a:t>
            </a:r>
          </a:p>
          <a:p>
            <a:pPr marL="1009650" lvl="1" indent="-609600" algn="just" eaLnBrk="1" hangingPunct="1">
              <a:defRPr/>
            </a:pPr>
            <a:r>
              <a:rPr lang="en-US" altLang="en-US" sz="2400" dirty="0">
                <a:latin typeface="Times New Roman" panose="02020603050405020304" pitchFamily="18" charset="0"/>
              </a:rPr>
              <a:t>IoT Security</a:t>
            </a:r>
            <a:endParaRPr lang="en-US" altLang="en-US" b="1" dirty="0">
              <a:solidFill>
                <a:srgbClr val="002060"/>
              </a:solidFill>
              <a:latin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BA007C0-4D92-E3A4-5EE1-97A3BE993134}"/>
              </a:ext>
            </a:extLst>
          </p:cNvPr>
          <p:cNvSpPr>
            <a:spLocks noGrp="1" noChangeArrowheads="1"/>
          </p:cNvSpPr>
          <p:nvPr>
            <p:ph type="title"/>
          </p:nvPr>
        </p:nvSpPr>
        <p:spPr/>
        <p:txBody>
          <a:bodyPr/>
          <a:lstStyle/>
          <a:p>
            <a:pPr eaLnBrk="1" hangingPunct="1"/>
            <a:r>
              <a:rPr lang="en-US" altLang="en-US" sz="4000"/>
              <a:t>Responsibility</a:t>
            </a:r>
          </a:p>
        </p:txBody>
      </p:sp>
      <p:sp>
        <p:nvSpPr>
          <p:cNvPr id="11267" name="Rectangle 3">
            <a:extLst>
              <a:ext uri="{FF2B5EF4-FFF2-40B4-BE49-F238E27FC236}">
                <a16:creationId xmlns:a16="http://schemas.microsoft.com/office/drawing/2014/main" id="{A415CCC3-E7D5-9752-32E7-C7FB6A140B61}"/>
              </a:ext>
            </a:extLst>
          </p:cNvPr>
          <p:cNvSpPr>
            <a:spLocks noGrp="1" noChangeArrowheads="1"/>
          </p:cNvSpPr>
          <p:nvPr>
            <p:ph type="body" idx="1"/>
          </p:nvPr>
        </p:nvSpPr>
        <p:spPr>
          <a:xfrm>
            <a:off x="457200" y="1371600"/>
            <a:ext cx="7848600" cy="4876800"/>
          </a:xfrm>
        </p:spPr>
        <p:txBody>
          <a:bodyPr/>
          <a:lstStyle/>
          <a:p>
            <a:pPr marL="609600" indent="-609600" algn="just" eaLnBrk="1" hangingPunct="1">
              <a:defRPr/>
            </a:pPr>
            <a:r>
              <a:rPr lang="en-US" altLang="en-US" sz="2800" dirty="0">
                <a:solidFill>
                  <a:srgbClr val="0070C0"/>
                </a:solidFill>
                <a:latin typeface="Times New Roman" panose="02020603050405020304" pitchFamily="18" charset="0"/>
              </a:rPr>
              <a:t>Supervisor- to evaluate and guide your work</a:t>
            </a:r>
          </a:p>
          <a:p>
            <a:pPr marL="609600" indent="-609600" algn="just" eaLnBrk="1" hangingPunct="1">
              <a:defRPr/>
            </a:pPr>
            <a:r>
              <a:rPr lang="en-US" altLang="en-US" sz="2800" dirty="0">
                <a:solidFill>
                  <a:schemeClr val="accent5">
                    <a:lumMod val="25000"/>
                  </a:schemeClr>
                </a:solidFill>
                <a:latin typeface="Times New Roman" panose="02020603050405020304" pitchFamily="18" charset="0"/>
              </a:rPr>
              <a:t>Yourself- to stay focused and organized during your work</a:t>
            </a:r>
          </a:p>
          <a:p>
            <a:pPr marL="609600" indent="-609600" algn="just" eaLnBrk="1" hangingPunct="1">
              <a:defRPr/>
            </a:pPr>
            <a:r>
              <a:rPr lang="en-US" altLang="en-US" sz="2800" dirty="0">
                <a:solidFill>
                  <a:srgbClr val="FF0000"/>
                </a:solidFill>
                <a:latin typeface="Times New Roman" panose="02020603050405020304" pitchFamily="18" charset="0"/>
              </a:rPr>
              <a:t>What is important?</a:t>
            </a:r>
          </a:p>
          <a:p>
            <a:pPr marL="1089025" lvl="2" indent="-288925" algn="just" eaLnBrk="1" hangingPunct="1">
              <a:defRPr/>
            </a:pPr>
            <a:r>
              <a:rPr lang="en-US" altLang="en-US" dirty="0">
                <a:solidFill>
                  <a:srgbClr val="FF0000"/>
                </a:solidFill>
                <a:latin typeface="Times New Roman" panose="02020603050405020304" pitchFamily="18" charset="0"/>
              </a:rPr>
              <a:t>Show you have legitimate project topic</a:t>
            </a:r>
          </a:p>
          <a:p>
            <a:pPr marL="1089025" lvl="2" indent="-288925" algn="just" eaLnBrk="1" hangingPunct="1">
              <a:defRPr/>
            </a:pPr>
            <a:r>
              <a:rPr lang="en-US" altLang="en-US" dirty="0">
                <a:solidFill>
                  <a:srgbClr val="FF0000"/>
                </a:solidFill>
                <a:latin typeface="Times New Roman" panose="02020603050405020304" pitchFamily="18" charset="0"/>
              </a:rPr>
              <a:t>Demonstrate a realistic and effective project plan</a:t>
            </a:r>
          </a:p>
          <a:p>
            <a:pPr marL="1089025" lvl="2" indent="-288925" algn="just" eaLnBrk="1" hangingPunct="1">
              <a:defRPr/>
            </a:pPr>
            <a:r>
              <a:rPr lang="en-US" altLang="en-US" dirty="0">
                <a:solidFill>
                  <a:srgbClr val="FF0000"/>
                </a:solidFill>
                <a:latin typeface="Times New Roman" panose="02020603050405020304" pitchFamily="18" charset="0"/>
              </a:rPr>
              <a:t>Reflect your understanding </a:t>
            </a:r>
          </a:p>
          <a:p>
            <a:pPr marL="800100" lvl="2" indent="0" algn="just" eaLnBrk="1" hangingPunct="1">
              <a:buFontTx/>
              <a:buNone/>
              <a:defRPr/>
            </a:pPr>
            <a:endParaRPr lang="en-US" altLang="en-US" dirty="0">
              <a:solidFill>
                <a:srgbClr val="FF0000"/>
              </a:solidFill>
              <a:latin typeface="Times New Roman" panose="02020603050405020304" pitchFamily="18" charset="0"/>
            </a:endParaRPr>
          </a:p>
          <a:p>
            <a:pPr marL="400050" lvl="1" indent="0" algn="just" eaLnBrk="1" hangingPunct="1">
              <a:buFontTx/>
              <a:buNone/>
              <a:defRPr/>
            </a:pPr>
            <a:r>
              <a:rPr lang="en-US" altLang="en-US" b="1" dirty="0">
                <a:solidFill>
                  <a:srgbClr val="002060"/>
                </a:solidFill>
                <a:latin typeface="Times New Roman" panose="02020603050405020304" pitchFamily="18" charset="0"/>
              </a:rPr>
              <a:t>Essential for Success- Planning is the key</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71AF72-D8A6-E0EA-FE7C-3ED76C9B2E16}"/>
              </a:ext>
            </a:extLst>
          </p:cNvPr>
          <p:cNvSpPr>
            <a:spLocks noGrp="1" noChangeArrowheads="1"/>
          </p:cNvSpPr>
          <p:nvPr>
            <p:ph type="title"/>
          </p:nvPr>
        </p:nvSpPr>
        <p:spPr/>
        <p:txBody>
          <a:bodyPr/>
          <a:lstStyle/>
          <a:p>
            <a:pPr eaLnBrk="1" hangingPunct="1"/>
            <a:r>
              <a:rPr lang="en-US" altLang="en-US" sz="4000" dirty="0"/>
              <a:t>Project Proposal</a:t>
            </a:r>
          </a:p>
        </p:txBody>
      </p:sp>
      <p:sp>
        <p:nvSpPr>
          <p:cNvPr id="6147" name="TextBox 3">
            <a:extLst>
              <a:ext uri="{FF2B5EF4-FFF2-40B4-BE49-F238E27FC236}">
                <a16:creationId xmlns:a16="http://schemas.microsoft.com/office/drawing/2014/main" id="{854CABBC-2068-DCE3-DBA9-9DEE265BBB48}"/>
              </a:ext>
            </a:extLst>
          </p:cNvPr>
          <p:cNvSpPr txBox="1">
            <a:spLocks noChangeArrowheads="1"/>
          </p:cNvSpPr>
          <p:nvPr/>
        </p:nvSpPr>
        <p:spPr bwMode="auto">
          <a:xfrm>
            <a:off x="457200" y="1600200"/>
            <a:ext cx="83820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0000"/>
              </a:lnSpc>
              <a:buFont typeface="Wingdings" panose="05000000000000000000" pitchFamily="2" charset="2"/>
              <a:buChar char="v"/>
            </a:pPr>
            <a:r>
              <a:rPr lang="en-US" altLang="en-US" sz="2400" dirty="0"/>
              <a:t>Literature review for the relevant topic </a:t>
            </a:r>
          </a:p>
          <a:p>
            <a:pPr eaLnBrk="1" hangingPunct="1">
              <a:lnSpc>
                <a:spcPct val="150000"/>
              </a:lnSpc>
              <a:buFont typeface="Wingdings" panose="05000000000000000000" pitchFamily="2" charset="2"/>
              <a:buChar char="v"/>
            </a:pPr>
            <a:r>
              <a:rPr lang="en-US" altLang="en-US" sz="2400" dirty="0"/>
              <a:t>Prepare a project proposal and sent it to supervisor </a:t>
            </a:r>
          </a:p>
          <a:p>
            <a:pPr eaLnBrk="1" hangingPunct="1">
              <a:lnSpc>
                <a:spcPct val="150000"/>
              </a:lnSpc>
              <a:buFont typeface="Wingdings" panose="05000000000000000000" pitchFamily="2" charset="2"/>
              <a:buChar char="v"/>
            </a:pPr>
            <a:r>
              <a:rPr lang="en-US" altLang="en-US" sz="2400" dirty="0"/>
              <a:t>Update/adjust the proposal based on supervisor comment</a:t>
            </a:r>
          </a:p>
          <a:p>
            <a:pPr eaLnBrk="1" hangingPunct="1">
              <a:lnSpc>
                <a:spcPct val="150000"/>
              </a:lnSpc>
              <a:buFont typeface="Wingdings" panose="05000000000000000000" pitchFamily="2" charset="2"/>
              <a:buChar char="v"/>
            </a:pPr>
            <a:r>
              <a:rPr lang="en-US" altLang="en-US" sz="2400" dirty="0"/>
              <a:t>Specify and finalize </a:t>
            </a:r>
            <a:r>
              <a:rPr lang="en-US" altLang="en-US" sz="2400" b="1" dirty="0">
                <a:solidFill>
                  <a:srgbClr val="FF0000"/>
                </a:solidFill>
              </a:rPr>
              <a:t>scope of work </a:t>
            </a:r>
            <a:r>
              <a:rPr lang="en-US" altLang="en-US" sz="2400" dirty="0"/>
              <a:t>and</a:t>
            </a:r>
            <a:r>
              <a:rPr lang="en-US" altLang="en-US" sz="2400" b="1" dirty="0">
                <a:solidFill>
                  <a:srgbClr val="FF0000"/>
                </a:solidFill>
              </a:rPr>
              <a:t> methodology</a:t>
            </a:r>
          </a:p>
          <a:p>
            <a:pPr eaLnBrk="1" hangingPunct="1">
              <a:lnSpc>
                <a:spcPct val="150000"/>
              </a:lnSpc>
              <a:buFont typeface="Wingdings" panose="05000000000000000000" pitchFamily="2" charset="2"/>
              <a:buChar char="v"/>
            </a:pPr>
            <a:r>
              <a:rPr lang="en-US" altLang="en-US" sz="2400" dirty="0"/>
              <a:t>Work breakdown/Schedule for the project (timeline)</a:t>
            </a:r>
          </a:p>
          <a:p>
            <a:pPr eaLnBrk="1" hangingPunct="1">
              <a:lnSpc>
                <a:spcPct val="150000"/>
              </a:lnSpc>
              <a:buFont typeface="Wingdings" panose="05000000000000000000" pitchFamily="2" charset="2"/>
              <a:buChar char="v"/>
            </a:pPr>
            <a:r>
              <a:rPr lang="en-US" altLang="en-US" sz="2400" dirty="0"/>
              <a:t>Strictly follow the timeline </a:t>
            </a:r>
          </a:p>
          <a:p>
            <a:pPr eaLnBrk="1" hangingPunct="1">
              <a:lnSpc>
                <a:spcPct val="150000"/>
              </a:lnSpc>
              <a:buFont typeface="Wingdings" panose="05000000000000000000" pitchFamily="2" charset="2"/>
              <a:buChar char="v"/>
            </a:pPr>
            <a:r>
              <a:rPr lang="en-US" altLang="en-US" sz="2400" dirty="0"/>
              <a:t>Before start the project work, </a:t>
            </a:r>
            <a:r>
              <a:rPr lang="en-US" altLang="en-US" sz="2400" b="1" dirty="0"/>
              <a:t>project</a:t>
            </a:r>
            <a:r>
              <a:rPr lang="en-US" altLang="en-US" sz="2400" dirty="0"/>
              <a:t> </a:t>
            </a:r>
            <a:r>
              <a:rPr lang="en-US" altLang="en-US" sz="2400" b="1" dirty="0"/>
              <a:t>proposal </a:t>
            </a:r>
            <a:r>
              <a:rPr lang="en-US" altLang="en-US" sz="2400" dirty="0"/>
              <a:t>must be</a:t>
            </a:r>
            <a:r>
              <a:rPr lang="en-US" altLang="en-US" sz="2400" b="1" dirty="0"/>
              <a:t> approved from supervisor </a:t>
            </a:r>
            <a:r>
              <a:rPr lang="en-US" altLang="en-US" sz="2400" dirty="0"/>
              <a:t>with</a:t>
            </a:r>
            <a:r>
              <a:rPr lang="en-US" altLang="en-US" sz="2400" b="1" dirty="0"/>
              <a:t> </a:t>
            </a:r>
            <a:r>
              <a:rPr lang="en-US" altLang="en-US" sz="2400" b="1" dirty="0">
                <a:solidFill>
                  <a:srgbClr val="00B050"/>
                </a:solidFill>
              </a:rPr>
              <a:t>scope of work </a:t>
            </a:r>
            <a:r>
              <a:rPr lang="en-US" altLang="en-US" sz="2400" b="1" dirty="0"/>
              <a:t>and </a:t>
            </a:r>
            <a:r>
              <a:rPr lang="en-US" altLang="en-US" sz="2400" b="1" dirty="0">
                <a:solidFill>
                  <a:srgbClr val="00B050"/>
                </a:solidFill>
              </a:rPr>
              <a:t>methodology</a:t>
            </a:r>
            <a:endParaRPr lang="en-US" altLang="en-US" sz="28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2">
            <a:extLst>
              <a:ext uri="{FF2B5EF4-FFF2-40B4-BE49-F238E27FC236}">
                <a16:creationId xmlns:a16="http://schemas.microsoft.com/office/drawing/2014/main" id="{C036EF1D-9AF1-1B38-7539-51559284AEE7}"/>
              </a:ext>
            </a:extLst>
          </p:cNvPr>
          <p:cNvSpPr txBox="1">
            <a:spLocks noChangeArrowheads="1"/>
          </p:cNvSpPr>
          <p:nvPr/>
        </p:nvSpPr>
        <p:spPr bwMode="auto">
          <a:xfrm>
            <a:off x="381000" y="1081088"/>
            <a:ext cx="8534400"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AutoNum type="arabicPeriod"/>
            </a:pPr>
            <a:r>
              <a:rPr lang="en-US" altLang="en-US" sz="1800" b="1" dirty="0"/>
              <a:t>Title &amp; Abstract: </a:t>
            </a:r>
            <a:endParaRPr lang="en-US" altLang="en-US" sz="1800" dirty="0"/>
          </a:p>
          <a:p>
            <a:pPr lvl="1" eaLnBrk="1" hangingPunct="1">
              <a:spcBef>
                <a:spcPct val="0"/>
              </a:spcBef>
              <a:buFontTx/>
              <a:buNone/>
            </a:pPr>
            <a:r>
              <a:rPr lang="en-US" altLang="en-US" sz="1800" dirty="0"/>
              <a:t>Clear, concise title related to Cybersecurity topics with 200–300 words abstract summarizing background, objective and scope</a:t>
            </a:r>
          </a:p>
          <a:p>
            <a:pPr eaLnBrk="1" hangingPunct="1">
              <a:spcBef>
                <a:spcPct val="0"/>
              </a:spcBef>
              <a:buFontTx/>
              <a:buAutoNum type="arabicPeriod"/>
            </a:pPr>
            <a:r>
              <a:rPr lang="en-US" altLang="en-US" sz="1800" b="1" dirty="0"/>
              <a:t>Introduction &amp; Problem Statement</a:t>
            </a:r>
            <a:endParaRPr lang="en-US" altLang="en-US" sz="1800" dirty="0"/>
          </a:p>
          <a:p>
            <a:pPr lvl="1" eaLnBrk="1" hangingPunct="1">
              <a:spcBef>
                <a:spcPct val="0"/>
              </a:spcBef>
              <a:buFontTx/>
              <a:buNone/>
            </a:pPr>
            <a:r>
              <a:rPr lang="en-US" altLang="en-US" sz="1800" dirty="0"/>
              <a:t>Define the cybersecurity challenge , 2. Research questions/objectives</a:t>
            </a:r>
          </a:p>
          <a:p>
            <a:pPr eaLnBrk="1" hangingPunct="1">
              <a:spcBef>
                <a:spcPct val="0"/>
              </a:spcBef>
              <a:buFontTx/>
              <a:buAutoNum type="arabicPeriod"/>
            </a:pPr>
            <a:r>
              <a:rPr lang="en-US" altLang="en-US" sz="1800" b="1" dirty="0"/>
              <a:t>Scope of the Project</a:t>
            </a:r>
            <a:endParaRPr lang="en-US" altLang="en-US" sz="1800" dirty="0"/>
          </a:p>
          <a:p>
            <a:pPr lvl="1" eaLnBrk="1" hangingPunct="1">
              <a:spcBef>
                <a:spcPct val="0"/>
              </a:spcBef>
              <a:buFontTx/>
              <a:buNone/>
            </a:pPr>
            <a:r>
              <a:rPr lang="en-US" altLang="en-US" sz="1800" dirty="0"/>
              <a:t>Boundaries (what is included, excluded), 2. Academic + practical contribution</a:t>
            </a:r>
          </a:p>
          <a:p>
            <a:pPr eaLnBrk="1" hangingPunct="1">
              <a:spcBef>
                <a:spcPct val="0"/>
              </a:spcBef>
              <a:buFontTx/>
              <a:buAutoNum type="arabicPeriod"/>
            </a:pPr>
            <a:r>
              <a:rPr lang="en-US" altLang="en-US" sz="1800" b="1" dirty="0"/>
              <a:t>Literature Review</a:t>
            </a:r>
            <a:endParaRPr lang="en-US" altLang="en-US" sz="1800" dirty="0"/>
          </a:p>
          <a:p>
            <a:pPr lvl="1" eaLnBrk="1" hangingPunct="1">
              <a:spcBef>
                <a:spcPct val="0"/>
              </a:spcBef>
              <a:buFontTx/>
              <a:buNone/>
            </a:pPr>
            <a:r>
              <a:rPr lang="en-US" altLang="en-US" sz="1800" dirty="0"/>
              <a:t>Summary of past studies &amp; tools, Gaps/limitations in existing works</a:t>
            </a:r>
          </a:p>
          <a:p>
            <a:pPr eaLnBrk="1" hangingPunct="1">
              <a:spcBef>
                <a:spcPct val="0"/>
              </a:spcBef>
              <a:buFontTx/>
              <a:buAutoNum type="arabicPeriod"/>
            </a:pPr>
            <a:r>
              <a:rPr lang="en-US" altLang="en-US" sz="1800" b="1" dirty="0"/>
              <a:t>Proposed Methodology</a:t>
            </a:r>
            <a:endParaRPr lang="en-US" altLang="en-US" sz="1800" dirty="0"/>
          </a:p>
          <a:p>
            <a:pPr lvl="1" eaLnBrk="1" hangingPunct="1">
              <a:spcBef>
                <a:spcPct val="0"/>
              </a:spcBef>
              <a:buFontTx/>
              <a:buNone/>
            </a:pPr>
            <a:r>
              <a:rPr lang="en-US" altLang="en-US" sz="1800" dirty="0"/>
              <a:t>Research design (experimental, case study, simulation), Data sources (datasets, logs, simulated attacks), Tools/technologies (Python, Wireshark, Splunk, ML models, etc.)</a:t>
            </a:r>
          </a:p>
          <a:p>
            <a:pPr eaLnBrk="1" hangingPunct="1">
              <a:spcBef>
                <a:spcPct val="0"/>
              </a:spcBef>
              <a:buFontTx/>
              <a:buAutoNum type="arabicPeriod"/>
            </a:pPr>
            <a:r>
              <a:rPr lang="en-US" altLang="en-US" sz="1800" b="1" dirty="0"/>
              <a:t>Expected Outcomes</a:t>
            </a:r>
            <a:endParaRPr lang="en-US" altLang="en-US" sz="1800" dirty="0"/>
          </a:p>
          <a:p>
            <a:pPr lvl="1" eaLnBrk="1" hangingPunct="1">
              <a:spcBef>
                <a:spcPct val="0"/>
              </a:spcBef>
              <a:buFontTx/>
              <a:buNone/>
            </a:pPr>
            <a:r>
              <a:rPr lang="en-US" altLang="en-US" sz="1800" dirty="0"/>
              <a:t>Anticipated results (e.g., improved detection accuracy, secure design)</a:t>
            </a:r>
          </a:p>
          <a:p>
            <a:pPr eaLnBrk="1" hangingPunct="1">
              <a:spcBef>
                <a:spcPct val="0"/>
              </a:spcBef>
              <a:buFontTx/>
              <a:buAutoNum type="arabicPeriod"/>
            </a:pPr>
            <a:r>
              <a:rPr lang="en-US" altLang="en-US" sz="1800" b="1" dirty="0"/>
              <a:t>Timeline &amp; Resources</a:t>
            </a:r>
            <a:endParaRPr lang="en-US" altLang="en-US" sz="1800" dirty="0"/>
          </a:p>
          <a:p>
            <a:pPr lvl="1" eaLnBrk="1" hangingPunct="1">
              <a:spcBef>
                <a:spcPct val="0"/>
              </a:spcBef>
              <a:buFontTx/>
              <a:buNone/>
            </a:pPr>
            <a:r>
              <a:rPr lang="en-US" altLang="en-US" sz="1800" dirty="0"/>
              <a:t>Week-wise/Gantt chart plan, Hardware, software, datasets required</a:t>
            </a:r>
          </a:p>
          <a:p>
            <a:pPr eaLnBrk="1" hangingPunct="1">
              <a:spcBef>
                <a:spcPct val="0"/>
              </a:spcBef>
              <a:buFontTx/>
              <a:buNone/>
            </a:pPr>
            <a:endParaRPr lang="en-US" altLang="en-US" sz="1600" b="1" dirty="0"/>
          </a:p>
          <a:p>
            <a:pPr algn="ctr" eaLnBrk="1" hangingPunct="1">
              <a:spcBef>
                <a:spcPct val="0"/>
              </a:spcBef>
              <a:buFontTx/>
              <a:buNone/>
            </a:pPr>
            <a:r>
              <a:rPr lang="en-US" altLang="en-US" sz="2400" b="1" dirty="0"/>
              <a:t>Proposal Report Length: 20–25 pages</a:t>
            </a:r>
          </a:p>
        </p:txBody>
      </p:sp>
      <p:sp>
        <p:nvSpPr>
          <p:cNvPr id="5" name="TextBox 4">
            <a:extLst>
              <a:ext uri="{FF2B5EF4-FFF2-40B4-BE49-F238E27FC236}">
                <a16:creationId xmlns:a16="http://schemas.microsoft.com/office/drawing/2014/main" id="{6E7266D2-7B32-4D96-1E26-1890B5009A82}"/>
              </a:ext>
            </a:extLst>
          </p:cNvPr>
          <p:cNvSpPr txBox="1"/>
          <p:nvPr/>
        </p:nvSpPr>
        <p:spPr>
          <a:xfrm>
            <a:off x="76200" y="344488"/>
            <a:ext cx="9067800" cy="646112"/>
          </a:xfrm>
          <a:prstGeom prst="rect">
            <a:avLst/>
          </a:prstGeom>
          <a:noFill/>
        </p:spPr>
        <p:txBody>
          <a:bodyPr>
            <a:spAutoFit/>
          </a:bodyPr>
          <a:lstStyle/>
          <a:p>
            <a:pPr eaLnBrk="1" hangingPunct="1">
              <a:defRPr/>
            </a:pPr>
            <a:r>
              <a:rPr lang="en-US" sz="3600" dirty="0">
                <a:latin typeface="+mj-lt"/>
              </a:rPr>
              <a:t>Project Proposal (Planning &amp; Design)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405FD3D-274B-6656-E397-3B8FF0F331FF}"/>
              </a:ext>
            </a:extLst>
          </p:cNvPr>
          <p:cNvSpPr>
            <a:spLocks noGrp="1" noChangeArrowheads="1"/>
          </p:cNvSpPr>
          <p:nvPr>
            <p:ph type="title"/>
          </p:nvPr>
        </p:nvSpPr>
        <p:spPr/>
        <p:txBody>
          <a:bodyPr/>
          <a:lstStyle/>
          <a:p>
            <a:pPr eaLnBrk="1" hangingPunct="1"/>
            <a:r>
              <a:rPr lang="en-US" altLang="en-US" sz="3600" dirty="0"/>
              <a:t>Project Implementation and Report</a:t>
            </a:r>
            <a:r>
              <a:rPr lang="en-US" altLang="en-US" sz="4000" dirty="0"/>
              <a:t> </a:t>
            </a:r>
          </a:p>
        </p:txBody>
      </p:sp>
      <p:sp>
        <p:nvSpPr>
          <p:cNvPr id="8195" name="TextBox 3">
            <a:extLst>
              <a:ext uri="{FF2B5EF4-FFF2-40B4-BE49-F238E27FC236}">
                <a16:creationId xmlns:a16="http://schemas.microsoft.com/office/drawing/2014/main" id="{2842DE68-2B0A-C508-1E79-C42E3983D383}"/>
              </a:ext>
            </a:extLst>
          </p:cNvPr>
          <p:cNvSpPr txBox="1">
            <a:spLocks noChangeArrowheads="1"/>
          </p:cNvSpPr>
          <p:nvPr/>
        </p:nvSpPr>
        <p:spPr bwMode="auto">
          <a:xfrm>
            <a:off x="457200" y="1660525"/>
            <a:ext cx="83820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 typeface="Wingdings" panose="05000000000000000000" pitchFamily="2" charset="2"/>
              <a:buChar char="v"/>
            </a:pPr>
            <a:r>
              <a:rPr lang="en-US" altLang="en-US" sz="2400">
                <a:latin typeface="Times New Roman" panose="02020603050405020304" pitchFamily="18" charset="0"/>
                <a:cs typeface="Times New Roman" panose="02020603050405020304" pitchFamily="18" charset="0"/>
              </a:rPr>
              <a:t>General guideline based on reference document from DU</a:t>
            </a:r>
          </a:p>
          <a:p>
            <a:pPr lvl="1" eaLnBrk="1" hangingPunct="1">
              <a:lnSpc>
                <a:spcPct val="150000"/>
              </a:lnSpc>
              <a:spcBef>
                <a:spcPct val="0"/>
              </a:spcBef>
              <a:buFont typeface="Wingdings" panose="05000000000000000000" pitchFamily="2" charset="2"/>
              <a:buChar char="v"/>
            </a:pPr>
            <a:r>
              <a:rPr lang="en-US" altLang="en-US" sz="2400" b="1">
                <a:solidFill>
                  <a:srgbClr val="00B050"/>
                </a:solidFill>
                <a:latin typeface="Times New Roman" panose="02020603050405020304" pitchFamily="18" charset="0"/>
                <a:cs typeface="Times New Roman" panose="02020603050405020304" pitchFamily="18" charset="0"/>
              </a:rPr>
              <a:t>The report must be written in Latex </a:t>
            </a:r>
          </a:p>
          <a:p>
            <a:pPr lvl="1" eaLnBrk="1" hangingPunct="1">
              <a:lnSpc>
                <a:spcPct val="150000"/>
              </a:lnSpc>
              <a:spcBef>
                <a:spcPct val="0"/>
              </a:spcBef>
              <a:buFont typeface="Wingdings" panose="05000000000000000000" pitchFamily="2" charset="2"/>
              <a:buChar char="v"/>
            </a:pPr>
            <a:r>
              <a:rPr lang="en-US" altLang="en-US" sz="2400" b="1">
                <a:solidFill>
                  <a:srgbClr val="FF0000"/>
                </a:solidFill>
                <a:latin typeface="Times New Roman" panose="02020603050405020304" pitchFamily="18" charset="0"/>
                <a:cs typeface="Times New Roman" panose="02020603050405020304" pitchFamily="18" charset="0"/>
              </a:rPr>
              <a:t>The plagiarism level must be below of range</a:t>
            </a:r>
          </a:p>
          <a:p>
            <a:pPr lvl="1" eaLnBrk="1" hangingPunct="1">
              <a:lnSpc>
                <a:spcPct val="150000"/>
              </a:lnSpc>
              <a:spcBef>
                <a:spcPct val="0"/>
              </a:spcBef>
              <a:buFont typeface="Wingdings" panose="05000000000000000000" pitchFamily="2" charset="2"/>
              <a:buChar char="v"/>
            </a:pPr>
            <a:r>
              <a:rPr lang="en-US" altLang="en-US" sz="2400" b="1">
                <a:solidFill>
                  <a:srgbClr val="0070C0"/>
                </a:solidFill>
                <a:latin typeface="Times New Roman" panose="02020603050405020304" pitchFamily="18" charset="0"/>
                <a:cs typeface="Times New Roman" panose="02020603050405020304" pitchFamily="18" charset="0"/>
              </a:rPr>
              <a:t>AI detection or AI use limit must be below of range</a:t>
            </a:r>
          </a:p>
          <a:p>
            <a:pPr lvl="1" eaLnBrk="1" hangingPunct="1">
              <a:lnSpc>
                <a:spcPct val="150000"/>
              </a:lnSpc>
              <a:spcBef>
                <a:spcPct val="0"/>
              </a:spcBef>
              <a:buFont typeface="Wingdings" panose="05000000000000000000" pitchFamily="2" charset="2"/>
              <a:buChar char="v"/>
            </a:pPr>
            <a:r>
              <a:rPr lang="en-US" altLang="en-US" sz="2400" b="1">
                <a:solidFill>
                  <a:srgbClr val="7030A0"/>
                </a:solidFill>
                <a:latin typeface="Times New Roman" panose="02020603050405020304" pitchFamily="18" charset="0"/>
                <a:cs typeface="Times New Roman" panose="02020603050405020304" pitchFamily="18" charset="0"/>
              </a:rPr>
              <a:t>Total report must be written by the student (may use AI for assistance but not preparing the entire report with AI tools)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1F99A86-B70E-632F-B90B-10FE08E1BDE2}"/>
              </a:ext>
            </a:extLst>
          </p:cNvPr>
          <p:cNvSpPr>
            <a:spLocks noGrp="1" noChangeArrowheads="1"/>
          </p:cNvSpPr>
          <p:nvPr>
            <p:ph type="title"/>
          </p:nvPr>
        </p:nvSpPr>
        <p:spPr>
          <a:xfrm>
            <a:off x="457200" y="274638"/>
            <a:ext cx="8229600" cy="868362"/>
          </a:xfrm>
        </p:spPr>
        <p:txBody>
          <a:bodyPr/>
          <a:lstStyle/>
          <a:p>
            <a:pPr eaLnBrk="1" hangingPunct="1"/>
            <a:r>
              <a:rPr lang="en-US" altLang="en-US" sz="4000"/>
              <a:t>Project Report</a:t>
            </a:r>
          </a:p>
        </p:txBody>
      </p:sp>
      <p:sp>
        <p:nvSpPr>
          <p:cNvPr id="4" name="TextBox 3">
            <a:extLst>
              <a:ext uri="{FF2B5EF4-FFF2-40B4-BE49-F238E27FC236}">
                <a16:creationId xmlns:a16="http://schemas.microsoft.com/office/drawing/2014/main" id="{97741BF5-EF22-86AA-D1AF-F8E6CBE6E9CB}"/>
              </a:ext>
            </a:extLst>
          </p:cNvPr>
          <p:cNvSpPr txBox="1"/>
          <p:nvPr/>
        </p:nvSpPr>
        <p:spPr>
          <a:xfrm>
            <a:off x="228600" y="1066800"/>
            <a:ext cx="8686800" cy="5694363"/>
          </a:xfrm>
          <a:prstGeom prst="rect">
            <a:avLst/>
          </a:prstGeom>
          <a:noFill/>
        </p:spPr>
        <p:txBody>
          <a:bodyPr>
            <a:spAutoFit/>
          </a:bodyPr>
          <a:lstStyle/>
          <a:p>
            <a:pPr lvl="1" eaLnBrk="1" hangingPunct="1">
              <a:defRPr/>
            </a:pPr>
            <a:r>
              <a:rPr lang="en-US" sz="2400" b="1" dirty="0"/>
              <a:t>Front part</a:t>
            </a:r>
          </a:p>
          <a:p>
            <a:pPr marL="800100" lvl="1" indent="-342900" eaLnBrk="1" hangingPunct="1">
              <a:buFont typeface="Wingdings" panose="05000000000000000000" pitchFamily="2" charset="2"/>
              <a:buChar char="ü"/>
              <a:defRPr/>
            </a:pPr>
            <a:r>
              <a:rPr lang="en-US" sz="2400" dirty="0"/>
              <a:t>Title Page , certification, declaration, Abstract, Acknowledgement, Table of content, List of figure, List of Table → All are in a separate page →</a:t>
            </a:r>
            <a:r>
              <a:rPr lang="en-US" sz="2400" b="1" dirty="0">
                <a:solidFill>
                  <a:srgbClr val="FF0000"/>
                </a:solidFill>
              </a:rPr>
              <a:t> 8-15 pages</a:t>
            </a:r>
          </a:p>
          <a:p>
            <a:pPr lvl="1" eaLnBrk="1" hangingPunct="1">
              <a:defRPr/>
            </a:pPr>
            <a:r>
              <a:rPr lang="en-US" sz="2400" b="1" dirty="0"/>
              <a:t>Body Part </a:t>
            </a:r>
          </a:p>
          <a:p>
            <a:pPr marL="800100" lvl="1" indent="-342900" eaLnBrk="1" hangingPunct="1">
              <a:buFont typeface="Wingdings" panose="05000000000000000000" pitchFamily="2" charset="2"/>
              <a:buChar char="ü"/>
              <a:defRPr/>
            </a:pPr>
            <a:r>
              <a:rPr lang="en-US" sz="2400" dirty="0"/>
              <a:t>Introduction → </a:t>
            </a:r>
            <a:r>
              <a:rPr lang="en-US" sz="2400" b="1" dirty="0">
                <a:solidFill>
                  <a:srgbClr val="FF0000"/>
                </a:solidFill>
              </a:rPr>
              <a:t>6–8 pages</a:t>
            </a:r>
          </a:p>
          <a:p>
            <a:pPr marL="800100" lvl="1" indent="-342900" eaLnBrk="1" hangingPunct="1">
              <a:buFont typeface="Wingdings" panose="05000000000000000000" pitchFamily="2" charset="2"/>
              <a:buChar char="ü"/>
              <a:defRPr/>
            </a:pPr>
            <a:r>
              <a:rPr lang="en-US" sz="2400" dirty="0"/>
              <a:t>Feasibility Analysis → </a:t>
            </a:r>
            <a:r>
              <a:rPr lang="en-US" sz="2400" b="1" dirty="0">
                <a:solidFill>
                  <a:srgbClr val="FF0000"/>
                </a:solidFill>
              </a:rPr>
              <a:t>8–12 pages</a:t>
            </a:r>
          </a:p>
          <a:p>
            <a:pPr marL="800100" lvl="1" indent="-342900" eaLnBrk="1" hangingPunct="1">
              <a:buFont typeface="Wingdings" panose="05000000000000000000" pitchFamily="2" charset="2"/>
              <a:buChar char="ü"/>
              <a:defRPr/>
            </a:pPr>
            <a:r>
              <a:rPr lang="en-US" sz="2400" dirty="0"/>
              <a:t>Proposed System Design and Architecture→ </a:t>
            </a:r>
            <a:r>
              <a:rPr lang="en-US" sz="2400" b="1" dirty="0">
                <a:solidFill>
                  <a:srgbClr val="FF0000"/>
                </a:solidFill>
              </a:rPr>
              <a:t>8-10 pages</a:t>
            </a:r>
          </a:p>
          <a:p>
            <a:pPr marL="800100" lvl="1" indent="-342900" eaLnBrk="1" hangingPunct="1">
              <a:buFont typeface="Wingdings" panose="05000000000000000000" pitchFamily="2" charset="2"/>
              <a:buChar char="ü"/>
              <a:defRPr/>
            </a:pPr>
            <a:r>
              <a:rPr lang="en-US" sz="2400" dirty="0"/>
              <a:t>Results &amp; Analysis → </a:t>
            </a:r>
            <a:r>
              <a:rPr lang="en-US" sz="2400" b="1" dirty="0">
                <a:solidFill>
                  <a:srgbClr val="FF0000"/>
                </a:solidFill>
              </a:rPr>
              <a:t>8–10 pages</a:t>
            </a:r>
          </a:p>
          <a:p>
            <a:pPr marL="800100" lvl="1" indent="-342900" eaLnBrk="1" hangingPunct="1">
              <a:buFont typeface="Wingdings" panose="05000000000000000000" pitchFamily="2" charset="2"/>
              <a:buChar char="ü"/>
              <a:defRPr/>
            </a:pPr>
            <a:r>
              <a:rPr lang="en-US" sz="2400" dirty="0"/>
              <a:t>Conclusion </a:t>
            </a:r>
            <a:r>
              <a:rPr lang="en-US" sz="2400" b="1" dirty="0">
                <a:solidFill>
                  <a:srgbClr val="FF0000"/>
                </a:solidFill>
              </a:rPr>
              <a:t>→ 3–5 pages</a:t>
            </a:r>
          </a:p>
          <a:p>
            <a:pPr lvl="1" eaLnBrk="1" hangingPunct="1">
              <a:defRPr/>
            </a:pPr>
            <a:r>
              <a:rPr lang="en-US" sz="2400" b="1" dirty="0"/>
              <a:t>End Part</a:t>
            </a:r>
          </a:p>
          <a:p>
            <a:pPr marL="800100" lvl="1" indent="-342900" eaLnBrk="1" hangingPunct="1">
              <a:buFont typeface="Wingdings" panose="05000000000000000000" pitchFamily="2" charset="2"/>
              <a:buChar char="ü"/>
              <a:defRPr/>
            </a:pPr>
            <a:r>
              <a:rPr lang="en-US" sz="2400" dirty="0"/>
              <a:t>References → </a:t>
            </a:r>
            <a:r>
              <a:rPr lang="en-US" sz="2400" b="1" dirty="0">
                <a:solidFill>
                  <a:srgbClr val="FF0000"/>
                </a:solidFill>
              </a:rPr>
              <a:t>3–5 pages</a:t>
            </a:r>
          </a:p>
          <a:p>
            <a:pPr marL="800100" lvl="1" indent="-342900" eaLnBrk="1" hangingPunct="1">
              <a:buFont typeface="Wingdings" panose="05000000000000000000" pitchFamily="2" charset="2"/>
              <a:buChar char="ü"/>
              <a:defRPr/>
            </a:pPr>
            <a:r>
              <a:rPr lang="en-US" sz="2400" dirty="0"/>
              <a:t>Appendix → as required</a:t>
            </a:r>
          </a:p>
          <a:p>
            <a:pPr marL="800100" lvl="1" indent="-342900" eaLnBrk="1" hangingPunct="1">
              <a:buFont typeface="Wingdings" panose="05000000000000000000" pitchFamily="2" charset="2"/>
              <a:buChar char="ü"/>
              <a:defRPr/>
            </a:pPr>
            <a:r>
              <a:rPr lang="en-US" sz="2400" dirty="0"/>
              <a:t>Publications (if any )</a:t>
            </a:r>
          </a:p>
          <a:p>
            <a:pPr lvl="1" algn="ctr" eaLnBrk="1" hangingPunct="1">
              <a:defRPr/>
            </a:pPr>
            <a:r>
              <a:rPr lang="en-US" sz="2800" b="1" dirty="0"/>
              <a:t>Project Report: 50–70 pages total</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3E0D4CE4-D70C-0566-B86B-B4E325DCB273}"/>
              </a:ext>
            </a:extLst>
          </p:cNvPr>
          <p:cNvSpPr>
            <a:spLocks noGrp="1" noChangeArrowheads="1"/>
          </p:cNvSpPr>
          <p:nvPr>
            <p:ph type="body" idx="1"/>
          </p:nvPr>
        </p:nvSpPr>
        <p:spPr>
          <a:xfrm>
            <a:off x="152400" y="1371600"/>
            <a:ext cx="8686800" cy="971550"/>
          </a:xfrm>
        </p:spPr>
        <p:txBody>
          <a:bodyPr/>
          <a:lstStyle/>
          <a:p>
            <a:pPr marL="609600" indent="-609600" algn="just" eaLnBrk="1" hangingPunct="1">
              <a:defRPr/>
            </a:pPr>
            <a:r>
              <a:rPr lang="en-US" altLang="en-US" sz="2400" dirty="0">
                <a:latin typeface="Times New Roman" panose="02020603050405020304" pitchFamily="18" charset="0"/>
              </a:rPr>
              <a:t>Should be concise, descriptive, informative and catchy</a:t>
            </a:r>
          </a:p>
          <a:p>
            <a:pPr marL="609600" indent="-609600" algn="just" eaLnBrk="1" hangingPunct="1">
              <a:defRPr/>
            </a:pPr>
            <a:r>
              <a:rPr lang="en-US" altLang="en-US" sz="2400" dirty="0">
                <a:latin typeface="Times New Roman" panose="02020603050405020304" pitchFamily="18" charset="0"/>
              </a:rPr>
              <a:t>Provides keywords for the classification and indexing</a:t>
            </a:r>
          </a:p>
          <a:p>
            <a:pPr marL="609600" indent="-609600" algn="just" eaLnBrk="1" hangingPunct="1">
              <a:defRPr/>
            </a:pPr>
            <a:endParaRPr lang="en-US" altLang="en-US" sz="2400" dirty="0">
              <a:latin typeface="Times New Roman" panose="02020603050405020304" pitchFamily="18" charset="0"/>
            </a:endParaRPr>
          </a:p>
          <a:p>
            <a:pPr marL="0" indent="0" algn="just" eaLnBrk="1" hangingPunct="1">
              <a:buFontTx/>
              <a:buNone/>
              <a:defRPr/>
            </a:pPr>
            <a:endParaRPr lang="en-US" altLang="en-US" sz="2400" dirty="0">
              <a:latin typeface="Times New Roman" panose="02020603050405020304" pitchFamily="18" charset="0"/>
            </a:endParaRPr>
          </a:p>
        </p:txBody>
      </p:sp>
      <p:sp>
        <p:nvSpPr>
          <p:cNvPr id="10243" name="Title 1">
            <a:extLst>
              <a:ext uri="{FF2B5EF4-FFF2-40B4-BE49-F238E27FC236}">
                <a16:creationId xmlns:a16="http://schemas.microsoft.com/office/drawing/2014/main" id="{DFC07ACD-64F2-4B50-D3CF-27278F7278CC}"/>
              </a:ext>
            </a:extLst>
          </p:cNvPr>
          <p:cNvSpPr>
            <a:spLocks noGrp="1" noChangeArrowheads="1"/>
          </p:cNvSpPr>
          <p:nvPr>
            <p:ph type="title"/>
          </p:nvPr>
        </p:nvSpPr>
        <p:spPr/>
        <p:txBody>
          <a:bodyPr/>
          <a:lstStyle/>
          <a:p>
            <a:r>
              <a:rPr lang="en-US" altLang="en-US" sz="3600">
                <a:solidFill>
                  <a:schemeClr val="tx1"/>
                </a:solidFill>
                <a:latin typeface="Times New Roman" panose="02020603050405020304" pitchFamily="18" charset="0"/>
              </a:rPr>
              <a:t>Title</a:t>
            </a:r>
            <a:endParaRPr lang="en-US" altLang="en-US" sz="3600">
              <a:solidFill>
                <a:schemeClr val="tx1"/>
              </a:solidFill>
            </a:endParaRPr>
          </a:p>
        </p:txBody>
      </p:sp>
      <p:grpSp>
        <p:nvGrpSpPr>
          <p:cNvPr id="10244" name="Group 7">
            <a:extLst>
              <a:ext uri="{FF2B5EF4-FFF2-40B4-BE49-F238E27FC236}">
                <a16:creationId xmlns:a16="http://schemas.microsoft.com/office/drawing/2014/main" id="{E3937EB1-72DD-578E-E862-8BE471B71521}"/>
              </a:ext>
            </a:extLst>
          </p:cNvPr>
          <p:cNvGrpSpPr>
            <a:grpSpLocks/>
          </p:cNvGrpSpPr>
          <p:nvPr/>
        </p:nvGrpSpPr>
        <p:grpSpPr bwMode="auto">
          <a:xfrm>
            <a:off x="835025" y="2590800"/>
            <a:ext cx="7775575" cy="1447800"/>
            <a:chOff x="457200" y="3200400"/>
            <a:chExt cx="7775644" cy="1524000"/>
          </a:xfrm>
        </p:grpSpPr>
        <p:sp>
          <p:nvSpPr>
            <p:cNvPr id="2" name="Rectangle 1">
              <a:extLst>
                <a:ext uri="{FF2B5EF4-FFF2-40B4-BE49-F238E27FC236}">
                  <a16:creationId xmlns:a16="http://schemas.microsoft.com/office/drawing/2014/main" id="{F979BAE9-30CB-5C7A-82C2-68FFC36895FD}"/>
                </a:ext>
              </a:extLst>
            </p:cNvPr>
            <p:cNvSpPr/>
            <p:nvPr/>
          </p:nvSpPr>
          <p:spPr>
            <a:xfrm>
              <a:off x="3314725" y="3200400"/>
              <a:ext cx="2057418" cy="609935"/>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accent5">
                      <a:lumMod val="25000"/>
                    </a:schemeClr>
                  </a:solidFill>
                </a:rPr>
                <a:t>Title should contain</a:t>
              </a:r>
            </a:p>
          </p:txBody>
        </p:sp>
        <p:sp>
          <p:nvSpPr>
            <p:cNvPr id="3" name="Rectangle 2">
              <a:extLst>
                <a:ext uri="{FF2B5EF4-FFF2-40B4-BE49-F238E27FC236}">
                  <a16:creationId xmlns:a16="http://schemas.microsoft.com/office/drawing/2014/main" id="{F2CD3630-01A0-17AF-8077-4A1CFDC5B0A2}"/>
                </a:ext>
              </a:extLst>
            </p:cNvPr>
            <p:cNvSpPr/>
            <p:nvPr/>
          </p:nvSpPr>
          <p:spPr>
            <a:xfrm>
              <a:off x="457200" y="4114466"/>
              <a:ext cx="1600214" cy="609934"/>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accent5">
                      <a:lumMod val="25000"/>
                    </a:schemeClr>
                  </a:solidFill>
                </a:rPr>
                <a:t>Topic</a:t>
              </a:r>
            </a:p>
            <a:p>
              <a:pPr algn="ctr">
                <a:defRPr/>
              </a:pPr>
              <a:r>
                <a:rPr lang="en-US" sz="2000" b="1" dirty="0">
                  <a:solidFill>
                    <a:schemeClr val="accent5">
                      <a:lumMod val="25000"/>
                    </a:schemeClr>
                  </a:solidFill>
                </a:rPr>
                <a:t>(What)</a:t>
              </a:r>
            </a:p>
          </p:txBody>
        </p:sp>
        <p:sp>
          <p:nvSpPr>
            <p:cNvPr id="4" name="Rectangle 3">
              <a:extLst>
                <a:ext uri="{FF2B5EF4-FFF2-40B4-BE49-F238E27FC236}">
                  <a16:creationId xmlns:a16="http://schemas.microsoft.com/office/drawing/2014/main" id="{A3666C89-9ACF-EDB2-484E-857982A6442C}"/>
                </a:ext>
              </a:extLst>
            </p:cNvPr>
            <p:cNvSpPr/>
            <p:nvPr/>
          </p:nvSpPr>
          <p:spPr>
            <a:xfrm>
              <a:off x="2514618" y="4114466"/>
              <a:ext cx="1600214" cy="609934"/>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accent5">
                      <a:lumMod val="25000"/>
                    </a:schemeClr>
                  </a:solidFill>
                </a:rPr>
                <a:t>Population</a:t>
              </a:r>
            </a:p>
            <a:p>
              <a:pPr algn="ctr">
                <a:defRPr/>
              </a:pPr>
              <a:r>
                <a:rPr lang="en-US" sz="2000" b="1" dirty="0">
                  <a:solidFill>
                    <a:schemeClr val="accent5">
                      <a:lumMod val="25000"/>
                    </a:schemeClr>
                  </a:solidFill>
                </a:rPr>
                <a:t>(Who)</a:t>
              </a:r>
            </a:p>
          </p:txBody>
        </p:sp>
        <p:sp>
          <p:nvSpPr>
            <p:cNvPr id="5" name="Rectangle 4">
              <a:extLst>
                <a:ext uri="{FF2B5EF4-FFF2-40B4-BE49-F238E27FC236}">
                  <a16:creationId xmlns:a16="http://schemas.microsoft.com/office/drawing/2014/main" id="{85B2C46B-186C-895F-8500-4D573EF17232}"/>
                </a:ext>
              </a:extLst>
            </p:cNvPr>
            <p:cNvSpPr/>
            <p:nvPr/>
          </p:nvSpPr>
          <p:spPr>
            <a:xfrm>
              <a:off x="4572037" y="4114466"/>
              <a:ext cx="1600214" cy="609934"/>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accent5">
                      <a:lumMod val="25000"/>
                    </a:schemeClr>
                  </a:solidFill>
                </a:rPr>
                <a:t>Context</a:t>
              </a:r>
            </a:p>
          </p:txBody>
        </p:sp>
        <p:sp>
          <p:nvSpPr>
            <p:cNvPr id="6" name="Rectangle 5">
              <a:extLst>
                <a:ext uri="{FF2B5EF4-FFF2-40B4-BE49-F238E27FC236}">
                  <a16:creationId xmlns:a16="http://schemas.microsoft.com/office/drawing/2014/main" id="{98F95873-EF6F-F801-3E8B-FC8A31336276}"/>
                </a:ext>
              </a:extLst>
            </p:cNvPr>
            <p:cNvSpPr/>
            <p:nvPr/>
          </p:nvSpPr>
          <p:spPr>
            <a:xfrm>
              <a:off x="6331004" y="4111124"/>
              <a:ext cx="1898665" cy="609934"/>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accent5">
                      <a:lumMod val="25000"/>
                    </a:schemeClr>
                  </a:solidFill>
                </a:rPr>
                <a:t>Methodology</a:t>
              </a:r>
            </a:p>
            <a:p>
              <a:pPr algn="ctr">
                <a:defRPr/>
              </a:pPr>
              <a:r>
                <a:rPr lang="en-US" sz="2000" b="1" dirty="0">
                  <a:solidFill>
                    <a:schemeClr val="accent5">
                      <a:lumMod val="25000"/>
                    </a:schemeClr>
                  </a:solidFill>
                </a:rPr>
                <a:t>(How)</a:t>
              </a:r>
            </a:p>
          </p:txBody>
        </p:sp>
        <p:sp>
          <p:nvSpPr>
            <p:cNvPr id="7" name="Rectangle 6">
              <a:extLst>
                <a:ext uri="{FF2B5EF4-FFF2-40B4-BE49-F238E27FC236}">
                  <a16:creationId xmlns:a16="http://schemas.microsoft.com/office/drawing/2014/main" id="{B651640C-AFB2-08FA-54CD-6C4A813A5AEF}"/>
                </a:ext>
              </a:extLst>
            </p:cNvPr>
            <p:cNvSpPr/>
            <p:nvPr/>
          </p:nvSpPr>
          <p:spPr>
            <a:xfrm>
              <a:off x="457200" y="3793624"/>
              <a:ext cx="7775644" cy="317500"/>
            </a:xfrm>
            <a:prstGeom prst="rect">
              <a:avLst/>
            </a:prstGeom>
            <a:solidFill>
              <a:schemeClr val="accent1">
                <a:lumMod val="50000"/>
              </a:schemeClr>
            </a:solidFill>
            <a:ln>
              <a:solidFill>
                <a:srgbClr val="3C8C9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sp>
        <p:nvSpPr>
          <p:cNvPr id="10245" name="TextBox 9">
            <a:extLst>
              <a:ext uri="{FF2B5EF4-FFF2-40B4-BE49-F238E27FC236}">
                <a16:creationId xmlns:a16="http://schemas.microsoft.com/office/drawing/2014/main" id="{CB777DC2-5713-49D6-10BD-2DEF6010B455}"/>
              </a:ext>
            </a:extLst>
          </p:cNvPr>
          <p:cNvSpPr txBox="1">
            <a:spLocks noChangeArrowheads="1"/>
          </p:cNvSpPr>
          <p:nvPr/>
        </p:nvSpPr>
        <p:spPr bwMode="auto">
          <a:xfrm>
            <a:off x="304800" y="4343400"/>
            <a:ext cx="868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2400" b="1" dirty="0">
                <a:latin typeface="Times New Roman" panose="02020603050405020304" pitchFamily="18" charset="0"/>
                <a:cs typeface="Times New Roman" panose="02020603050405020304" pitchFamily="18" charset="0"/>
              </a:rPr>
              <a:t>Wireless Network Sensor</a:t>
            </a:r>
            <a:r>
              <a:rPr lang="en-US" altLang="en-US" sz="2400" dirty="0">
                <a:latin typeface="Times New Roman" panose="02020603050405020304" pitchFamily="18" charset="0"/>
                <a:cs typeface="Times New Roman" panose="02020603050405020304" pitchFamily="18" charset="0"/>
              </a:rPr>
              <a:t>: Adaptive energy saving </a:t>
            </a:r>
            <a:r>
              <a:rPr lang="en-US" altLang="en-US" sz="2400" b="1" dirty="0">
                <a:latin typeface="Times New Roman" panose="02020603050405020304" pitchFamily="18" charset="0"/>
                <a:cs typeface="Times New Roman" panose="02020603050405020304" pitchFamily="18" charset="0"/>
              </a:rPr>
              <a:t>Smart Healthcare Monitoring </a:t>
            </a:r>
            <a:r>
              <a:rPr lang="en-US" altLang="en-US" sz="2400" dirty="0">
                <a:latin typeface="Times New Roman" panose="02020603050405020304" pitchFamily="18" charset="0"/>
                <a:cs typeface="Times New Roman" panose="02020603050405020304" pitchFamily="18" charset="0"/>
              </a:rPr>
              <a:t>to improve data accuracy for </a:t>
            </a:r>
            <a:r>
              <a:rPr lang="en-US" altLang="en-US" sz="2400" b="1" dirty="0">
                <a:latin typeface="Times New Roman" panose="02020603050405020304" pitchFamily="18" charset="0"/>
                <a:cs typeface="Times New Roman" panose="02020603050405020304" pitchFamily="18" charset="0"/>
              </a:rPr>
              <a:t>medical professional </a:t>
            </a:r>
            <a:r>
              <a:rPr lang="en-US" altLang="en-US" sz="2400" dirty="0">
                <a:latin typeface="Times New Roman" panose="02020603050405020304" pitchFamily="18" charset="0"/>
                <a:cs typeface="Times New Roman" panose="02020603050405020304" pitchFamily="18" charset="0"/>
              </a:rPr>
              <a:t>using AI based </a:t>
            </a:r>
            <a:r>
              <a:rPr lang="en-US" altLang="en-US" sz="2400" b="1" dirty="0">
                <a:latin typeface="Times New Roman" panose="02020603050405020304" pitchFamily="18" charset="0"/>
                <a:cs typeface="Times New Roman" panose="02020603050405020304" pitchFamily="18" charset="0"/>
              </a:rPr>
              <a:t>optimization techniques</a:t>
            </a:r>
          </a:p>
          <a:p>
            <a:pPr>
              <a:buFontTx/>
              <a:buAutoNum type="arabicPeriod"/>
            </a:pPr>
            <a:r>
              <a:rPr lang="en-US" altLang="en-US" sz="2400" b="1" dirty="0">
                <a:latin typeface="Times New Roman" panose="02020603050405020304" pitchFamily="18" charset="0"/>
                <a:cs typeface="Times New Roman" panose="02020603050405020304" pitchFamily="18" charset="0"/>
              </a:rPr>
              <a:t>Malware Detection</a:t>
            </a:r>
            <a:r>
              <a:rPr lang="en-US" altLang="en-US" sz="2400" dirty="0">
                <a:latin typeface="Times New Roman" panose="02020603050405020304" pitchFamily="18" charset="0"/>
                <a:cs typeface="Times New Roman" panose="02020603050405020304" pitchFamily="18" charset="0"/>
              </a:rPr>
              <a:t>: Adaptive </a:t>
            </a:r>
            <a:r>
              <a:rPr lang="en-US" altLang="en-US" sz="2400" b="1" dirty="0">
                <a:latin typeface="Times New Roman" panose="02020603050405020304" pitchFamily="18" charset="0"/>
                <a:cs typeface="Times New Roman" panose="02020603050405020304" pitchFamily="18" charset="0"/>
              </a:rPr>
              <a:t>Resource-Efficient Cybersecurity System</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Enhance Threat Identification </a:t>
            </a:r>
            <a:r>
              <a:rPr lang="en-US" altLang="en-US" sz="2400" dirty="0">
                <a:latin typeface="Times New Roman" panose="02020603050405020304" pitchFamily="18" charset="0"/>
                <a:cs typeface="Times New Roman" panose="02020603050405020304" pitchFamily="18" charset="0"/>
              </a:rPr>
              <a:t>Accuracy for </a:t>
            </a:r>
            <a:r>
              <a:rPr lang="en-US" altLang="en-US" sz="2400" b="1" dirty="0">
                <a:latin typeface="Times New Roman" panose="02020603050405020304" pitchFamily="18" charset="0"/>
                <a:cs typeface="Times New Roman" panose="02020603050405020304" pitchFamily="18" charset="0"/>
              </a:rPr>
              <a:t>Security Analysts </a:t>
            </a:r>
            <a:r>
              <a:rPr lang="en-US" altLang="en-US" sz="2400" dirty="0">
                <a:latin typeface="Times New Roman" panose="02020603050405020304" pitchFamily="18" charset="0"/>
                <a:cs typeface="Times New Roman" panose="02020603050405020304" pitchFamily="18" charset="0"/>
              </a:rPr>
              <a:t>Using AI</a:t>
            </a:r>
            <a:endParaRPr lang="en-US" altLang="en-US" sz="2400" b="1"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337C882C-8BCC-9D25-9E0A-FBE1C13275D0}"/>
              </a:ext>
            </a:extLst>
          </p:cNvPr>
          <p:cNvSpPr>
            <a:spLocks noGrp="1" noChangeArrowheads="1"/>
          </p:cNvSpPr>
          <p:nvPr>
            <p:ph type="body" idx="1"/>
          </p:nvPr>
        </p:nvSpPr>
        <p:spPr>
          <a:xfrm>
            <a:off x="228600" y="1066800"/>
            <a:ext cx="8763000" cy="5715000"/>
          </a:xfrm>
        </p:spPr>
        <p:txBody>
          <a:bodyPr/>
          <a:lstStyle/>
          <a:p>
            <a:pPr marL="0" indent="0">
              <a:buNone/>
            </a:pPr>
            <a:r>
              <a:rPr lang="en-US" sz="2400" dirty="0">
                <a:latin typeface="Times New Roman" panose="02020603050405020304" pitchFamily="18" charset="0"/>
                <a:cs typeface="Times New Roman" panose="02020603050405020304" pitchFamily="18" charset="0"/>
              </a:rPr>
              <a:t>1.1 Background and Context</a:t>
            </a:r>
          </a:p>
          <a:p>
            <a:pPr marL="0" indent="0">
              <a:buNone/>
            </a:pPr>
            <a:r>
              <a:rPr lang="en-US" sz="1400" spc="-20" dirty="0">
                <a:latin typeface="Times New Roman" panose="02020603050405020304" pitchFamily="18" charset="0"/>
                <a:cs typeface="Times New Roman" panose="02020603050405020304" pitchFamily="18" charset="0"/>
              </a:rPr>
              <a:t>Begin with a clear background that explains why your project matters. Provide a brief overview of the broader field in which your project fits and highlight key trends or developments. Summarize what is already known and describe the main issues or gaps your project intends to address. This sets the stage and shows that you understand the area you are working in.</a:t>
            </a:r>
          </a:p>
          <a:p>
            <a:pPr marL="0" indent="0">
              <a:buNone/>
            </a:pPr>
            <a:r>
              <a:rPr lang="en-US" sz="2400" dirty="0">
                <a:latin typeface="Times New Roman" panose="02020603050405020304" pitchFamily="18" charset="0"/>
                <a:cs typeface="Times New Roman" panose="02020603050405020304" pitchFamily="18" charset="0"/>
              </a:rPr>
              <a:t>1.2 Problem Statement</a:t>
            </a:r>
          </a:p>
          <a:p>
            <a:pPr marL="0" indent="0">
              <a:buNone/>
            </a:pPr>
            <a:r>
              <a:rPr lang="en-US" sz="1400" dirty="0">
                <a:latin typeface="Times New Roman" panose="02020603050405020304" pitchFamily="18" charset="0"/>
                <a:cs typeface="Times New Roman" panose="02020603050405020304" pitchFamily="18" charset="0"/>
              </a:rPr>
              <a:t>Describe the specific problem your project is designed to solve. Explain what is already understood about this problem and point out what is still missing or not working well. Make it clear why this gap needs attention.</a:t>
            </a:r>
          </a:p>
          <a:p>
            <a:pPr marL="0" indent="0">
              <a:buNone/>
            </a:pPr>
            <a:r>
              <a:rPr lang="en-US" sz="2400" dirty="0">
                <a:latin typeface="Times New Roman" panose="02020603050405020304" pitchFamily="18" charset="0"/>
                <a:cs typeface="Times New Roman" panose="02020603050405020304" pitchFamily="18" charset="0"/>
              </a:rPr>
              <a:t>1.3 Relevance and Importance</a:t>
            </a:r>
          </a:p>
          <a:p>
            <a:pPr marL="0" indent="0">
              <a:buNone/>
            </a:pPr>
            <a:r>
              <a:rPr lang="en-US" sz="1400" dirty="0">
                <a:latin typeface="Times New Roman" panose="02020603050405020304" pitchFamily="18" charset="0"/>
                <a:cs typeface="Times New Roman" panose="02020603050405020304" pitchFamily="18" charset="0"/>
              </a:rPr>
              <a:t>Explain why your project is worth doing. Show how it will provide useful insights, practical improvements, or new approaches. Highlight the value it brings to users, organizations, or the field in general.</a:t>
            </a:r>
          </a:p>
          <a:p>
            <a:pPr marL="0" indent="0">
              <a:buNone/>
            </a:pPr>
            <a:r>
              <a:rPr lang="en-US" sz="2400" dirty="0">
                <a:latin typeface="Times New Roman" panose="02020603050405020304" pitchFamily="18" charset="0"/>
                <a:cs typeface="Times New Roman" panose="02020603050405020304" pitchFamily="18" charset="0"/>
              </a:rPr>
              <a:t>1.4 Project Aim</a:t>
            </a:r>
          </a:p>
          <a:p>
            <a:pPr marL="0" indent="0">
              <a:buNone/>
            </a:pPr>
            <a:r>
              <a:rPr lang="en-US" sz="1400" dirty="0">
                <a:latin typeface="Times New Roman" panose="02020603050405020304" pitchFamily="18" charset="0"/>
                <a:cs typeface="Times New Roman" panose="02020603050405020304" pitchFamily="18" charset="0"/>
              </a:rPr>
              <a:t>State in one sentence what you intend to achieve. This should capture the overall purpose of the project—what you want to create, test, or demonstrate.</a:t>
            </a:r>
          </a:p>
          <a:p>
            <a:pPr marL="0" indent="0">
              <a:buNone/>
            </a:pPr>
            <a:r>
              <a:rPr lang="en-US" sz="2400" dirty="0">
                <a:latin typeface="Times New Roman" panose="02020603050405020304" pitchFamily="18" charset="0"/>
                <a:cs typeface="Times New Roman" panose="02020603050405020304" pitchFamily="18" charset="0"/>
              </a:rPr>
              <a:t>1.5 Project Objectives</a:t>
            </a:r>
          </a:p>
          <a:p>
            <a:pPr marL="0" indent="0">
              <a:buNone/>
            </a:pPr>
            <a:r>
              <a:rPr lang="en-US" sz="1400" spc="-30" dirty="0">
                <a:latin typeface="Times New Roman" panose="02020603050405020304" pitchFamily="18" charset="0"/>
                <a:cs typeface="Times New Roman" panose="02020603050405020304" pitchFamily="18" charset="0"/>
              </a:rPr>
              <a:t>List 4–5 specific, measurable scope you will take for your project. </a:t>
            </a:r>
            <a:r>
              <a:rPr lang="en-US" sz="1400" b="1" spc="-30" dirty="0">
                <a:latin typeface="Times New Roman" panose="02020603050405020304" pitchFamily="18" charset="0"/>
                <a:cs typeface="Times New Roman" panose="02020603050405020304" pitchFamily="18" charset="0"/>
              </a:rPr>
              <a:t>Use clear action verbs. </a:t>
            </a:r>
            <a:r>
              <a:rPr lang="en-US" sz="1400" spc="-30" dirty="0">
                <a:latin typeface="Times New Roman" panose="02020603050405020304" pitchFamily="18" charset="0"/>
                <a:cs typeface="Times New Roman" panose="02020603050405020304" pitchFamily="18" charset="0"/>
              </a:rPr>
              <a:t>For example: </a:t>
            </a:r>
            <a:r>
              <a:rPr lang="en-US" sz="1400" b="1" spc="-30" dirty="0">
                <a:latin typeface="Times New Roman" panose="02020603050405020304" pitchFamily="18" charset="0"/>
                <a:cs typeface="Times New Roman" panose="02020603050405020304" pitchFamily="18" charset="0"/>
              </a:rPr>
              <a:t>To design </a:t>
            </a:r>
            <a:r>
              <a:rPr lang="en-US" sz="1400" spc="-30" dirty="0">
                <a:latin typeface="Times New Roman" panose="02020603050405020304" pitchFamily="18" charset="0"/>
                <a:cs typeface="Times New Roman" panose="02020603050405020304" pitchFamily="18" charset="0"/>
              </a:rPr>
              <a:t>a prototype that… </a:t>
            </a:r>
            <a:r>
              <a:rPr lang="en-US" sz="1400" b="1" spc="-30" dirty="0">
                <a:latin typeface="Times New Roman" panose="02020603050405020304" pitchFamily="18" charset="0"/>
                <a:cs typeface="Times New Roman" panose="02020603050405020304" pitchFamily="18" charset="0"/>
              </a:rPr>
              <a:t>To implement </a:t>
            </a:r>
            <a:r>
              <a:rPr lang="en-US" sz="1400" spc="-30" dirty="0">
                <a:latin typeface="Times New Roman" panose="02020603050405020304" pitchFamily="18" charset="0"/>
                <a:cs typeface="Times New Roman" panose="02020603050405020304" pitchFamily="18" charset="0"/>
              </a:rPr>
              <a:t>a system that… </a:t>
            </a:r>
            <a:r>
              <a:rPr lang="en-US" sz="1400" b="1" spc="-30" dirty="0">
                <a:latin typeface="Times New Roman" panose="02020603050405020304" pitchFamily="18" charset="0"/>
                <a:cs typeface="Times New Roman" panose="02020603050405020304" pitchFamily="18" charset="0"/>
              </a:rPr>
              <a:t>To evaluate </a:t>
            </a:r>
            <a:r>
              <a:rPr lang="en-US" sz="1400" spc="-30" dirty="0">
                <a:latin typeface="Times New Roman" panose="02020603050405020304" pitchFamily="18" charset="0"/>
                <a:cs typeface="Times New Roman" panose="02020603050405020304" pitchFamily="18" charset="0"/>
              </a:rPr>
              <a:t>performance by… </a:t>
            </a:r>
            <a:r>
              <a:rPr lang="en-US" sz="1400" b="1" spc="-30" dirty="0">
                <a:latin typeface="Times New Roman" panose="02020603050405020304" pitchFamily="18" charset="0"/>
                <a:cs typeface="Times New Roman" panose="02020603050405020304" pitchFamily="18" charset="0"/>
              </a:rPr>
              <a:t>To compare </a:t>
            </a:r>
            <a:r>
              <a:rPr lang="en-US" sz="1400" spc="-30" dirty="0">
                <a:latin typeface="Times New Roman" panose="02020603050405020304" pitchFamily="18" charset="0"/>
                <a:cs typeface="Times New Roman" panose="02020603050405020304" pitchFamily="18" charset="0"/>
              </a:rPr>
              <a:t>results with existing methods…</a:t>
            </a:r>
          </a:p>
          <a:p>
            <a:pPr marL="0" indent="0">
              <a:buNone/>
            </a:pPr>
            <a:r>
              <a:rPr lang="en-US" sz="2400" dirty="0">
                <a:latin typeface="Times New Roman" panose="02020603050405020304" pitchFamily="18" charset="0"/>
                <a:cs typeface="Times New Roman" panose="02020603050405020304" pitchFamily="18" charset="0"/>
              </a:rPr>
              <a:t>1.6 Key Project Questions</a:t>
            </a:r>
          </a:p>
          <a:p>
            <a:pPr marL="0" indent="0">
              <a:buNone/>
            </a:pPr>
            <a:r>
              <a:rPr lang="en-US" sz="1400" dirty="0">
                <a:latin typeface="Times New Roman" panose="02020603050405020304" pitchFamily="18" charset="0"/>
                <a:cs typeface="Times New Roman" panose="02020603050405020304" pitchFamily="18" charset="0"/>
              </a:rPr>
              <a:t>Write the main questions your project will answer. These should guide your work and make clear what you are investigating or proving through the project.</a:t>
            </a:r>
          </a:p>
        </p:txBody>
      </p:sp>
      <p:sp>
        <p:nvSpPr>
          <p:cNvPr id="11267" name="Title 1">
            <a:extLst>
              <a:ext uri="{FF2B5EF4-FFF2-40B4-BE49-F238E27FC236}">
                <a16:creationId xmlns:a16="http://schemas.microsoft.com/office/drawing/2014/main" id="{AF4B7843-87EF-5360-F7B9-BAAC0ECE5C09}"/>
              </a:ext>
            </a:extLst>
          </p:cNvPr>
          <p:cNvSpPr>
            <a:spLocks noGrp="1" noChangeArrowheads="1"/>
          </p:cNvSpPr>
          <p:nvPr>
            <p:ph type="title"/>
          </p:nvPr>
        </p:nvSpPr>
        <p:spPr>
          <a:xfrm>
            <a:off x="457200" y="274638"/>
            <a:ext cx="8229600" cy="715962"/>
          </a:xfrm>
        </p:spPr>
        <p:txBody>
          <a:bodyPr/>
          <a:lstStyle/>
          <a:p>
            <a:r>
              <a:rPr lang="en-US" sz="3600" dirty="0">
                <a:solidFill>
                  <a:schemeClr val="tx1"/>
                </a:solidFill>
                <a:latin typeface="Times New Roman" panose="02020603050405020304" pitchFamily="18" charset="0"/>
              </a:rPr>
              <a:t>Chapter 1:</a:t>
            </a:r>
            <a:r>
              <a:rPr lang="en-US" altLang="en-US" sz="3600" dirty="0">
                <a:solidFill>
                  <a:schemeClr val="tx1"/>
                </a:solidFill>
                <a:latin typeface="Times New Roman" panose="02020603050405020304" pitchFamily="18" charset="0"/>
              </a:rPr>
              <a:t>Introduction</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3BF2841-8FC1-34DE-E7AB-A69BD39CEBF8}"/>
              </a:ext>
            </a:extLst>
          </p:cNvPr>
          <p:cNvSpPr>
            <a:spLocks noGrp="1" noChangeArrowheads="1"/>
          </p:cNvSpPr>
          <p:nvPr>
            <p:ph type="title"/>
          </p:nvPr>
        </p:nvSpPr>
        <p:spPr>
          <a:xfrm>
            <a:off x="457200" y="274638"/>
            <a:ext cx="8229600" cy="639762"/>
          </a:xfrm>
        </p:spPr>
        <p:txBody>
          <a:bodyPr/>
          <a:lstStyle/>
          <a:p>
            <a:pPr marL="609600" indent="-609600" eaLnBrk="1" hangingPunct="1"/>
            <a:r>
              <a:rPr lang="en-US" sz="3600" dirty="0">
                <a:solidFill>
                  <a:schemeClr val="tx1"/>
                </a:solidFill>
                <a:latin typeface="Times New Roman" panose="02020603050405020304" pitchFamily="18" charset="0"/>
                <a:cs typeface="Times New Roman" panose="02020603050405020304" pitchFamily="18" charset="0"/>
              </a:rPr>
              <a:t>Chapter 2: </a:t>
            </a:r>
            <a:r>
              <a:rPr lang="en-US" altLang="en-US" sz="3600" dirty="0">
                <a:solidFill>
                  <a:schemeClr val="tx1"/>
                </a:solidFill>
                <a:latin typeface="Times New Roman" panose="02020603050405020304" pitchFamily="18" charset="0"/>
                <a:cs typeface="Times New Roman" panose="02020603050405020304" pitchFamily="18" charset="0"/>
              </a:rPr>
              <a:t>Literature Review</a:t>
            </a:r>
          </a:p>
        </p:txBody>
      </p:sp>
      <p:sp>
        <p:nvSpPr>
          <p:cNvPr id="11267" name="Rectangle 3">
            <a:extLst>
              <a:ext uri="{FF2B5EF4-FFF2-40B4-BE49-F238E27FC236}">
                <a16:creationId xmlns:a16="http://schemas.microsoft.com/office/drawing/2014/main" id="{27977D6D-6BDE-CD21-6E4C-8C20C9E7074D}"/>
              </a:ext>
            </a:extLst>
          </p:cNvPr>
          <p:cNvSpPr>
            <a:spLocks noGrp="1" noChangeArrowheads="1"/>
          </p:cNvSpPr>
          <p:nvPr>
            <p:ph type="body" idx="1"/>
          </p:nvPr>
        </p:nvSpPr>
        <p:spPr>
          <a:xfrm>
            <a:off x="609600" y="1066800"/>
            <a:ext cx="8077200" cy="5334000"/>
          </a:xfrm>
        </p:spPr>
        <p:txBody>
          <a:bodyPr/>
          <a:lstStyle/>
          <a:p>
            <a:pPr marL="0" indent="0" algn="just" eaLnBrk="1" hangingPunct="1">
              <a:buNone/>
              <a:defRPr/>
            </a:pPr>
            <a:r>
              <a:rPr lang="en-US" sz="2400" dirty="0">
                <a:latin typeface="Times New Roman" panose="02020603050405020304" pitchFamily="18" charset="0"/>
                <a:cs typeface="Times New Roman" panose="02020603050405020304" pitchFamily="18" charset="0"/>
              </a:rPr>
              <a:t>Make this section a focused, practical survey </a:t>
            </a:r>
            <a:r>
              <a:rPr lang="en-US" sz="2400" dirty="0">
                <a:solidFill>
                  <a:srgbClr val="0070C0"/>
                </a:solidFill>
                <a:latin typeface="Times New Roman" panose="02020603050405020304" pitchFamily="18" charset="0"/>
                <a:cs typeface="Times New Roman" panose="02020603050405020304" pitchFamily="18" charset="0"/>
              </a:rPr>
              <a:t>(from published paper and project) </a:t>
            </a:r>
            <a:r>
              <a:rPr lang="en-US" sz="2400" dirty="0">
                <a:latin typeface="Times New Roman" panose="02020603050405020304" pitchFamily="18" charset="0"/>
                <a:cs typeface="Times New Roman" panose="02020603050405020304" pitchFamily="18" charset="0"/>
              </a:rPr>
              <a:t>that shows how past and current work lead to your project. </a:t>
            </a:r>
          </a:p>
          <a:p>
            <a:pPr marL="798513" indent="-452438" algn="just" eaLnBrk="1" hangingPunct="1">
              <a:buFont typeface="+mj-lt"/>
              <a:buAutoNum type="arabicPeriod"/>
              <a:defRPr/>
            </a:pPr>
            <a:r>
              <a:rPr lang="en-US" sz="2400" dirty="0">
                <a:solidFill>
                  <a:srgbClr val="7030A0"/>
                </a:solidFill>
                <a:latin typeface="Times New Roman" panose="02020603050405020304" pitchFamily="18" charset="0"/>
                <a:cs typeface="Times New Roman" panose="02020603050405020304" pitchFamily="18" charset="0"/>
              </a:rPr>
              <a:t>Keep it concise, well-organized, and clearly tied to your project goals. </a:t>
            </a:r>
          </a:p>
          <a:p>
            <a:pPr marL="798513" indent="-452438" algn="just" eaLnBrk="1" hangingPunct="1">
              <a:buFont typeface="+mj-lt"/>
              <a:buAutoNum type="arabicPeriod"/>
              <a:defRPr/>
            </a:pPr>
            <a:r>
              <a:rPr lang="en-US" sz="2400" dirty="0">
                <a:solidFill>
                  <a:srgbClr val="7030A0"/>
                </a:solidFill>
                <a:latin typeface="Times New Roman" panose="02020603050405020304" pitchFamily="18" charset="0"/>
                <a:cs typeface="Times New Roman" panose="02020603050405020304" pitchFamily="18" charset="0"/>
              </a:rPr>
              <a:t>Short overview of the field and the main themes or approaches relevant to your project.</a:t>
            </a:r>
          </a:p>
          <a:p>
            <a:pPr marL="798513" indent="-452438" algn="just" eaLnBrk="1" hangingPunct="1">
              <a:buFont typeface="+mj-lt"/>
              <a:buAutoNum type="arabicPeriod"/>
              <a:defRPr/>
            </a:pPr>
            <a:r>
              <a:rPr lang="en-US" altLang="en-US" sz="2400" dirty="0">
                <a:solidFill>
                  <a:srgbClr val="7030A0"/>
                </a:solidFill>
                <a:latin typeface="Times New Roman" panose="02020603050405020304" pitchFamily="18" charset="0"/>
                <a:cs typeface="Times New Roman" panose="02020603050405020304" pitchFamily="18" charset="0"/>
              </a:rPr>
              <a:t>Identify gaps &amp; contradictions</a:t>
            </a:r>
          </a:p>
          <a:p>
            <a:pPr marL="798513" indent="-452438" algn="just" eaLnBrk="1" hangingPunct="1">
              <a:buFont typeface="+mj-lt"/>
              <a:buAutoNum type="arabicPeriod"/>
              <a:defRPr/>
            </a:pPr>
            <a:r>
              <a:rPr lang="en-US" altLang="en-US" sz="2400" dirty="0">
                <a:solidFill>
                  <a:srgbClr val="7030A0"/>
                </a:solidFill>
                <a:latin typeface="Times New Roman" panose="02020603050405020304" pitchFamily="18" charset="0"/>
                <a:cs typeface="Times New Roman" panose="02020603050405020304" pitchFamily="18" charset="0"/>
              </a:rPr>
              <a:t>Show how your project fits into the field</a:t>
            </a:r>
          </a:p>
          <a:p>
            <a:pPr marL="609600" indent="-609600" algn="just" eaLnBrk="1" hangingPunct="1">
              <a:defRPr/>
            </a:pPr>
            <a:endParaRPr lang="en-US" altLang="en-US" sz="1600" dirty="0">
              <a:solidFill>
                <a:srgbClr val="002060"/>
              </a:solidFill>
              <a:latin typeface="Times New Roman" panose="02020603050405020304" pitchFamily="18" charset="0"/>
              <a:cs typeface="Times New Roman" panose="02020603050405020304" pitchFamily="18" charset="0"/>
            </a:endParaRPr>
          </a:p>
          <a:p>
            <a:pPr marL="0" indent="0" algn="just" eaLnBrk="1" hangingPunct="1">
              <a:buNone/>
              <a:defRPr/>
            </a:pPr>
            <a:r>
              <a:rPr lang="en-US" sz="2000" dirty="0">
                <a:latin typeface="Times New Roman" panose="02020603050405020304" pitchFamily="18" charset="0"/>
                <a:cs typeface="Times New Roman" panose="02020603050405020304" pitchFamily="18" charset="0"/>
              </a:rPr>
              <a:t>* Use a matrix or table to map papers to methods, datasets, metrics, and limitations — this makes gaps obvious.</a:t>
            </a:r>
          </a:p>
          <a:p>
            <a:pPr algn="just" eaLnBrk="1" hangingPunct="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Be critical but fair: state what each study contributes and what it does not</a:t>
            </a:r>
          </a:p>
        </p:txBody>
      </p:sp>
      <p:sp>
        <p:nvSpPr>
          <p:cNvPr id="3" name="TextBox 2">
            <a:extLst>
              <a:ext uri="{FF2B5EF4-FFF2-40B4-BE49-F238E27FC236}">
                <a16:creationId xmlns:a16="http://schemas.microsoft.com/office/drawing/2014/main" id="{EC65AFAF-E994-82C9-4EC2-07A0F5163AA2}"/>
              </a:ext>
            </a:extLst>
          </p:cNvPr>
          <p:cNvSpPr txBox="1"/>
          <p:nvPr/>
        </p:nvSpPr>
        <p:spPr>
          <a:xfrm>
            <a:off x="381000" y="6096000"/>
            <a:ext cx="8458200" cy="707886"/>
          </a:xfrm>
          <a:prstGeom prst="rect">
            <a:avLst/>
          </a:prstGeom>
          <a:noFill/>
        </p:spPr>
        <p:txBody>
          <a:bodyPr wrap="square">
            <a:spAutoFit/>
          </a:bodyPr>
          <a:lstStyle/>
          <a:p>
            <a:pPr marL="0" indent="0" algn="just" eaLnBrk="1" hangingPunct="1">
              <a:buNone/>
              <a:defRPr/>
            </a:pPr>
            <a:r>
              <a:rPr lang="en-US" sz="2000" b="1" dirty="0">
                <a:solidFill>
                  <a:srgbClr val="C00000"/>
                </a:solidFill>
              </a:rPr>
              <a:t>Note: Use an excel sheet, read one paper and make some notes like relevance, key methods, dataset, algorithms, experimental setup</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1324E77-B925-9812-7991-1ACFE3DB8A17}"/>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6BE8E74F-D7C9-5C09-4E49-31DCD7862289}"/>
              </a:ext>
            </a:extLst>
          </p:cNvPr>
          <p:cNvSpPr>
            <a:spLocks noGrp="1" noChangeArrowheads="1"/>
          </p:cNvSpPr>
          <p:nvPr>
            <p:ph type="title"/>
          </p:nvPr>
        </p:nvSpPr>
        <p:spPr>
          <a:xfrm>
            <a:off x="457200" y="274638"/>
            <a:ext cx="8229600" cy="639762"/>
          </a:xfrm>
        </p:spPr>
        <p:txBody>
          <a:bodyPr/>
          <a:lstStyle/>
          <a:p>
            <a:pPr marL="609600" indent="-609600" eaLnBrk="1" hangingPunct="1"/>
            <a:r>
              <a:rPr lang="en-US" sz="3600" dirty="0">
                <a:solidFill>
                  <a:schemeClr val="tx1"/>
                </a:solidFill>
                <a:latin typeface="Times New Roman" panose="02020603050405020304" pitchFamily="18" charset="0"/>
                <a:cs typeface="Times New Roman" panose="02020603050405020304" pitchFamily="18" charset="0"/>
              </a:rPr>
              <a:t>Chapter 2: </a:t>
            </a:r>
            <a:r>
              <a:rPr lang="en-US" altLang="en-US" sz="3600" dirty="0">
                <a:solidFill>
                  <a:schemeClr val="tx1"/>
                </a:solidFill>
                <a:latin typeface="Times New Roman" panose="02020603050405020304" pitchFamily="18" charset="0"/>
                <a:cs typeface="Times New Roman" panose="02020603050405020304" pitchFamily="18" charset="0"/>
              </a:rPr>
              <a:t>Literature Review</a:t>
            </a:r>
          </a:p>
        </p:txBody>
      </p:sp>
      <p:sp>
        <p:nvSpPr>
          <p:cNvPr id="3" name="TextBox 2">
            <a:extLst>
              <a:ext uri="{FF2B5EF4-FFF2-40B4-BE49-F238E27FC236}">
                <a16:creationId xmlns:a16="http://schemas.microsoft.com/office/drawing/2014/main" id="{0A1512CA-8759-739A-6635-441900C6AD95}"/>
              </a:ext>
            </a:extLst>
          </p:cNvPr>
          <p:cNvSpPr txBox="1"/>
          <p:nvPr/>
        </p:nvSpPr>
        <p:spPr>
          <a:xfrm>
            <a:off x="381000" y="5943600"/>
            <a:ext cx="8458200" cy="707886"/>
          </a:xfrm>
          <a:prstGeom prst="rect">
            <a:avLst/>
          </a:prstGeom>
          <a:noFill/>
        </p:spPr>
        <p:txBody>
          <a:bodyPr wrap="square">
            <a:spAutoFit/>
          </a:bodyPr>
          <a:lstStyle/>
          <a:p>
            <a:pPr marL="0" indent="0" algn="just" eaLnBrk="1" hangingPunct="1">
              <a:buNone/>
              <a:defRPr/>
            </a:pPr>
            <a:r>
              <a:rPr lang="en-US" sz="2000" b="1" dirty="0">
                <a:solidFill>
                  <a:srgbClr val="C00000"/>
                </a:solidFill>
              </a:rPr>
              <a:t>Note: Use an excel sheet, read one paper and make some notes like relevance, key methods, dataset, algorithms, experimental setup</a:t>
            </a:r>
          </a:p>
        </p:txBody>
      </p:sp>
      <p:graphicFrame>
        <p:nvGraphicFramePr>
          <p:cNvPr id="7" name="Table 6">
            <a:extLst>
              <a:ext uri="{FF2B5EF4-FFF2-40B4-BE49-F238E27FC236}">
                <a16:creationId xmlns:a16="http://schemas.microsoft.com/office/drawing/2014/main" id="{AB23AF4B-2B88-BFDB-BB6F-76EEC7FDC861}"/>
              </a:ext>
            </a:extLst>
          </p:cNvPr>
          <p:cNvGraphicFramePr>
            <a:graphicFrameLocks noGrp="1"/>
          </p:cNvGraphicFramePr>
          <p:nvPr>
            <p:extLst>
              <p:ext uri="{D42A27DB-BD31-4B8C-83A1-F6EECF244321}">
                <p14:modId xmlns:p14="http://schemas.microsoft.com/office/powerpoint/2010/main" val="174793217"/>
              </p:ext>
            </p:extLst>
          </p:nvPr>
        </p:nvGraphicFramePr>
        <p:xfrm>
          <a:off x="304801" y="1143000"/>
          <a:ext cx="8610599" cy="4495800"/>
        </p:xfrm>
        <a:graphic>
          <a:graphicData uri="http://schemas.openxmlformats.org/drawingml/2006/table">
            <a:tbl>
              <a:tblPr/>
              <a:tblGrid>
                <a:gridCol w="1191745">
                  <a:extLst>
                    <a:ext uri="{9D8B030D-6E8A-4147-A177-3AD203B41FA5}">
                      <a16:colId xmlns:a16="http://schemas.microsoft.com/office/drawing/2014/main" val="2508825587"/>
                    </a:ext>
                  </a:extLst>
                </a:gridCol>
                <a:gridCol w="1566011">
                  <a:extLst>
                    <a:ext uri="{9D8B030D-6E8A-4147-A177-3AD203B41FA5}">
                      <a16:colId xmlns:a16="http://schemas.microsoft.com/office/drawing/2014/main" val="3626707757"/>
                    </a:ext>
                  </a:extLst>
                </a:gridCol>
                <a:gridCol w="1162197">
                  <a:extLst>
                    <a:ext uri="{9D8B030D-6E8A-4147-A177-3AD203B41FA5}">
                      <a16:colId xmlns:a16="http://schemas.microsoft.com/office/drawing/2014/main" val="143374554"/>
                    </a:ext>
                  </a:extLst>
                </a:gridCol>
                <a:gridCol w="1487218">
                  <a:extLst>
                    <a:ext uri="{9D8B030D-6E8A-4147-A177-3AD203B41FA5}">
                      <a16:colId xmlns:a16="http://schemas.microsoft.com/office/drawing/2014/main" val="3849331127"/>
                    </a:ext>
                  </a:extLst>
                </a:gridCol>
                <a:gridCol w="1349330">
                  <a:extLst>
                    <a:ext uri="{9D8B030D-6E8A-4147-A177-3AD203B41FA5}">
                      <a16:colId xmlns:a16="http://schemas.microsoft.com/office/drawing/2014/main" val="1584616390"/>
                    </a:ext>
                  </a:extLst>
                </a:gridCol>
                <a:gridCol w="1854098">
                  <a:extLst>
                    <a:ext uri="{9D8B030D-6E8A-4147-A177-3AD203B41FA5}">
                      <a16:colId xmlns:a16="http://schemas.microsoft.com/office/drawing/2014/main" val="1269791842"/>
                    </a:ext>
                  </a:extLst>
                </a:gridCol>
              </a:tblGrid>
              <a:tr h="374650">
                <a:tc>
                  <a:txBody>
                    <a:bodyPr/>
                    <a:lstStyle/>
                    <a:p>
                      <a:pPr algn="ctr" fontAlgn="ctr">
                        <a:buNone/>
                      </a:pPr>
                      <a:r>
                        <a:rPr lang="en-US" sz="1100" b="1" i="0" u="none" strike="noStrike" dirty="0">
                          <a:solidFill>
                            <a:srgbClr val="000000"/>
                          </a:solidFill>
                          <a:effectLst/>
                          <a:latin typeface="Calibri" panose="020F0502020204030204" pitchFamily="34" charset="0"/>
                        </a:rPr>
                        <a:t>Paper Name / Year</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buNone/>
                      </a:pPr>
                      <a:r>
                        <a:rPr lang="en-US" sz="1100" b="1" i="0" u="none" strike="noStrike">
                          <a:solidFill>
                            <a:srgbClr val="000000"/>
                          </a:solidFill>
                          <a:effectLst/>
                          <a:latin typeface="Calibri" panose="020F0502020204030204" pitchFamily="34" charset="0"/>
                        </a:rPr>
                        <a:t>Reference</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(Example DOI or Source)</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ctr" fontAlgn="ctr">
                        <a:buNone/>
                      </a:pPr>
                      <a:r>
                        <a:rPr lang="en-US" sz="1100" b="1" i="0" u="none" strike="noStrike">
                          <a:solidFill>
                            <a:srgbClr val="000000"/>
                          </a:solidFill>
                          <a:effectLst/>
                          <a:latin typeface="Calibri" panose="020F0502020204030204" pitchFamily="34" charset="0"/>
                        </a:rPr>
                        <a:t>Methodology</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100" b="1" i="0" u="none" strike="noStrike">
                          <a:solidFill>
                            <a:srgbClr val="000000"/>
                          </a:solidFill>
                          <a:effectLst/>
                          <a:latin typeface="Calibri" panose="020F0502020204030204" pitchFamily="34" charset="0"/>
                        </a:rPr>
                        <a:t>Key Strengths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US" sz="1100" b="1" i="0" u="none" strike="noStrike">
                          <a:solidFill>
                            <a:srgbClr val="000000"/>
                          </a:solidFill>
                          <a:effectLst/>
                          <a:latin typeface="Calibri" panose="020F0502020204030204" pitchFamily="34" charset="0"/>
                        </a:rPr>
                        <a:t>Identified Gap / Limitation</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Notes / Relevance</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798256531"/>
                  </a:ext>
                </a:extLst>
              </a:tr>
              <a:tr h="936625">
                <a:tc>
                  <a:txBody>
                    <a:bodyPr/>
                    <a:lstStyle/>
                    <a:p>
                      <a:pPr algn="l" fontAlgn="ctr">
                        <a:buNone/>
                      </a:pPr>
                      <a:r>
                        <a:rPr lang="en-US" sz="1100" b="1" i="0" u="none" strike="noStrike" dirty="0">
                          <a:solidFill>
                            <a:srgbClr val="000000"/>
                          </a:solidFill>
                          <a:effectLst/>
                          <a:latin typeface="Calibri" panose="020F0502020204030204" pitchFamily="34" charset="0"/>
                        </a:rPr>
                        <a:t>Malware Detection Using Deep Learning (2019)</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Kim &amp; Park, IEEE Access, 2019</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l" fontAlgn="ctr">
                        <a:buNone/>
                      </a:pPr>
                      <a:r>
                        <a:rPr lang="en-US" sz="1100" b="0" i="0" u="none" strike="noStrike" dirty="0">
                          <a:solidFill>
                            <a:srgbClr val="000000"/>
                          </a:solidFill>
                          <a:effectLst/>
                          <a:highlight>
                            <a:srgbClr val="00FF00"/>
                          </a:highlight>
                          <a:latin typeface="Calibri" panose="020F0502020204030204" pitchFamily="34" charset="0"/>
                        </a:rPr>
                        <a:t>CNN applied to raw executable bytes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High accuracy (97%) on benchmark dataset; end-to-end feature learning</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ctr">
                        <a:buNone/>
                      </a:pPr>
                      <a:r>
                        <a:rPr lang="en-US" sz="1100" b="0" i="0" u="none" strike="noStrike">
                          <a:solidFill>
                            <a:srgbClr val="000000"/>
                          </a:solidFill>
                          <a:effectLst/>
                          <a:latin typeface="Calibri" panose="020F0502020204030204" pitchFamily="34" charset="0"/>
                        </a:rPr>
                        <a:t>Evaluated only on static datasets; limited real-world traffic tests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fontAlgn="ctr">
                        <a:buNone/>
                      </a:pPr>
                      <a:r>
                        <a:rPr lang="en-US" sz="1100" b="0" i="0" u="none" strike="noStrike">
                          <a:solidFill>
                            <a:srgbClr val="000000"/>
                          </a:solidFill>
                          <a:effectLst/>
                          <a:latin typeface="Calibri" panose="020F0502020204030204" pitchFamily="34" charset="0"/>
                        </a:rPr>
                        <a:t>Shows potential of deep learning but needs live-network validation—aligns with our dynamic-analysis goal</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819566171"/>
                  </a:ext>
                </a:extLst>
              </a:tr>
              <a:tr h="749300">
                <a:tc>
                  <a:txBody>
                    <a:bodyPr/>
                    <a:lstStyle/>
                    <a:p>
                      <a:pPr algn="l" fontAlgn="ctr">
                        <a:buNone/>
                      </a:pPr>
                      <a:r>
                        <a:rPr lang="en-US" sz="1100" b="1" i="0" u="none" strike="noStrike" dirty="0">
                          <a:solidFill>
                            <a:srgbClr val="000000"/>
                          </a:solidFill>
                          <a:effectLst/>
                          <a:highlight>
                            <a:srgbClr val="FFFF00"/>
                          </a:highlight>
                          <a:latin typeface="Calibri" panose="020F0502020204030204" pitchFamily="34" charset="0"/>
                        </a:rPr>
                        <a:t>Hybrid IDS with Machine Learning (2020)</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Smith et al., Computers &amp; Security, 2020</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Combines signature-based IDS with Random Forest classifier</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Reduced false positives by 15% compared to Snort baseline</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ctr">
                        <a:buNone/>
                      </a:pPr>
                      <a:r>
                        <a:rPr lang="en-US" sz="1100" b="0" i="0" u="none" strike="noStrike">
                          <a:solidFill>
                            <a:srgbClr val="000000"/>
                          </a:solidFill>
                          <a:effectLst/>
                          <a:latin typeface="Calibri" panose="020F0502020204030204" pitchFamily="34" charset="0"/>
                        </a:rPr>
                        <a:t>Requires frequent rule updates; performance drops on encrypted traffic</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fontAlgn="ctr">
                        <a:buNone/>
                      </a:pPr>
                      <a:r>
                        <a:rPr lang="en-US" sz="1100" b="0" i="0" u="none" strike="noStrike">
                          <a:solidFill>
                            <a:srgbClr val="000000"/>
                          </a:solidFill>
                          <a:effectLst/>
                          <a:latin typeface="Calibri" panose="020F0502020204030204" pitchFamily="34" charset="0"/>
                        </a:rPr>
                        <a:t>Good hybrid approach we can extend with adaptive retraining</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078183568"/>
                  </a:ext>
                </a:extLst>
              </a:tr>
              <a:tr h="936625">
                <a:tc>
                  <a:txBody>
                    <a:bodyPr/>
                    <a:lstStyle/>
                    <a:p>
                      <a:pPr algn="l" fontAlgn="ctr">
                        <a:buNone/>
                      </a:pPr>
                      <a:r>
                        <a:rPr lang="en-US" sz="1100" b="1" i="0" u="none" strike="noStrike" dirty="0">
                          <a:solidFill>
                            <a:srgbClr val="000000"/>
                          </a:solidFill>
                          <a:effectLst/>
                          <a:latin typeface="Calibri" panose="020F0502020204030204" pitchFamily="34" charset="0"/>
                        </a:rPr>
                        <a:t>Behavior-Based Ransomware Detection (2021)</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en-US" sz="1100" b="0" i="0" u="none" strike="noStrike">
                          <a:solidFill>
                            <a:srgbClr val="000000"/>
                          </a:solidFill>
                          <a:effectLst/>
                          <a:latin typeface="Calibri" panose="020F0502020204030204" pitchFamily="34" charset="0"/>
                        </a:rPr>
                        <a:t>Li &amp; Zhao, Journal of Cybersecurity, 2021</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Monitors file-system activity patterns using Hidden Markov Models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Early detection of ransomware encryption start; lightweight</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ctr">
                        <a:buNone/>
                      </a:pPr>
                      <a:r>
                        <a:rPr lang="en-US" sz="1100" b="0" i="0" u="none" strike="noStrike" dirty="0">
                          <a:solidFill>
                            <a:srgbClr val="000000"/>
                          </a:solidFill>
                          <a:effectLst/>
                          <a:highlight>
                            <a:srgbClr val="00FF00"/>
                          </a:highlight>
                          <a:latin typeface="Calibri" panose="020F0502020204030204" pitchFamily="34" charset="0"/>
                        </a:rPr>
                        <a:t>Tested only on Windows environment; small sample size</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fontAlgn="ctr">
                        <a:buNone/>
                      </a:pPr>
                      <a:r>
                        <a:rPr lang="en-US" sz="1100" b="0" i="0" u="none" strike="noStrike">
                          <a:solidFill>
                            <a:srgbClr val="000000"/>
                          </a:solidFill>
                          <a:effectLst/>
                          <a:latin typeface="Calibri" panose="020F0502020204030204" pitchFamily="34" charset="0"/>
                        </a:rPr>
                        <a:t>Suggests cross-platform feature set we can generalize</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120950169"/>
                  </a:ext>
                </a:extLst>
              </a:tr>
              <a:tr h="561975">
                <a:tc>
                  <a:txBody>
                    <a:bodyPr/>
                    <a:lstStyle/>
                    <a:p>
                      <a:pPr algn="l" fontAlgn="ctr">
                        <a:buNone/>
                      </a:pPr>
                      <a:r>
                        <a:rPr lang="en-US" sz="1100" b="1" i="0" u="none" strike="noStrike" dirty="0">
                          <a:solidFill>
                            <a:srgbClr val="000000"/>
                          </a:solidFill>
                          <a:effectLst/>
                          <a:latin typeface="Calibri" panose="020F0502020204030204" pitchFamily="34" charset="0"/>
                        </a:rPr>
                        <a:t>Ensemble Learning for Network Intrusion (2022)</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100" b="0" i="0" u="none" strike="noStrike" dirty="0">
                          <a:solidFill>
                            <a:srgbClr val="000000"/>
                          </a:solidFill>
                          <a:effectLst/>
                          <a:highlight>
                            <a:srgbClr val="FFFF00"/>
                          </a:highlight>
                          <a:latin typeface="Calibri" panose="020F0502020204030204" pitchFamily="34" charset="0"/>
                        </a:rPr>
                        <a:t>Al-Farsi et al., Future Generation Computer Systems, 2022</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l" fontAlgn="ctr">
                        <a:buNone/>
                      </a:pPr>
                      <a:r>
                        <a:rPr lang="en-US" sz="1100" b="0" i="0" u="none" strike="noStrike">
                          <a:solidFill>
                            <a:srgbClr val="000000"/>
                          </a:solidFill>
                          <a:effectLst/>
                          <a:latin typeface="Calibri" panose="020F0502020204030204" pitchFamily="34" charset="0"/>
                        </a:rPr>
                        <a:t>Stacking ensemble of SVM, RF, and Gradient Boosting</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ctr">
                        <a:buNone/>
                      </a:pPr>
                      <a:r>
                        <a:rPr lang="en-US" sz="1100" b="0" i="0" u="none" strike="noStrike">
                          <a:solidFill>
                            <a:srgbClr val="000000"/>
                          </a:solidFill>
                          <a:effectLst/>
                          <a:latin typeface="Calibri" panose="020F0502020204030204" pitchFamily="34" charset="0"/>
                        </a:rPr>
                        <a:t>Excellent detection rate on NSL-KDD dataset; good scalability</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Old dataset; may not reflect current attack vectors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fontAlgn="ctr">
                        <a:buNone/>
                      </a:pPr>
                      <a:r>
                        <a:rPr lang="en-US" sz="1100" b="0" i="0" u="none" strike="noStrike" dirty="0">
                          <a:solidFill>
                            <a:srgbClr val="000000"/>
                          </a:solidFill>
                          <a:effectLst/>
                          <a:highlight>
                            <a:srgbClr val="3C8C93"/>
                          </a:highlight>
                          <a:latin typeface="Calibri" panose="020F0502020204030204" pitchFamily="34" charset="0"/>
                        </a:rPr>
                        <a:t>Highlights need for more recent, diverse datasets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4011414942"/>
                  </a:ext>
                </a:extLst>
              </a:tr>
              <a:tr h="936625">
                <a:tc>
                  <a:txBody>
                    <a:bodyPr/>
                    <a:lstStyle/>
                    <a:p>
                      <a:pPr algn="l" fontAlgn="ctr">
                        <a:buNone/>
                      </a:pPr>
                      <a:r>
                        <a:rPr lang="en-US" sz="1100" b="1" i="0" u="none" strike="noStrike" dirty="0">
                          <a:solidFill>
                            <a:srgbClr val="000000"/>
                          </a:solidFill>
                          <a:effectLst/>
                          <a:latin typeface="Calibri" panose="020F0502020204030204" pitchFamily="34" charset="0"/>
                        </a:rPr>
                        <a:t>Adversarial Evasion of ML-Based IDS (2023)</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en-US" sz="1100" b="0" i="0" u="none" strike="noStrike">
                          <a:solidFill>
                            <a:srgbClr val="000000"/>
                          </a:solidFill>
                          <a:effectLst/>
                          <a:latin typeface="Calibri" panose="020F0502020204030204" pitchFamily="34" charset="0"/>
                        </a:rPr>
                        <a:t>Chen &amp; Gupta, ACM CCS Workshop, 2023</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0FB"/>
                    </a:solidFill>
                  </a:tcPr>
                </a:tc>
                <a:tc>
                  <a:txBody>
                    <a:bodyPr/>
                    <a:lstStyle/>
                    <a:p>
                      <a:pPr algn="l" fontAlgn="ctr">
                        <a:buNone/>
                      </a:pPr>
                      <a:r>
                        <a:rPr lang="en-US" sz="1100" b="0" i="0" u="none" strike="noStrike" dirty="0">
                          <a:solidFill>
                            <a:srgbClr val="000000"/>
                          </a:solidFill>
                          <a:effectLst/>
                          <a:highlight>
                            <a:srgbClr val="3C8C93"/>
                          </a:highlight>
                          <a:latin typeface="Calibri" panose="020F0502020204030204" pitchFamily="34" charset="0"/>
                        </a:rPr>
                        <a:t>Generates adversarial network packets to fool ML detectors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ctr">
                        <a:buNone/>
                      </a:pPr>
                      <a:r>
                        <a:rPr lang="en-US" sz="1100" b="0" i="0" u="none" strike="noStrike">
                          <a:solidFill>
                            <a:srgbClr val="000000"/>
                          </a:solidFill>
                          <a:effectLst/>
                          <a:latin typeface="Calibri" panose="020F0502020204030204" pitchFamily="34" charset="0"/>
                        </a:rPr>
                        <a:t>Demonstrates weaknesses of popular ML models</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ctr">
                        <a:buNone/>
                      </a:pPr>
                      <a:r>
                        <a:rPr lang="en-US" sz="1100" b="0" i="0" u="none" strike="noStrike">
                          <a:solidFill>
                            <a:srgbClr val="000000"/>
                          </a:solidFill>
                          <a:effectLst/>
                          <a:latin typeface="Calibri" panose="020F0502020204030204" pitchFamily="34" charset="0"/>
                        </a:rPr>
                        <a:t>Focuses on evasion attacks; no countermeasure tested</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fontAlgn="ctr">
                        <a:buNone/>
                      </a:pPr>
                      <a:r>
                        <a:rPr lang="en-US" sz="1100" b="0" i="0" u="none" strike="noStrike" dirty="0">
                          <a:solidFill>
                            <a:srgbClr val="000000"/>
                          </a:solidFill>
                          <a:effectLst/>
                          <a:latin typeface="Calibri" panose="020F0502020204030204" pitchFamily="34" charset="0"/>
                        </a:rPr>
                        <a:t>Underscores importance of robust, adversarial-resistant model design</a:t>
                      </a:r>
                    </a:p>
                  </a:txBody>
                  <a:tcPr marL="7062" marR="7062" marT="70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102750477"/>
                  </a:ext>
                </a:extLst>
              </a:tr>
            </a:tbl>
          </a:graphicData>
        </a:graphic>
      </p:graphicFrame>
    </p:spTree>
    <p:extLst>
      <p:ext uri="{BB962C8B-B14F-4D97-AF65-F5344CB8AC3E}">
        <p14:creationId xmlns:p14="http://schemas.microsoft.com/office/powerpoint/2010/main" val="20595400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81A99D5-C311-D7FB-F8AC-536B68042DD6}"/>
              </a:ext>
            </a:extLst>
          </p:cNvPr>
          <p:cNvSpPr>
            <a:spLocks noGrp="1" noChangeArrowheads="1"/>
          </p:cNvSpPr>
          <p:nvPr>
            <p:ph type="title"/>
          </p:nvPr>
        </p:nvSpPr>
        <p:spPr>
          <a:xfrm>
            <a:off x="228600" y="274638"/>
            <a:ext cx="8610600" cy="639762"/>
          </a:xfrm>
        </p:spPr>
        <p:txBody>
          <a:bodyPr/>
          <a:lstStyle/>
          <a:p>
            <a:pPr marL="609600" indent="-609600" eaLnBrk="1" hangingPunct="1"/>
            <a:r>
              <a:rPr lang="en-US" sz="3600" dirty="0">
                <a:latin typeface="Times New Roman" panose="02020603050405020304" pitchFamily="18" charset="0"/>
                <a:cs typeface="Times New Roman" panose="02020603050405020304" pitchFamily="18" charset="0"/>
              </a:rPr>
              <a:t>Chapter 3. Research Methodology</a:t>
            </a:r>
            <a:endParaRPr lang="en-US" altLang="en-US" sz="3600" dirty="0">
              <a:solidFill>
                <a:srgbClr val="002060"/>
              </a:solidFill>
              <a:latin typeface="Times New Roman" panose="02020603050405020304" pitchFamily="18" charset="0"/>
              <a:cs typeface="Times New Roman" panose="02020603050405020304" pitchFamily="18" charset="0"/>
            </a:endParaRPr>
          </a:p>
        </p:txBody>
      </p:sp>
      <p:sp>
        <p:nvSpPr>
          <p:cNvPr id="11267" name="Rectangle 3">
            <a:extLst>
              <a:ext uri="{FF2B5EF4-FFF2-40B4-BE49-F238E27FC236}">
                <a16:creationId xmlns:a16="http://schemas.microsoft.com/office/drawing/2014/main" id="{F2530276-3EB6-48AA-776A-63EDAFFBA0F5}"/>
              </a:ext>
            </a:extLst>
          </p:cNvPr>
          <p:cNvSpPr>
            <a:spLocks noGrp="1" noChangeArrowheads="1"/>
          </p:cNvSpPr>
          <p:nvPr>
            <p:ph type="body" idx="1"/>
          </p:nvPr>
        </p:nvSpPr>
        <p:spPr>
          <a:xfrm>
            <a:off x="457200" y="990600"/>
            <a:ext cx="8382000" cy="5486400"/>
          </a:xfrm>
        </p:spPr>
        <p:txBody>
          <a:bodyPr/>
          <a:lstStyle/>
          <a:p>
            <a:pPr marL="0" indent="0" eaLnBrk="1" hangingPunct="1">
              <a:buNone/>
            </a:pPr>
            <a:r>
              <a:rPr lang="en-US" sz="2400" dirty="0">
                <a:solidFill>
                  <a:srgbClr val="002060"/>
                </a:solidFill>
                <a:latin typeface="Times New Roman" panose="02020603050405020304" pitchFamily="18" charset="0"/>
              </a:rPr>
              <a:t>3.1 </a:t>
            </a:r>
            <a:r>
              <a:rPr lang="en-US" altLang="en-US" sz="2400" dirty="0">
                <a:solidFill>
                  <a:srgbClr val="002060"/>
                </a:solidFill>
                <a:latin typeface="Times New Roman" panose="02020603050405020304" pitchFamily="18" charset="0"/>
              </a:rPr>
              <a:t>Research Design → Experimental / Descriptive / Analytical/</a:t>
            </a:r>
            <a:r>
              <a:rPr lang="en-US" sz="2400" dirty="0">
                <a:solidFill>
                  <a:srgbClr val="002060"/>
                </a:solidFill>
                <a:latin typeface="Times New Roman" panose="02020603050405020304" pitchFamily="18" charset="0"/>
              </a:rPr>
              <a:t>System Model</a:t>
            </a:r>
            <a:br>
              <a:rPr lang="en-US" sz="1800" dirty="0">
                <a:solidFill>
                  <a:srgbClr val="002060"/>
                </a:solidFill>
                <a:latin typeface="Times New Roman" panose="02020603050405020304" pitchFamily="18" charset="0"/>
              </a:rPr>
            </a:br>
            <a:r>
              <a:rPr lang="en-US" sz="1800" dirty="0">
                <a:solidFill>
                  <a:srgbClr val="002060"/>
                </a:solidFill>
                <a:latin typeface="Times New Roman" panose="02020603050405020304" pitchFamily="18" charset="0"/>
              </a:rPr>
              <a:t>Prepare an application-based system model for explaining the proposed system. While preparing this section, keep in mind the problem statements that you have mentioned in chapter 1.</a:t>
            </a:r>
            <a:br>
              <a:rPr lang="en-US" sz="1800" dirty="0">
                <a:solidFill>
                  <a:srgbClr val="002060"/>
                </a:solidFill>
                <a:latin typeface="Times New Roman" panose="02020603050405020304" pitchFamily="18" charset="0"/>
              </a:rPr>
            </a:br>
            <a:r>
              <a:rPr lang="en-US" sz="2400" dirty="0">
                <a:solidFill>
                  <a:srgbClr val="002060"/>
                </a:solidFill>
                <a:latin typeface="Times New Roman" panose="02020603050405020304" pitchFamily="18" charset="0"/>
              </a:rPr>
              <a:t>3.2 Dataset and Experimental design/System Requirements</a:t>
            </a:r>
            <a:br>
              <a:rPr lang="en-US" sz="1800" dirty="0">
                <a:solidFill>
                  <a:srgbClr val="002060"/>
                </a:solidFill>
                <a:latin typeface="Times New Roman" panose="02020603050405020304" pitchFamily="18" charset="0"/>
              </a:rPr>
            </a:br>
            <a:r>
              <a:rPr lang="en-US" sz="1800" dirty="0">
                <a:solidFill>
                  <a:srgbClr val="002060"/>
                </a:solidFill>
                <a:latin typeface="Times New Roman" panose="02020603050405020304" pitchFamily="18" charset="0"/>
              </a:rPr>
              <a:t>Explain the Datasets and experimental design/hardware and software requirements of your proposal (logs, datasets, simulations, journals, reports, benchmarks)</a:t>
            </a:r>
          </a:p>
          <a:p>
            <a:pPr marL="0" indent="0" eaLnBrk="1" hangingPunct="1">
              <a:buNone/>
            </a:pPr>
            <a:r>
              <a:rPr lang="en-US" sz="2400" dirty="0">
                <a:solidFill>
                  <a:srgbClr val="002060"/>
                </a:solidFill>
                <a:latin typeface="Times New Roman" panose="02020603050405020304" pitchFamily="18" charset="0"/>
              </a:rPr>
              <a:t>3.3 Methodology and Data Sources</a:t>
            </a:r>
            <a:br>
              <a:rPr lang="en-US" sz="1800" dirty="0">
                <a:solidFill>
                  <a:srgbClr val="002060"/>
                </a:solidFill>
                <a:latin typeface="Times New Roman" panose="02020603050405020304" pitchFamily="18" charset="0"/>
              </a:rPr>
            </a:br>
            <a:r>
              <a:rPr lang="en-US" sz="1800" dirty="0">
                <a:solidFill>
                  <a:srgbClr val="002060"/>
                </a:solidFill>
                <a:latin typeface="Times New Roman" panose="02020603050405020304" pitchFamily="18" charset="0"/>
              </a:rPr>
              <a:t>Describe the tools, procedures, participants and sources of the research. When, where and how will you collect, select and analyze data?</a:t>
            </a:r>
            <a:r>
              <a:rPr lang="en-US" altLang="en-US" sz="1800" dirty="0">
                <a:solidFill>
                  <a:srgbClr val="002060"/>
                </a:solidFill>
                <a:latin typeface="Times New Roman" panose="02020603050405020304" pitchFamily="18" charset="0"/>
              </a:rPr>
              <a:t> (e.g., Python, Wireshark, Splunk, ML models)</a:t>
            </a:r>
          </a:p>
          <a:p>
            <a:pPr marL="0" indent="0" eaLnBrk="1" hangingPunct="1">
              <a:buNone/>
            </a:pPr>
            <a:r>
              <a:rPr lang="en-US" sz="2400" dirty="0">
                <a:solidFill>
                  <a:srgbClr val="002060"/>
                </a:solidFill>
                <a:latin typeface="Times New Roman" panose="02020603050405020304" pitchFamily="18" charset="0"/>
              </a:rPr>
              <a:t>3.4 Work Plan and Expected Outcomes (if appropriate)</a:t>
            </a:r>
            <a:br>
              <a:rPr lang="en-US" sz="1800" dirty="0">
                <a:solidFill>
                  <a:srgbClr val="002060"/>
                </a:solidFill>
                <a:latin typeface="Times New Roman" panose="02020603050405020304" pitchFamily="18" charset="0"/>
              </a:rPr>
            </a:br>
            <a:r>
              <a:rPr lang="en-US" sz="1800" dirty="0">
                <a:solidFill>
                  <a:srgbClr val="002060"/>
                </a:solidFill>
                <a:latin typeface="Times New Roman" panose="02020603050405020304" pitchFamily="18" charset="0"/>
              </a:rPr>
              <a:t>Place a flow chart and explain the working procedure of your proposed work.</a:t>
            </a:r>
            <a:br>
              <a:rPr lang="en-US" sz="1800" dirty="0">
                <a:solidFill>
                  <a:srgbClr val="002060"/>
                </a:solidFill>
                <a:latin typeface="Times New Roman" panose="02020603050405020304" pitchFamily="18" charset="0"/>
              </a:rPr>
            </a:br>
            <a:r>
              <a:rPr lang="en-US" sz="2400" dirty="0">
                <a:solidFill>
                  <a:srgbClr val="002060"/>
                </a:solidFill>
                <a:latin typeface="Times New Roman" panose="02020603050405020304" pitchFamily="18" charset="0"/>
              </a:rPr>
              <a:t>3.5 Testing Environment (if appropriate)</a:t>
            </a:r>
            <a:br>
              <a:rPr lang="en-US" sz="1800" dirty="0">
                <a:solidFill>
                  <a:srgbClr val="002060"/>
                </a:solidFill>
                <a:latin typeface="Times New Roman" panose="02020603050405020304" pitchFamily="18" charset="0"/>
              </a:rPr>
            </a:br>
            <a:r>
              <a:rPr lang="en-US" sz="1800" dirty="0">
                <a:solidFill>
                  <a:srgbClr val="002060"/>
                </a:solidFill>
                <a:latin typeface="Times New Roman" panose="02020603050405020304" pitchFamily="18" charset="0"/>
              </a:rPr>
              <a:t>Explain the testing procedures of the proposed work. </a:t>
            </a:r>
            <a:endParaRPr lang="en-US" altLang="en-US" sz="1800" dirty="0">
              <a:solidFill>
                <a:srgbClr val="002060"/>
              </a:solidFill>
              <a:latin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B00F04F-B6BE-7AFF-2B8A-56AF893A54BA}"/>
              </a:ext>
            </a:extLst>
          </p:cNvPr>
          <p:cNvSpPr>
            <a:spLocks noGrp="1" noChangeArrowheads="1"/>
          </p:cNvSpPr>
          <p:nvPr>
            <p:ph type="title"/>
          </p:nvPr>
        </p:nvSpPr>
        <p:spPr>
          <a:xfrm>
            <a:off x="228600" y="274638"/>
            <a:ext cx="8610600" cy="639762"/>
          </a:xfrm>
        </p:spPr>
        <p:txBody>
          <a:bodyPr/>
          <a:lstStyle/>
          <a:p>
            <a:r>
              <a:rPr lang="en-US" altLang="en-US" sz="3600" dirty="0">
                <a:solidFill>
                  <a:schemeClr val="tx1"/>
                </a:solidFill>
                <a:latin typeface="Times New Roman" panose="02020603050405020304" pitchFamily="18" charset="0"/>
                <a:cs typeface="Times New Roman" panose="02020603050405020304" pitchFamily="18" charset="0"/>
              </a:rPr>
              <a:t>Chapter 4: Results / Findings</a:t>
            </a:r>
          </a:p>
        </p:txBody>
      </p:sp>
      <p:sp>
        <p:nvSpPr>
          <p:cNvPr id="11267" name="Rectangle 3">
            <a:extLst>
              <a:ext uri="{FF2B5EF4-FFF2-40B4-BE49-F238E27FC236}">
                <a16:creationId xmlns:a16="http://schemas.microsoft.com/office/drawing/2014/main" id="{74DC5DF7-7AFE-3FB1-7752-0C39301BEFB3}"/>
              </a:ext>
            </a:extLst>
          </p:cNvPr>
          <p:cNvSpPr>
            <a:spLocks noGrp="1" noChangeArrowheads="1"/>
          </p:cNvSpPr>
          <p:nvPr>
            <p:ph type="body" idx="1"/>
          </p:nvPr>
        </p:nvSpPr>
        <p:spPr>
          <a:xfrm>
            <a:off x="1295400" y="1102577"/>
            <a:ext cx="6553200" cy="3621823"/>
          </a:xfrm>
        </p:spPr>
        <p:txBody>
          <a:bodyPr/>
          <a:lstStyle/>
          <a:p>
            <a:pPr>
              <a:buFont typeface="Times New Roman" panose="02020603050405020304" pitchFamily="18" charset="0"/>
              <a:buChar char="⁕"/>
            </a:pPr>
            <a:r>
              <a:rPr lang="en-US" altLang="en-US" sz="2400" dirty="0">
                <a:latin typeface="Times New Roman" panose="02020603050405020304" pitchFamily="18" charset="0"/>
                <a:cs typeface="Times New Roman" panose="02020603050405020304" pitchFamily="18" charset="0"/>
              </a:rPr>
              <a:t>Present outcomes of your research / implementation</a:t>
            </a:r>
          </a:p>
          <a:p>
            <a:pPr>
              <a:buFont typeface="Times New Roman" panose="02020603050405020304" pitchFamily="18" charset="0"/>
              <a:buChar char="⁕"/>
            </a:pPr>
            <a:r>
              <a:rPr lang="en-US" altLang="en-US" sz="2400" dirty="0">
                <a:latin typeface="Times New Roman" panose="02020603050405020304" pitchFamily="18" charset="0"/>
                <a:cs typeface="Times New Roman" panose="02020603050405020304" pitchFamily="18" charset="0"/>
              </a:rPr>
              <a:t>Tables, graphs, screenshots, case study results</a:t>
            </a:r>
          </a:p>
          <a:p>
            <a:pPr>
              <a:buFont typeface="Times New Roman" panose="02020603050405020304" pitchFamily="18" charset="0"/>
              <a:buChar char="⁕"/>
            </a:pPr>
            <a:r>
              <a:rPr lang="en-US" altLang="en-US" sz="2400" dirty="0">
                <a:latin typeface="Times New Roman" panose="02020603050405020304" pitchFamily="18" charset="0"/>
                <a:cs typeface="Times New Roman" panose="02020603050405020304" pitchFamily="18" charset="0"/>
              </a:rPr>
              <a:t>Compare with literature findings</a:t>
            </a:r>
          </a:p>
          <a:p>
            <a:pPr>
              <a:buFont typeface="Times New Roman" panose="02020603050405020304" pitchFamily="18" charset="0"/>
              <a:buChar char="⁕"/>
            </a:pPr>
            <a:r>
              <a:rPr lang="en-US" sz="2400" dirty="0">
                <a:latin typeface="Times New Roman" panose="02020603050405020304" pitchFamily="18" charset="0"/>
                <a:cs typeface="Times New Roman" panose="02020603050405020304" pitchFamily="18" charset="0"/>
              </a:rPr>
              <a:t>Performance Analysis</a:t>
            </a:r>
          </a:p>
          <a:p>
            <a:pPr>
              <a:buFont typeface="Times New Roman" panose="02020603050405020304" pitchFamily="18" charset="0"/>
              <a:buChar cha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9867789-3B7B-8DD8-06C3-F98F41E6F58B}"/>
              </a:ext>
            </a:extLst>
          </p:cNvPr>
          <p:cNvSpPr>
            <a:spLocks noGrp="1" noChangeArrowheads="1"/>
          </p:cNvSpPr>
          <p:nvPr>
            <p:ph type="title"/>
          </p:nvPr>
        </p:nvSpPr>
        <p:spPr>
          <a:xfrm>
            <a:off x="228600" y="274638"/>
            <a:ext cx="8610600" cy="639762"/>
          </a:xfrm>
        </p:spPr>
        <p:txBody>
          <a:bodyPr/>
          <a:lstStyle/>
          <a:p>
            <a:pPr marL="609600" indent="-609600" eaLnBrk="1" hangingPunct="1">
              <a:buFontTx/>
              <a:buNone/>
            </a:pPr>
            <a:r>
              <a:rPr lang="en-US" altLang="en-US" sz="3600" dirty="0">
                <a:solidFill>
                  <a:srgbClr val="002060"/>
                </a:solidFill>
                <a:latin typeface="Times New Roman" panose="02020603050405020304" pitchFamily="18" charset="0"/>
              </a:rPr>
              <a:t>Chapter 5. Conclusion</a:t>
            </a:r>
          </a:p>
        </p:txBody>
      </p:sp>
      <p:sp>
        <p:nvSpPr>
          <p:cNvPr id="11267" name="Rectangle 3">
            <a:extLst>
              <a:ext uri="{FF2B5EF4-FFF2-40B4-BE49-F238E27FC236}">
                <a16:creationId xmlns:a16="http://schemas.microsoft.com/office/drawing/2014/main" id="{D4F9D04D-AEFE-3F91-F35C-CB55811CE6E8}"/>
              </a:ext>
            </a:extLst>
          </p:cNvPr>
          <p:cNvSpPr>
            <a:spLocks noGrp="1" noChangeArrowheads="1"/>
          </p:cNvSpPr>
          <p:nvPr>
            <p:ph type="body" idx="1"/>
          </p:nvPr>
        </p:nvSpPr>
        <p:spPr>
          <a:xfrm>
            <a:off x="152400" y="990600"/>
            <a:ext cx="8839200" cy="5867400"/>
          </a:xfrm>
        </p:spPr>
        <p:txBody>
          <a:bodyPr/>
          <a:lstStyle/>
          <a:p>
            <a:pPr marL="609600" indent="-609600" algn="just" eaLnBrk="1" hangingPunct="1">
              <a:buNone/>
            </a:pPr>
            <a:r>
              <a:rPr lang="en-US" altLang="en-US" sz="2400" dirty="0">
                <a:solidFill>
                  <a:srgbClr val="002060"/>
                </a:solidFill>
                <a:latin typeface="Times New Roman" panose="02020603050405020304" pitchFamily="18" charset="0"/>
              </a:rPr>
              <a:t>Primary Objective- </a:t>
            </a:r>
            <a:r>
              <a:rPr lang="en-US" sz="1400" dirty="0">
                <a:latin typeface="Times New Roman" panose="02020603050405020304" pitchFamily="18" charset="0"/>
                <a:cs typeface="Times New Roman" panose="02020603050405020304" pitchFamily="18" charset="0"/>
              </a:rPr>
              <a:t>This project addresses the critical challenge of </a:t>
            </a:r>
            <a:r>
              <a:rPr lang="en-US" sz="1400" b="1" dirty="0">
                <a:latin typeface="Times New Roman" panose="02020603050405020304" pitchFamily="18" charset="0"/>
                <a:cs typeface="Times New Roman" panose="02020603050405020304" pitchFamily="18" charset="0"/>
              </a:rPr>
              <a:t>[briefly restate your problem—e.g., detecting and mitigating evolving malware threats in real-time environments]</a:t>
            </a:r>
            <a:r>
              <a:rPr lang="en-US" sz="1400" dirty="0">
                <a:latin typeface="Times New Roman" panose="02020603050405020304" pitchFamily="18" charset="0"/>
                <a:cs typeface="Times New Roman" panose="02020603050405020304" pitchFamily="18" charset="0"/>
              </a:rPr>
              <a:t>. Our primary objectives are to </a:t>
            </a:r>
            <a:r>
              <a:rPr lang="en-US" sz="1400" b="1" dirty="0">
                <a:latin typeface="Times New Roman" panose="02020603050405020304" pitchFamily="18" charset="0"/>
                <a:cs typeface="Times New Roman" panose="02020603050405020304" pitchFamily="18" charset="0"/>
              </a:rPr>
              <a:t>design</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implement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evaluate</a:t>
            </a:r>
            <a:r>
              <a:rPr lang="en-US" sz="1400" dirty="0">
                <a:latin typeface="Times New Roman" panose="02020603050405020304" pitchFamily="18" charset="0"/>
                <a:cs typeface="Times New Roman" panose="02020603050405020304" pitchFamily="18" charset="0"/>
              </a:rPr>
              <a:t> an AI-driven malware detection system that is accurate, resource-efficient, and adaptable to emerging attack patterns.</a:t>
            </a:r>
          </a:p>
          <a:p>
            <a:pPr marL="609600" indent="-609600" algn="just" eaLnBrk="1" hangingPunct="1">
              <a:buNone/>
            </a:pPr>
            <a:r>
              <a:rPr lang="en-US" altLang="en-US" sz="2400" dirty="0">
                <a:solidFill>
                  <a:srgbClr val="002060"/>
                </a:solidFill>
                <a:latin typeface="Times New Roman" panose="02020603050405020304" pitchFamily="18" charset="0"/>
              </a:rPr>
              <a:t>Summarize key findings- </a:t>
            </a:r>
            <a:r>
              <a:rPr lang="en-US" sz="1400" dirty="0"/>
              <a:t>To meet these objectives, we will apply </a:t>
            </a:r>
            <a:r>
              <a:rPr lang="en-US" sz="1400" b="1" dirty="0"/>
              <a:t>[key methodologies—e.g., ensemble machine learning models, dynamic feature extraction, and continuous model retraining]</a:t>
            </a:r>
            <a:r>
              <a:rPr lang="en-US" sz="1400" dirty="0"/>
              <a:t>, supported by rigorous testing on both benchmark datasets and real-world network traffic.</a:t>
            </a:r>
          </a:p>
          <a:p>
            <a:pPr marL="609600" indent="-609600" algn="just" eaLnBrk="1" hangingPunct="1">
              <a:buNone/>
            </a:pPr>
            <a:r>
              <a:rPr lang="en-US" altLang="en-US" sz="2400" dirty="0">
                <a:solidFill>
                  <a:srgbClr val="002060"/>
                </a:solidFill>
                <a:latin typeface="Times New Roman" panose="02020603050405020304" pitchFamily="18" charset="0"/>
              </a:rPr>
              <a:t>Link back to objectives- </a:t>
            </a:r>
            <a:r>
              <a:rPr lang="en-US" sz="1400" dirty="0"/>
              <a:t>The expected contributions are both </a:t>
            </a:r>
            <a:r>
              <a:rPr lang="en-US" sz="1400" b="1" dirty="0"/>
              <a:t>practical</a:t>
            </a:r>
            <a:r>
              <a:rPr lang="en-US" sz="1400" dirty="0"/>
              <a:t> and </a:t>
            </a:r>
            <a:r>
              <a:rPr lang="en-US" sz="1400" b="1" dirty="0"/>
              <a:t>theoretical</a:t>
            </a:r>
            <a:r>
              <a:rPr lang="en-US" sz="1400" dirty="0"/>
              <a:t>. Practically, the system can help organizations improve early threat identification and response, guiding better security policies and operational practices. Theoretically, our work will offer insights into scalable model architectures and adaptive optimization techniques that can inform future research on intelligent cybersecurity systems.</a:t>
            </a:r>
          </a:p>
          <a:p>
            <a:pPr marL="609600" indent="-609600" algn="just" eaLnBrk="1" hangingPunct="1">
              <a:buNone/>
            </a:pPr>
            <a:r>
              <a:rPr lang="en-US" altLang="en-US" sz="2400" dirty="0">
                <a:solidFill>
                  <a:srgbClr val="002060"/>
                </a:solidFill>
                <a:latin typeface="Times New Roman" panose="02020603050405020304" pitchFamily="18" charset="0"/>
              </a:rPr>
              <a:t>Contributions to cybersecurity field- </a:t>
            </a:r>
            <a:r>
              <a:rPr lang="en-US" sz="1400" dirty="0"/>
              <a:t>We recognize potential challenges, such as the need for diverse, high-quality data, the risk of adversarial evasion, and computational constraints. These limitations will be managed through careful dataset curation, iterative testing, and resource-efficient model design.</a:t>
            </a:r>
          </a:p>
          <a:p>
            <a:pPr marL="609600" indent="-609600" algn="just" eaLnBrk="1" hangingPunct="1">
              <a:buFontTx/>
              <a:buNone/>
            </a:pPr>
            <a:r>
              <a:rPr lang="en-US" altLang="en-US" sz="2400" dirty="0">
                <a:solidFill>
                  <a:srgbClr val="002060"/>
                </a:solidFill>
                <a:latin typeface="Times New Roman" panose="02020603050405020304" pitchFamily="18" charset="0"/>
              </a:rPr>
              <a:t>Limitations + Future Work- </a:t>
            </a:r>
            <a:r>
              <a:rPr lang="en-US" sz="1400" dirty="0"/>
              <a:t>In closing, this project not only tackles an urgent cybersecurity problem but also lays the groundwork for further research on adaptive, AI-based threat detection. By bridging current gaps in accuracy, scalability, and resilience, our findings aim to advance both professional practice and the broader field of cybersecurity research.</a:t>
            </a:r>
          </a:p>
          <a:p>
            <a:pPr marL="609600" indent="-609600" algn="just" eaLnBrk="1" hangingPunct="1">
              <a:buFontTx/>
              <a:buNone/>
            </a:pPr>
            <a:endParaRPr lang="en-US" altLang="en-US" sz="2400" dirty="0">
              <a:solidFill>
                <a:srgbClr val="002060"/>
              </a:solidFill>
              <a:latin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0B0F515-2CD4-3A78-F018-88EB8B472B2B}"/>
              </a:ext>
            </a:extLst>
          </p:cNvPr>
          <p:cNvSpPr>
            <a:spLocks noGrp="1" noChangeArrowheads="1"/>
          </p:cNvSpPr>
          <p:nvPr>
            <p:ph type="title"/>
          </p:nvPr>
        </p:nvSpPr>
        <p:spPr>
          <a:xfrm>
            <a:off x="228600" y="274638"/>
            <a:ext cx="8610600" cy="639762"/>
          </a:xfrm>
        </p:spPr>
        <p:txBody>
          <a:bodyPr/>
          <a:lstStyle/>
          <a:p>
            <a:pPr eaLnBrk="1" hangingPunct="1"/>
            <a:r>
              <a:rPr lang="en-US" altLang="en-US" sz="3600"/>
              <a:t>Reference/ Bibliography</a:t>
            </a:r>
          </a:p>
        </p:txBody>
      </p:sp>
      <p:sp>
        <p:nvSpPr>
          <p:cNvPr id="17411" name="Content Placeholder 1">
            <a:extLst>
              <a:ext uri="{FF2B5EF4-FFF2-40B4-BE49-F238E27FC236}">
                <a16:creationId xmlns:a16="http://schemas.microsoft.com/office/drawing/2014/main" id="{FDC37B72-DBF3-1DD4-3452-1A4345F00856}"/>
              </a:ext>
            </a:extLst>
          </p:cNvPr>
          <p:cNvSpPr>
            <a:spLocks noGrp="1" noChangeArrowheads="1"/>
          </p:cNvSpPr>
          <p:nvPr>
            <p:ph idx="1"/>
          </p:nvPr>
        </p:nvSpPr>
        <p:spPr>
          <a:xfrm>
            <a:off x="457200" y="1295400"/>
            <a:ext cx="8229600" cy="4343400"/>
          </a:xfrm>
          <a:ln>
            <a:solidFill>
              <a:schemeClr val="tx1"/>
            </a:solidFill>
          </a:ln>
        </p:spPr>
        <p:txBody>
          <a:bodyPr/>
          <a:lstStyle/>
          <a:p>
            <a:pPr marL="0" indent="0">
              <a:buFontTx/>
              <a:buNone/>
            </a:pPr>
            <a:r>
              <a:rPr lang="en-US" altLang="en-US" sz="1600" b="1" dirty="0"/>
              <a:t>Examples (As required and relevant in a specific format IEEE)</a:t>
            </a:r>
          </a:p>
          <a:p>
            <a:pPr marL="0" indent="0">
              <a:buFontTx/>
              <a:buNone/>
            </a:pPr>
            <a:endParaRPr lang="en-US" altLang="en-US" sz="1600" dirty="0"/>
          </a:p>
          <a:p>
            <a:pPr marL="0" indent="0">
              <a:buFontTx/>
              <a:buNone/>
            </a:pPr>
            <a:r>
              <a:rPr lang="en-US" altLang="en-US" sz="1600" dirty="0"/>
              <a:t>[1]	C. P. Pfleeger, S. L. Pfleeger, and J. Margulies, </a:t>
            </a:r>
            <a:r>
              <a:rPr lang="en-US" altLang="en-US" sz="1600" i="1" dirty="0"/>
              <a:t>Security in Computing</a:t>
            </a:r>
            <a:r>
              <a:rPr lang="en-US" altLang="en-US" sz="1600" dirty="0"/>
              <a:t>, 5th ed. 	Upper Saddle River, NJ, USA: Pearson, 2015.</a:t>
            </a:r>
          </a:p>
          <a:p>
            <a:pPr marL="0" indent="0">
              <a:buFontTx/>
              <a:buNone/>
            </a:pPr>
            <a:r>
              <a:rPr lang="en-US" altLang="en-US" sz="1600" dirty="0"/>
              <a:t>[2]	W. Stallings, </a:t>
            </a:r>
            <a:r>
              <a:rPr lang="en-US" altLang="en-US" sz="1600" i="1" dirty="0"/>
              <a:t>Cryptography and Network Security: Principles and Practice</a:t>
            </a:r>
            <a:r>
              <a:rPr lang="en-US" altLang="en-US" sz="1600" dirty="0"/>
              <a:t>, 8th ed. 	Boston, MA, USA: Pearson, 2023.</a:t>
            </a:r>
          </a:p>
          <a:p>
            <a:pPr marL="0" indent="0">
              <a:buFontTx/>
              <a:buNone/>
            </a:pPr>
            <a:r>
              <a:rPr lang="en-US" altLang="en-US" sz="1600" dirty="0"/>
              <a:t>[3]	M. Conti, A. </a:t>
            </a:r>
            <a:r>
              <a:rPr lang="en-US" altLang="en-US" sz="1600" dirty="0" err="1"/>
              <a:t>Dehghantanha</a:t>
            </a:r>
            <a:r>
              <a:rPr lang="en-US" altLang="en-US" sz="1600" dirty="0"/>
              <a:t>, K. Franke, and S. Watson, "Internet of Things 	security 	and forensics: Challenges and opportunities," Future Generation 	Computer Systems, vol. 78, pp. 544–546, Jan. 2018.</a:t>
            </a:r>
          </a:p>
          <a:p>
            <a:pPr marL="0" indent="0">
              <a:buFontTx/>
              <a:buNone/>
            </a:pPr>
            <a:r>
              <a:rPr lang="en-US" altLang="en-US" sz="1600" dirty="0"/>
              <a:t>[4]	K. Scarfone and P. Mell, "Guide to intrusion detection and prevention systems 	(IDPS)," NIST Special Publication, vol. 800-94, pp. 1–127, Feb. 2007.</a:t>
            </a:r>
          </a:p>
          <a:p>
            <a:pPr marL="0" indent="0">
              <a:buFontTx/>
              <a:buNone/>
            </a:pPr>
            <a:r>
              <a:rPr lang="en-US" altLang="en-US" sz="1600" dirty="0"/>
              <a:t>[5]	A. Shabtai, Y. </a:t>
            </a:r>
            <a:r>
              <a:rPr lang="en-US" altLang="en-US" sz="1600" dirty="0" err="1"/>
              <a:t>Elovici</a:t>
            </a:r>
            <a:r>
              <a:rPr lang="en-US" altLang="en-US" sz="1600" dirty="0"/>
              <a:t>, and L. Rokach, "A survey of data leakage detection and 	prevention solutions," in </a:t>
            </a:r>
            <a:r>
              <a:rPr lang="en-US" altLang="en-US" sz="1600" i="1" dirty="0"/>
              <a:t>Proc. IEEE Symp. Security and Privacy Workshops 	(SPW)</a:t>
            </a:r>
            <a:r>
              <a:rPr lang="en-US" altLang="en-US" sz="1600" dirty="0"/>
              <a:t>, 	San Francisco, CA, USA, 2012, pp. 1–12.</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950B345-DBDF-52AD-5039-04BAB60296C3}"/>
              </a:ext>
            </a:extLst>
          </p:cNvPr>
          <p:cNvSpPr>
            <a:spLocks noGrp="1" noChangeArrowheads="1"/>
          </p:cNvSpPr>
          <p:nvPr>
            <p:ph type="title"/>
          </p:nvPr>
        </p:nvSpPr>
        <p:spPr>
          <a:xfrm>
            <a:off x="228600" y="274638"/>
            <a:ext cx="8610600" cy="639762"/>
          </a:xfrm>
        </p:spPr>
        <p:txBody>
          <a:bodyPr/>
          <a:lstStyle/>
          <a:p>
            <a:pPr eaLnBrk="1" hangingPunct="1"/>
            <a:r>
              <a:rPr lang="en-US" altLang="en-US" sz="3600"/>
              <a:t>Reference/ Bibliography</a:t>
            </a:r>
          </a:p>
        </p:txBody>
      </p:sp>
      <p:pic>
        <p:nvPicPr>
          <p:cNvPr id="3" name="Picture 2">
            <a:extLst>
              <a:ext uri="{FF2B5EF4-FFF2-40B4-BE49-F238E27FC236}">
                <a16:creationId xmlns:a16="http://schemas.microsoft.com/office/drawing/2014/main" id="{50AD4927-CD99-7902-20BE-BD8F994A2C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1625"/>
            <a:ext cx="9144000" cy="371475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0E2AE6B-237B-3B83-61AE-5282BCBC1B8C}"/>
              </a:ext>
            </a:extLst>
          </p:cNvPr>
          <p:cNvSpPr>
            <a:spLocks noGrp="1" noChangeArrowheads="1"/>
          </p:cNvSpPr>
          <p:nvPr>
            <p:ph type="title"/>
          </p:nvPr>
        </p:nvSpPr>
        <p:spPr>
          <a:xfrm>
            <a:off x="228600" y="274638"/>
            <a:ext cx="8610600" cy="639762"/>
          </a:xfrm>
        </p:spPr>
        <p:txBody>
          <a:bodyPr/>
          <a:lstStyle/>
          <a:p>
            <a:r>
              <a:rPr lang="en-US" altLang="en-US" sz="3600"/>
              <a:t>Project Timeline</a:t>
            </a:r>
          </a:p>
        </p:txBody>
      </p:sp>
      <p:sp>
        <p:nvSpPr>
          <p:cNvPr id="19459" name="Content Placeholder 1">
            <a:extLst>
              <a:ext uri="{FF2B5EF4-FFF2-40B4-BE49-F238E27FC236}">
                <a16:creationId xmlns:a16="http://schemas.microsoft.com/office/drawing/2014/main" id="{B5AB5D33-0D27-A445-030A-B61C796F3BC3}"/>
              </a:ext>
            </a:extLst>
          </p:cNvPr>
          <p:cNvSpPr>
            <a:spLocks noGrp="1" noChangeArrowheads="1"/>
          </p:cNvSpPr>
          <p:nvPr>
            <p:ph idx="1"/>
          </p:nvPr>
        </p:nvSpPr>
        <p:spPr>
          <a:xfrm>
            <a:off x="609600" y="1524001"/>
            <a:ext cx="7772400" cy="3505200"/>
          </a:xfrm>
          <a:ln>
            <a:solidFill>
              <a:schemeClr val="tx1"/>
            </a:solidFill>
          </a:ln>
        </p:spPr>
        <p:txBody>
          <a:bodyPr/>
          <a:lstStyle/>
          <a:p>
            <a:r>
              <a:rPr lang="en-US" altLang="en-US" sz="2400" dirty="0"/>
              <a:t>Week 1–2:     Topic selection + proposal preparation</a:t>
            </a:r>
          </a:p>
          <a:p>
            <a:r>
              <a:rPr lang="en-US" altLang="en-US" sz="2400" dirty="0"/>
              <a:t>Week 3–5:     Literature review for project proposal </a:t>
            </a:r>
          </a:p>
          <a:p>
            <a:r>
              <a:rPr lang="en-US" altLang="en-US" sz="2400" dirty="0"/>
              <a:t>Week 6–8:     Define Scope, Methodology, design solution + data collection</a:t>
            </a:r>
          </a:p>
          <a:p>
            <a:r>
              <a:rPr lang="en-US" altLang="en-US" sz="2400" dirty="0"/>
              <a:t>Week 9–12:   Experimentation &amp; analysis</a:t>
            </a:r>
          </a:p>
          <a:p>
            <a:r>
              <a:rPr lang="en-US" altLang="en-US" sz="2400" dirty="0"/>
              <a:t>Week 13–14: Report writing</a:t>
            </a:r>
          </a:p>
          <a:p>
            <a:r>
              <a:rPr lang="en-US" altLang="en-US" sz="2400" dirty="0"/>
              <a:t>Week 15-17:  Final submission + presentation</a:t>
            </a:r>
          </a:p>
          <a:p>
            <a:endParaRPr lang="en-US" altLang="en-US" sz="24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
            <a:extLst>
              <a:ext uri="{FF2B5EF4-FFF2-40B4-BE49-F238E27FC236}">
                <a16:creationId xmlns:a16="http://schemas.microsoft.com/office/drawing/2014/main" id="{1F681661-5F3C-B543-3F45-49DC19447887}"/>
              </a:ext>
            </a:extLst>
          </p:cNvPr>
          <p:cNvSpPr txBox="1">
            <a:spLocks noChangeArrowheads="1"/>
          </p:cNvSpPr>
          <p:nvPr/>
        </p:nvSpPr>
        <p:spPr bwMode="auto">
          <a:xfrm>
            <a:off x="609600" y="1524000"/>
            <a:ext cx="7924800" cy="445756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Select a topics based on prior knowledge </a:t>
            </a:r>
          </a:p>
          <a:p>
            <a:pPr eaLnBrk="1" hangingPunct="1">
              <a:lnSpc>
                <a:spcPct val="150000"/>
              </a:lnSpc>
              <a:spcBef>
                <a:spcPct val="0"/>
              </a:spcBef>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Without prior knowledge will hinder the project completion and </a:t>
            </a:r>
            <a:r>
              <a:rPr lang="en-US" sz="2400" dirty="0">
                <a:latin typeface="Times New Roman" panose="02020603050405020304" pitchFamily="18" charset="0"/>
                <a:cs typeface="Times New Roman" panose="02020603050405020304" pitchFamily="18" charset="0"/>
              </a:rPr>
              <a:t>often leads to delays, extra learning curves, and heavier workloads.</a:t>
            </a:r>
            <a:endParaRPr lang="en-US" altLang="en-US" sz="2400"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Select implementable and justifiable project</a:t>
            </a:r>
          </a:p>
          <a:p>
            <a:pPr eaLnBrk="1" hangingPunct="1">
              <a:lnSpc>
                <a:spcPct val="150000"/>
              </a:lnSpc>
              <a:spcBef>
                <a:spcPct val="0"/>
              </a:spcBef>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Complete the scope defined at project proposal. </a:t>
            </a:r>
          </a:p>
          <a:p>
            <a:pPr eaLnBrk="1" hangingPunct="1">
              <a:lnSpc>
                <a:spcPct val="150000"/>
              </a:lnSpc>
              <a:spcBef>
                <a:spcPct val="0"/>
              </a:spcBef>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Just do it yourself (use AI tools or GPT for your assistance but not to complete your task with tools)</a:t>
            </a:r>
            <a:endParaRPr lang="th-TH" altLang="en-US" sz="2400" dirty="0">
              <a:latin typeface="Times New Roman" panose="02020603050405020304" pitchFamily="18" charset="0"/>
            </a:endParaRPr>
          </a:p>
        </p:txBody>
      </p:sp>
      <p:sp>
        <p:nvSpPr>
          <p:cNvPr id="5" name="TextBox 4">
            <a:extLst>
              <a:ext uri="{FF2B5EF4-FFF2-40B4-BE49-F238E27FC236}">
                <a16:creationId xmlns:a16="http://schemas.microsoft.com/office/drawing/2014/main" id="{BCB4BDB4-714F-09AB-64E4-B883CE40C8DD}"/>
              </a:ext>
            </a:extLst>
          </p:cNvPr>
          <p:cNvSpPr txBox="1"/>
          <p:nvPr/>
        </p:nvSpPr>
        <p:spPr>
          <a:xfrm>
            <a:off x="1219200" y="381000"/>
            <a:ext cx="6705600" cy="646113"/>
          </a:xfrm>
          <a:prstGeom prst="rect">
            <a:avLst/>
          </a:prstGeom>
          <a:noFill/>
        </p:spPr>
        <p:txBody>
          <a:bodyPr>
            <a:spAutoFit/>
          </a:bodyPr>
          <a:lstStyle/>
          <a:p>
            <a:pPr algn="ctr" eaLnBrk="1" hangingPunct="1">
              <a:defRPr/>
            </a:pPr>
            <a:r>
              <a:rPr lang="th-TH" altLang="en-US" sz="3600" dirty="0">
                <a:cs typeface="+mj-cs"/>
              </a:rPr>
              <a:t>My own observation</a:t>
            </a:r>
            <a:endParaRPr lang="en-US" sz="3600" dirty="0">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7A1F26D-01A4-6DAB-DE5E-54AD7F305D2D}"/>
              </a:ext>
            </a:extLst>
          </p:cNvPr>
          <p:cNvSpPr>
            <a:spLocks noGrp="1" noChangeArrowheads="1"/>
          </p:cNvSpPr>
          <p:nvPr>
            <p:ph type="title"/>
          </p:nvPr>
        </p:nvSpPr>
        <p:spPr>
          <a:xfrm>
            <a:off x="1485900" y="2133600"/>
            <a:ext cx="6172200" cy="2743200"/>
          </a:xfrm>
        </p:spPr>
        <p:txBody>
          <a:bodyPr/>
          <a:lstStyle/>
          <a:p>
            <a:pPr eaLnBrk="1" hangingPunct="1"/>
            <a:r>
              <a:rPr lang="en-US" altLang="en-US" sz="23900" b="1" dirty="0">
                <a:solidFill>
                  <a:srgbClr val="FF0000"/>
                </a:solidFill>
                <a:latin typeface="Curlz MT" panose="04040404050702020202" pitchFamily="82" charset="0"/>
              </a:rPr>
              <a:t>Q</a:t>
            </a:r>
            <a:r>
              <a:rPr lang="en-US" altLang="en-US" sz="23900" dirty="0">
                <a:solidFill>
                  <a:srgbClr val="663300"/>
                </a:solidFill>
              </a:rPr>
              <a:t> </a:t>
            </a:r>
            <a:r>
              <a:rPr lang="en-US" altLang="en-US" sz="23900" b="1" dirty="0">
                <a:solidFill>
                  <a:srgbClr val="00B050"/>
                </a:solidFill>
                <a:latin typeface="French Script MT" panose="03020402040607040605" pitchFamily="66" charset="0"/>
              </a:rPr>
              <a:t>A</a:t>
            </a:r>
          </a:p>
        </p:txBody>
      </p:sp>
      <p:sp>
        <p:nvSpPr>
          <p:cNvPr id="2" name="Rectangle 1">
            <a:extLst>
              <a:ext uri="{FF2B5EF4-FFF2-40B4-BE49-F238E27FC236}">
                <a16:creationId xmlns:a16="http://schemas.microsoft.com/office/drawing/2014/main" id="{D85F4D09-C371-70E5-0BD6-70F7C9B277B5}"/>
              </a:ext>
            </a:extLst>
          </p:cNvPr>
          <p:cNvSpPr/>
          <p:nvPr/>
        </p:nvSpPr>
        <p:spPr>
          <a:xfrm>
            <a:off x="4648200" y="1143000"/>
            <a:ext cx="76200" cy="5486400"/>
          </a:xfrm>
          <a:prstGeom prst="rect">
            <a:avLst/>
          </a:prstGeom>
          <a:solidFill>
            <a:srgbClr val="7575D1"/>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6819622-4A91-29F6-C22C-99960132B6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01983E-9E68-31A4-07BC-959315F67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00" y="304800"/>
            <a:ext cx="8331200" cy="6248400"/>
          </a:xfrm>
          <a:prstGeom prst="rect">
            <a:avLst/>
          </a:prstGeom>
        </p:spPr>
      </p:pic>
    </p:spTree>
    <p:extLst>
      <p:ext uri="{BB962C8B-B14F-4D97-AF65-F5344CB8AC3E}">
        <p14:creationId xmlns:p14="http://schemas.microsoft.com/office/powerpoint/2010/main" val="84171743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5047</TotalTime>
  <Words>2289</Words>
  <Application>Microsoft Office PowerPoint</Application>
  <PresentationFormat>On-screen Show (4:3)</PresentationFormat>
  <Paragraphs>192</Paragraphs>
  <Slides>21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Courier New</vt:lpstr>
      <vt:lpstr>Curlz MT</vt:lpstr>
      <vt:lpstr>French Script MT</vt:lpstr>
      <vt:lpstr>Times New Roman</vt:lpstr>
      <vt:lpstr>Wingdings</vt:lpstr>
      <vt:lpstr>Default Design</vt:lpstr>
      <vt:lpstr>Project for PMICS   Credit Hour: 6 Duration: 1 semester </vt:lpstr>
      <vt:lpstr>Meaning of Project </vt:lpstr>
      <vt:lpstr>Project Selection Methods</vt:lpstr>
      <vt:lpstr>Responsibility</vt:lpstr>
      <vt:lpstr>Project Proposal</vt:lpstr>
      <vt:lpstr>PowerPoint Presentation</vt:lpstr>
      <vt:lpstr>Project Implementation and Report </vt:lpstr>
      <vt:lpstr>Project Report</vt:lpstr>
      <vt:lpstr>Title</vt:lpstr>
      <vt:lpstr>Chapter 1:Introduction</vt:lpstr>
      <vt:lpstr>Chapter 2: Literature Review</vt:lpstr>
      <vt:lpstr>Chapter 2: Literature Review</vt:lpstr>
      <vt:lpstr>Chapter 3. Research Methodology</vt:lpstr>
      <vt:lpstr>Chapter 4: Results / Findings</vt:lpstr>
      <vt:lpstr>Chapter 5. Conclusion</vt:lpstr>
      <vt:lpstr>Reference/ Bibliography</vt:lpstr>
      <vt:lpstr>Reference/ Bibliography</vt:lpstr>
      <vt:lpstr>Project Timeline</vt:lpstr>
      <vt:lpstr>PowerPoint Presentation</vt:lpstr>
      <vt:lpstr>Q 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Research Methodology</dc:title>
  <dc:creator>tejas</dc:creator>
  <cp:lastModifiedBy>Shaikh Palash</cp:lastModifiedBy>
  <cp:revision>190</cp:revision>
  <dcterms:created xsi:type="dcterms:W3CDTF">2010-09-28T05:02:26Z</dcterms:created>
  <dcterms:modified xsi:type="dcterms:W3CDTF">2026-04-02T09:22:30Z</dcterms:modified>
</cp:coreProperties>
</file>