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14807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10543032" y="460857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5136" y="534009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5" name="Shape 3"/>
          <p:cNvSpPr/>
          <p:nvPr/>
        </p:nvSpPr>
        <p:spPr>
          <a:xfrm>
            <a:off x="10277856" y="588873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6" name="Shape 4"/>
          <p:cNvSpPr/>
          <p:nvPr/>
        </p:nvSpPr>
        <p:spPr>
          <a:xfrm>
            <a:off x="11000232" y="616305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7" name="Shape 5"/>
          <p:cNvSpPr/>
          <p:nvPr/>
        </p:nvSpPr>
        <p:spPr>
          <a:xfrm>
            <a:off x="9363456" y="5971032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5193792"/>
            <a:ext cx="850392" cy="-54864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88752" y="4654296"/>
            <a:ext cx="822960" cy="7315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5925312"/>
            <a:ext cx="1033272" cy="2743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6016752"/>
            <a:ext cx="640080" cy="-457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CYBER SECURITY  ·  RESEARCH PROJECT INCEPTION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9601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Network Anomaly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with Automated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58368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AI-driven framework for network anomaly detection, risk prioritization, attack simulation, and automated incident response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58368" y="5029200"/>
            <a:ext cx="20116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 H-58   ·  Roll-50012  .  Batch 5th   ·   PMICS, University of Dhaka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adversaries move faster than manual defence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E747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44168" y="2121408"/>
            <a:ext cx="804672" cy="80467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7289" y="2314529"/>
            <a:ext cx="418429" cy="418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&lt;30s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40080" y="354787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adversary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breakout time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00400" y="182880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E747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95928" y="2121408"/>
            <a:ext cx="804672" cy="80467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1" name="Image 1" descr="/home/claude/icons/trending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049" y="2314529"/>
            <a:ext cx="418429" cy="418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00400" y="30632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+42%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291840" y="354787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in zero-day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activity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852160" y="182880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E747A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647688" y="2121408"/>
            <a:ext cx="804672" cy="804672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/home/claude/icons/dollarSig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0809" y="2314529"/>
            <a:ext cx="418429" cy="418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2160" y="30632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$4.4M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5943600" y="354787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breach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503920" y="1828800"/>
            <a:ext cx="23957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E747A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99448" y="2121408"/>
            <a:ext cx="804672" cy="804672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21" name="Image 3" descr="/home/claude/icons/user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569" y="2314529"/>
            <a:ext cx="418429" cy="418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03920" y="3063240"/>
            <a:ext cx="23957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30–45 min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8595360" y="3547872"/>
            <a:ext cx="22128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manual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4348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incident response is no longer fast enough to contain threats that move in seconds — the gap between detection and containment is where damage happens.</a:t>
            </a:r>
            <a:endParaRPr lang="en-US" sz="1650" dirty="0"/>
          </a:p>
        </p:txBody>
      </p:sp>
      <p:sp>
        <p:nvSpPr>
          <p:cNvPr id="25" name="Text 19"/>
          <p:cNvSpPr/>
          <p:nvPr/>
        </p:nvSpPr>
        <p:spPr>
          <a:xfrm>
            <a:off x="548640" y="5257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industry reporting cited in Tanimu et al. (2026), Network, MDPI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is only half the problem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6E747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95–98% detection accuracy is now common in published work — but very few academic projects measure what happens after detection: how fast and how reliably a threat is actually contained.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52360" y="164592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1F4E79"/>
          </a:solidFill>
          <a:ln/>
        </p:spPr>
      </p:sp>
      <p:sp>
        <p:nvSpPr>
          <p:cNvPr id="9" name="Text 6"/>
          <p:cNvSpPr/>
          <p:nvPr/>
        </p:nvSpPr>
        <p:spPr>
          <a:xfrm>
            <a:off x="7452360" y="16459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52360" y="2057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studied — 95–98% accuracy</a:t>
            </a:r>
            <a:endParaRPr lang="en-US" sz="1050" dirty="0"/>
          </a:p>
        </p:txBody>
      </p:sp>
      <p:pic>
        <p:nvPicPr>
          <p:cNvPr id="11" name="Image 1" descr="/home/claude/icons/arrowRight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9368028" y="2651760"/>
            <a:ext cx="329184" cy="32918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452360" y="3108960"/>
            <a:ext cx="4160520" cy="868680"/>
          </a:xfrm>
          <a:prstGeom prst="roundRect">
            <a:avLst>
              <a:gd name="adj" fmla="val 8421"/>
            </a:avLst>
          </a:prstGeom>
          <a:solidFill>
            <a:srgbClr val="FFB020"/>
          </a:solidFill>
          <a:ln/>
        </p:spPr>
      </p:sp>
      <p:sp>
        <p:nvSpPr>
          <p:cNvPr id="13" name="Text 9"/>
          <p:cNvSpPr/>
          <p:nvPr/>
        </p:nvSpPr>
        <p:spPr>
          <a:xfrm>
            <a:off x="7452360" y="310896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7452360" y="35204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measured — this project's focus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2A4A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7" name="Image 2" descr="/home/claude/icon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46227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4206240"/>
            <a:ext cx="9784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response benchmark is a stronger contribution.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a detection benchmark with a response-time and containment-rate benchmark gives this project a second, measurable result — far more compelling than accuracy numbers alone.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 — Problem Statement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existing approaches fall short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34840"/>
        </p:xfrm>
        <a:graphic>
          <a:graphicData uri="http://schemas.openxmlformats.org/drawingml/2006/table">
            <a:tbl>
              <a:tblPr/>
              <a:tblGrid>
                <a:gridCol w="2606040"/>
                <a:gridCol w="4160520"/>
                <a:gridCol w="4297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this project addresses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Signature-based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low false positives on known attack signatures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to zero-day and novel attack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ML, single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reported accuracy on NSL-KDD / KDDCup'99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tested for data leakage or cross-dataset generalisation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IDS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complex, non-linear traffic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compute cost; low interpretability for SOC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SOAR / XDR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the detect-to-respond workflow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Proprietary, costly; not built for academic benchmarking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Six-model, leakage-safe detection + simulated cost-aware response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both benchmarks in one reproducible, CPU-only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 — Related 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driving this project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driving this project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9844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benchmark an AI-driven network anomaly detection system paired with a simulated, cost-aware automated incident-response module — evaluated on both detection accuracy and response-time improvement.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96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414016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benchmark six ML models for network intrusion detection with strict data-leakage control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255264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31729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hybrid detection layer mirroring industry SOC architecture (signature → anomaly → ML classification)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14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9319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simulated, cost-aware automated-response module driven by a playbook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773168"/>
            <a:ext cx="457200" cy="457200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73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88720" y="46908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response-time improvement automation provides over a manual baseline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5449824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reproducible, presentable pipeline suitable for academic defence and professional portfolio use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 — Objectives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five-layer detection &amp; response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786384"/>
          </a:xfrm>
          <a:prstGeom prst="roundRect">
            <a:avLst>
              <a:gd name="adj" fmla="val 5814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7007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00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581912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Layer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63640" y="1581912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/ KDDCup'99 traffic · optional CIC-IDS2017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86584"/>
            <a:ext cx="11064240" cy="786384"/>
          </a:xfrm>
          <a:prstGeom prst="roundRect">
            <a:avLst>
              <a:gd name="adj" fmla="val 5814"/>
            </a:avLst>
          </a:prstGeom>
          <a:solidFill>
            <a:srgbClr val="1F4E79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57860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786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2459736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263640" y="2459736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· Z-score scaling · SMOTE (train-only) · feature selection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64408"/>
            <a:ext cx="11064240" cy="786384"/>
          </a:xfrm>
          <a:prstGeom prst="roundRect">
            <a:avLst>
              <a:gd name="adj" fmla="val 5814"/>
            </a:avLst>
          </a:prstGeom>
          <a:solidFill>
            <a:srgbClr val="2A6E96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32" y="34564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456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6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33756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Detection Engine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63640" y="333756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Signature/anomaly baseline + RF · XGBoost · LightGBM · SVM · Naive Bayes · Isolation Forest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142232"/>
            <a:ext cx="11064240" cy="786384"/>
          </a:xfrm>
          <a:prstGeom prst="roundRect">
            <a:avLst>
              <a:gd name="adj" fmla="val 5814"/>
            </a:avLst>
          </a:prstGeom>
          <a:solidFill>
            <a:srgbClr val="FFB020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" y="43342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342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215384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 Orchestration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63640" y="4215384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Cost-aware playbook · alert / isolate / rollback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20056"/>
            <a:ext cx="11064240" cy="786384"/>
          </a:xfrm>
          <a:prstGeom prst="roundRect">
            <a:avLst>
              <a:gd name="adj" fmla="val 5814"/>
            </a:avLst>
          </a:prstGeom>
          <a:solidFill>
            <a:srgbClr val="00C2CB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32" y="521208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212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5093208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Dashboard &amp; Evaluation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263640" y="5093208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 · FPR · response-time tracking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916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from current SOAR/XDR literature to a single-machine scope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Nine-step project workflow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673352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73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gap analysis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5087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9704" y="1673352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4489704" y="1673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38344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08760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673352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6733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14816" y="1508760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992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" y="3163824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163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61872" y="299923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25112" y="29992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9704" y="3163824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22" name="Text 20"/>
          <p:cNvSpPr/>
          <p:nvPr/>
        </p:nvSpPr>
        <p:spPr>
          <a:xfrm>
            <a:off x="4489704" y="3163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38344" y="299923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01584" y="2999232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3DC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66176" y="3163824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8266176" y="31638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14816" y="2999232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module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448970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3DC"/>
          </a:solidFill>
          <a:ln w="19050">
            <a:solidFill>
              <a:srgbClr val="FFB02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" y="4654296"/>
            <a:ext cx="438912" cy="438912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61872" y="448970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25112" y="448970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89704" y="4654296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4" name="Text 32"/>
          <p:cNvSpPr/>
          <p:nvPr/>
        </p:nvSpPr>
        <p:spPr>
          <a:xfrm>
            <a:off x="4489704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38344" y="448970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01584" y="4489704"/>
            <a:ext cx="35204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66176" y="4654296"/>
            <a:ext cx="438912" cy="438912"/>
          </a:xfrm>
          <a:prstGeom prst="ellipse">
            <a:avLst/>
          </a:prstGeom>
          <a:solidFill>
            <a:srgbClr val="1F4E79"/>
          </a:solidFill>
          <a:ln/>
        </p:spPr>
      </p:sp>
      <p:sp>
        <p:nvSpPr>
          <p:cNvPr id="38" name="Text 36"/>
          <p:cNvSpPr/>
          <p:nvPr/>
        </p:nvSpPr>
        <p:spPr>
          <a:xfrm>
            <a:off x="8266176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14816" y="4489704"/>
            <a:ext cx="2651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defence prep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599846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6–7 (amber) are the new automated-response contribution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preprocessing pipeline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874520" cy="1188720"/>
          </a:xfrm>
          <a:prstGeom prst="roundRect">
            <a:avLst>
              <a:gd name="adj" fmla="val 5385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</a:t>
            </a:r>
            <a:endParaRPr lang="en-US" sz="1350" dirty="0"/>
          </a:p>
        </p:txBody>
      </p:sp>
      <p:pic>
        <p:nvPicPr>
          <p:cNvPr id="6" name="Image 0" descr="/home/claude/icons/arrowRight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8024" y="2295144"/>
            <a:ext cx="25603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07208" y="1828800"/>
            <a:ext cx="1874520" cy="1188720"/>
          </a:xfrm>
          <a:prstGeom prst="roundRect">
            <a:avLst>
              <a:gd name="adj" fmla="val 5385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2807208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350" dirty="0"/>
          </a:p>
        </p:txBody>
      </p:sp>
      <p:pic>
        <p:nvPicPr>
          <p:cNvPr id="9" name="Image 1" descr="/home/claude/icons/arrowRight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29514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065776" y="1828800"/>
            <a:ext cx="1874520" cy="1188720"/>
          </a:xfrm>
          <a:prstGeom prst="roundRect">
            <a:avLst>
              <a:gd name="adj" fmla="val 5385"/>
            </a:avLst>
          </a:prstGeom>
          <a:solidFill>
            <a:srgbClr val="FFB020"/>
          </a:solidFill>
          <a:ln/>
        </p:spPr>
      </p:sp>
      <p:sp>
        <p:nvSpPr>
          <p:cNvPr id="11" name="Text 7"/>
          <p:cNvSpPr/>
          <p:nvPr/>
        </p:nvSpPr>
        <p:spPr>
          <a:xfrm>
            <a:off x="5065776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Scale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(train-only)</a:t>
            </a:r>
            <a:endParaRPr lang="en-US" sz="1350" dirty="0"/>
          </a:p>
        </p:txBody>
      </p:sp>
      <p:pic>
        <p:nvPicPr>
          <p:cNvPr id="12" name="Image 2" descr="/home/claude/icons/arrowRight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295144"/>
            <a:ext cx="25603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324344" y="1828800"/>
            <a:ext cx="1874520" cy="1188720"/>
          </a:xfrm>
          <a:prstGeom prst="roundRect">
            <a:avLst>
              <a:gd name="adj" fmla="val 5385"/>
            </a:avLst>
          </a:prstGeom>
          <a:solidFill>
            <a:srgbClr val="FFB020"/>
          </a:solidFill>
          <a:ln/>
        </p:spPr>
      </p:sp>
      <p:sp>
        <p:nvSpPr>
          <p:cNvPr id="14" name="Text 9"/>
          <p:cNvSpPr/>
          <p:nvPr/>
        </p:nvSpPr>
        <p:spPr>
          <a:xfrm>
            <a:off x="7324344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(train-only)</a:t>
            </a:r>
            <a:endParaRPr lang="en-US" sz="1350" dirty="0"/>
          </a:p>
        </p:txBody>
      </p:sp>
      <p:pic>
        <p:nvPicPr>
          <p:cNvPr id="15" name="Image 3" descr="/home/claude/icons/arrowRight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28" y="229514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582912" y="1828800"/>
            <a:ext cx="1874520" cy="1188720"/>
          </a:xfrm>
          <a:prstGeom prst="roundRect">
            <a:avLst>
              <a:gd name="adj" fmla="val 5385"/>
            </a:avLst>
          </a:prstGeom>
          <a:solidFill>
            <a:srgbClr val="0B1F3A"/>
          </a:solidFill>
          <a:ln/>
        </p:spPr>
      </p:sp>
      <p:sp>
        <p:nvSpPr>
          <p:cNvPr id="17" name="Text 11"/>
          <p:cNvSpPr/>
          <p:nvPr/>
        </p:nvSpPr>
        <p:spPr>
          <a:xfrm>
            <a:off x="9582912" y="182880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48640" y="3337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and SMOTE are fit strictly on the training split only — the single decision that prevents the data-leakage problem seen in prior published results.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23360"/>
          <a:ext cx="106984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931920"/>
                <a:gridCol w="3931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NSL-KDD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125,973 train / 22,544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training &amp; evaluation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KDDCup'99 (raw)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~4.9M (subsampled)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CIC-IDS2017 (optional)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~2.8M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generalisation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3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Data Pipeline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algorithms, spanning three learning paradigms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651760"/>
                <a:gridCol w="6126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is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– bagging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model — strong accuracy, low overfitting, fast on CPU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–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vs. RF — typically highest raw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– boosting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Faster-training benchmark for larger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 kernel)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– margin-based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baseline on smaller, well-scaled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 – probabilistic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interpretable speed/accuracy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Isolation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 – 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zero-day-style attacks without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Detection Models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response — simulated, not live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4812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/home/claude/icons/alertOctag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427" y="2078431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 + high criticality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54480" y="215798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isolation + alert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3619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924812"/>
            <a:ext cx="640080" cy="64008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1" name="Image 1" descr="/home/claude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427" y="2078431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67335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69480" y="215798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analyst review (queued, not auto-actioned)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2783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616452"/>
            <a:ext cx="640080" cy="6400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/home/claude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" y="3770071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3649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/ benign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54480" y="384962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only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3227832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3616452"/>
            <a:ext cx="640080" cy="64008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1" name="Image 3" descr="/home/claude/icons/refreshC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427" y="3770071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36499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false positive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69480" y="3849624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rollback, logged with timestamp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496519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module never touches a live network — it is a controlled, logic-only simulation that still produces measurable response-time data.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 — Response Orchestration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technology stack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1965960"/>
            <a:ext cx="731520" cy="7315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/home/claude/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465" y="214152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29100" y="1965960"/>
            <a:ext cx="731520" cy="7315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1" name="Image 1" descr="/home/claude/icons/file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4665" y="214152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3154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playbooks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72300" y="1965960"/>
            <a:ext cx="731520" cy="7315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16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865" y="21415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26480" y="3154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78240" y="16916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15500" y="1965960"/>
            <a:ext cx="731520" cy="7315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1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1065" y="214152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69680" y="27889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869680" y="3154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Boosted ensembles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485900" y="402336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26" name="Image 4" descr="/home/claude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465" y="4198925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0080" y="4846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291840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229100" y="402336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31" name="Image 5" descr="/home/claude/icons/gitBra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4665" y="4198925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383280" y="4846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38328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035040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72300" y="402336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36" name="Image 6" descr="/home/claude/icons/wifi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7865" y="4198925"/>
            <a:ext cx="380390" cy="38039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126480" y="4846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12648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inspection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8778240" y="3749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715500" y="4023360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41" name="Image 7" descr="/home/claude/icons/termin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91065" y="4198925"/>
            <a:ext cx="380390" cy="38039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869680" y="48463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8869680" y="52120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548640" y="5897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 required — CPU-only classical ML stack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(PLANNED)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evaluation &amp; demonstration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FFF3DC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A5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below are the metrics this project will report at defence — not yet measured results.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43100" y="2313432"/>
            <a:ext cx="731520" cy="73152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8" name="Image 0" descr="/home/claude/icons/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665" y="2488997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metrics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 (FPR)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per model, per dataset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25112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9572" y="2313432"/>
            <a:ext cx="731520" cy="731520"/>
          </a:xfrm>
          <a:prstGeom prst="ellipse">
            <a:avLst/>
          </a:prstGeom>
          <a:solidFill>
            <a:srgbClr val="FFB020"/>
          </a:solidFill>
          <a:ln/>
        </p:spPr>
      </p:sp>
      <p:pic>
        <p:nvPicPr>
          <p:cNvPr id="13" name="Image 1" descr="/home/claude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5137" y="2488997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07992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metrics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45152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automated response time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30–45 min manual baseline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/ rollback success rate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01584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  <a:effectLst>
            <a:outerShdw sx="100000" sy="100000" kx="0" ky="0" algn="bl" rotWithShape="0" blurRad="76200" dist="25400" dir="5400000">
              <a:srgbClr val="6E747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96044" y="2313432"/>
            <a:ext cx="731520" cy="731520"/>
          </a:xfrm>
          <a:prstGeom prst="ellipse">
            <a:avLst/>
          </a:prstGeom>
          <a:solidFill>
            <a:srgbClr val="00C2CB"/>
          </a:solidFill>
          <a:ln/>
        </p:spPr>
      </p:sp>
      <p:pic>
        <p:nvPicPr>
          <p:cNvPr id="18" name="Image 2" descr="/home/claude/icons/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609" y="2488997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4464" y="3227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21624" y="374904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walkthrough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 + confidence view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actions taken, logged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 — Planned Evaluation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 and next steps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Conclusions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01952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Benchmarked comparison of six ML approaches, leakage-safe methodology documented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automated-response simulation with measurable response-time improvement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codebase &amp; interactive dashboard for viva demonstration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structured to mirror peer-reviewed methodology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09360" y="1901952"/>
            <a:ext cx="53035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evaluation to full-scale CIC-IDS2017 traffic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deep-learning detectors (LSTM / Transformer) as a benchmark tier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simulated to sandboxed live-network response testing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host, cloud and network signals for multi-vector detection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508760"/>
            <a:ext cx="0" cy="3108960"/>
          </a:xfrm>
          <a:prstGeom prst="line">
            <a:avLst/>
          </a:prstGeom>
          <a:noFill/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256032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Inception Report — Impact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PMICS, University of Dhaka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5148072"/>
            <a:ext cx="109728" cy="109728"/>
          </a:xfrm>
          <a:prstGeom prst="ellipse">
            <a:avLst/>
          </a:prstGeom>
          <a:solidFill>
            <a:srgbClr val="00C2CB"/>
          </a:solidFill>
          <a:ln/>
        </p:spPr>
      </p:sp>
      <p:sp>
        <p:nvSpPr>
          <p:cNvPr id="3" name="Shape 1"/>
          <p:cNvSpPr/>
          <p:nvPr/>
        </p:nvSpPr>
        <p:spPr>
          <a:xfrm>
            <a:off x="10543032" y="460857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4" name="Shape 2"/>
          <p:cNvSpPr/>
          <p:nvPr/>
        </p:nvSpPr>
        <p:spPr>
          <a:xfrm>
            <a:off x="11375136" y="534009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5" name="Shape 3"/>
          <p:cNvSpPr/>
          <p:nvPr/>
        </p:nvSpPr>
        <p:spPr>
          <a:xfrm>
            <a:off x="10277856" y="588873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6" name="Shape 4"/>
          <p:cNvSpPr/>
          <p:nvPr/>
        </p:nvSpPr>
        <p:spPr>
          <a:xfrm>
            <a:off x="11000232" y="6163056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7" name="Shape 5"/>
          <p:cNvSpPr/>
          <p:nvPr/>
        </p:nvSpPr>
        <p:spPr>
          <a:xfrm>
            <a:off x="9363456" y="5971032"/>
            <a:ext cx="109728" cy="109728"/>
          </a:xfrm>
          <a:prstGeom prst="ellipse">
            <a:avLst/>
          </a:prstGeom>
          <a:solidFill>
            <a:srgbClr val="3A5C86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0" y="5193792"/>
            <a:ext cx="850392" cy="-54864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88752" y="4654296"/>
            <a:ext cx="822960" cy="7315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2720" y="5925312"/>
            <a:ext cx="1033272" cy="2743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18320" y="6016752"/>
            <a:ext cx="640080" cy="-45720"/>
          </a:xfrm>
          <a:prstGeom prst="line">
            <a:avLst/>
          </a:prstGeom>
          <a:noFill/>
          <a:ln w="15875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58368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" y="3931920"/>
            <a:ext cx="2011680" cy="0"/>
          </a:xfrm>
          <a:prstGeom prst="line">
            <a:avLst/>
          </a:prstGeom>
          <a:noFill/>
          <a:ln w="25400">
            <a:solidFill>
              <a:srgbClr val="00C2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114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Network Anomaly Detection with Automated Incident Response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44805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 Nurani  ·  Reg: H-58  ·  Batch 5th  ·  PMICS, University of Dhaka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" y="48006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MD. Faisal Hossain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2026-09-01T18:54:30Z</dcterms:created>
  <dcterms:modified xsi:type="dcterms:W3CDTF">2026-09-01T18:54:30Z</dcterms:modified>
</cp:coreProperties>
</file>